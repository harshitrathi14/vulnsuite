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VulnSuite helps security teams understand where systems are exposed, investigate suspicious server activity and coordinate approved responses. It connects assessment findings with operational evidence while keeping responsibility, review and deployment requirements visible.</a:t>
            </a:r>
          </a:p>
          <a:p>
            <a:r>
              <a:t>Scope: Introducing VulnSuite | Vulnerability assessment, server monitoring and approved security response.</a:t>
            </a:r>
          </a:p>
          <a:p>
            <a:r>
              <a:t>Implementation and limitations: vulnsuite/protection/OPERATIONS.md</a:t>
            </a:r>
          </a:p>
          <a:p>
            <a:r>
              <a:t>Staging and maintenance: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teams need a clear path from identifying exposure to deciding what action is justified. VulnSuite supports that process by linking findings, suspicious activity and investigation records, helping analysts prioritise work and document their decisions.</a:t>
            </a:r>
          </a:p>
          <a:p>
            <a:r>
              <a:t>Scope: Selected detection signals support investigation; coverage is not equivalent to a complete EDR platform.</a:t>
            </a:r>
          </a:p>
          <a:p>
            <a:r>
              <a:t>Implementation and limitations: vulnsuite/protection/OPERATIONS.md</a:t>
            </a:r>
          </a:p>
          <a:p>
            <a:r>
              <a:t>Staging and maintenance: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assets expose different kinds of risk, from vulnerable libraries to unsafe infrastructure settings and suspicious host activity. VulnSuite brings assessment and monitoring into a common operational context, with coverage determined by configured tools and telemetry sources.</a:t>
            </a:r>
          </a:p>
          <a:p>
            <a:r>
              <a:t>Scope: Assessment and protection services retain separate persistence and deployment boundaries.</a:t>
            </a:r>
          </a:p>
          <a:p>
            <a:r>
              <a:t>Implementation and limitations: vulnsuite/protection/OPERATIONS.md</a:t>
            </a:r>
          </a:p>
          <a:p>
            <a:r>
              <a:t>Staging and maintenance: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Applications inherit risk from their own code, third-party dependencies and build artifacts. These checks help teams understand what software contains, identify known weaknesses and retain supporting evidence so remediation and software release decisions can be reviewed.</a:t>
            </a:r>
          </a:p>
          <a:p>
            <a:r>
              <a:t>Scope: Coverage depends on configured targets, installed tools and available advisory data.</a:t>
            </a:r>
          </a:p>
          <a:p>
            <a:r>
              <a:t>Implementation and limitations: vulnsuite/protection/OPERATIONS.md</a:t>
            </a:r>
          </a:p>
          <a:p>
            <a:r>
              <a:t>Staging and maintenance: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Exposed services, weak configurations and application interfaces can create paths into an organisation. Assessment collectors help identify these conditions across selected targets, giving teams evidence to prioritise fixes and confirm which systems need closer investigation.</a:t>
            </a:r>
          </a:p>
          <a:p>
            <a:r>
              <a:t>Scope: Assessment scans complement host monitoring and inline WAF enforcement.</a:t>
            </a:r>
          </a:p>
          <a:p>
            <a:r>
              <a:t>Implementation and limitations: vulnsuite/protection/OPERATIONS.md</a:t>
            </a:r>
          </a:p>
          <a:p>
            <a:r>
              <a:t>Staging and maintenance: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operations involve sensitive evidence and actions that can interrupt services. Verified identity and explicit permissions establish who may view information or approve changes, while tenant boundaries limit assessment access to the organisation identified by trusted tokens.</a:t>
            </a:r>
          </a:p>
          <a:p>
            <a:r>
              <a:t>Scope: JWT verification and RLS controls are implemented; live IdP integration and database-role enforcement need staging.</a:t>
            </a:r>
          </a:p>
          <a:p>
            <a:r>
              <a:t>Implementation and limitations: vulnsuite/protection/OPERATIONS.md</a:t>
            </a:r>
          </a:p>
          <a:p>
            <a:r>
              <a:t>Staging and maintenance: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analyst investigating an alert needs to understand the affected host, its known weaknesses and any response already underway. The console brings that context together, helping teams coordinate investigation while making unavailable information visible.</a:t>
            </a:r>
          </a:p>
          <a:p>
            <a:r>
              <a:t>Scope: The console shows bounded recent lists; it is not an exhaustive cross-platform evidence search.</a:t>
            </a:r>
          </a:p>
          <a:p>
            <a:r>
              <a:t>Implementation and limitations: vulnsuite/protection/OPERATIONS.md</a:t>
            </a:r>
          </a:p>
          <a:p>
            <a:r>
              <a:t>Staging and maintenance: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Server monitoring depends on collecting useful activity from the operating system and making gaps visible. Windows event sources and Linux audit records provide investigation evidence, while sensor health indicators help teams distinguish quiet systems from missing telemetry.</a:t>
            </a:r>
          </a:p>
          <a:p>
            <a:r>
              <a:t>Scope: Windows and Linux support monitoring and approved containment. Native enforcement and recovery require staging validation.</a:t>
            </a:r>
          </a:p>
          <a:p>
            <a:r>
              <a:t>Implementation and limitations: vulnsuite/protection/OPERATIONS.md</a:t>
            </a:r>
          </a:p>
          <a:p>
            <a:r>
              <a:t>Staging and maintenance: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Selected process patterns and reviewed malware indicators provide clues that warrant investigation. A known-bad hash match supplies specific file evidence; analysts can review its context before approving action, while missing scanners or telemetry remain visible as coverage limitations.</a:t>
            </a:r>
          </a:p>
          <a:p>
            <a:r>
              <a:t>Scope: Coverage excludes complete memory scanning and full-disk protection. File quarantine does not terminate a running process.</a:t>
            </a:r>
          </a:p>
          <a:p>
            <a:r>
              <a:t>Implementation and limitations: vulnsuite/protection/OPERATIONS.md</a:t>
            </a:r>
          </a:p>
          <a:p>
            <a:r>
              <a:t>Staging and maintenance: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that appears ordinary on one server can become suspicious when repeated across several hosts. Correlating authentication events helps analysts recognise possible account misuse or movement between systems, while retaining context needed to assess legitimate administrative activity.</a:t>
            </a:r>
          </a:p>
          <a:p>
            <a:r>
              <a:t>Scope: NAT, shared accounts and legitimate automation need review; protocol labels require supporting source evidence.</a:t>
            </a:r>
          </a:p>
          <a:p>
            <a:r>
              <a:t>Implementation and limitations: vulnsuite/protection/OPERATIONS.md</a:t>
            </a:r>
          </a:p>
          <a:p>
            <a:r>
              <a:t>Staging and maintenance: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 application firewalls provide an enforcement point for traffic reaching protected applications. Connecting their signals with investigations helps teams understand attempted abuse and review scoped blocking decisions, with tuning and deployment checks needed to avoid disrupting legitimate requests.</a:t>
            </a:r>
          </a:p>
          <a:p>
            <a:r>
              <a:t>Scope: Rule ordering, provider permissions, propagation and real traffic enforcement remain staging checks.</a:t>
            </a:r>
          </a:p>
          <a:p>
            <a:r>
              <a:t>Implementation and limitations: vulnsuite/protection/OPERATIONS.md</a:t>
            </a:r>
          </a:p>
          <a:p>
            <a:r>
              <a:t>Staging and maintenance: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Containment can interrupt business services, so response decisions need clear evidence and accountability. VulnSuite places supported file quarantine and host isolation behind separate approval and local policy checks, with recorded outcomes and reviewed recovery paths.</a:t>
            </a:r>
          </a:p>
          <a:p>
            <a:r>
              <a:t>Scope: Containment is disabled by default. Windows expiry uses local recovery tasks; Linux uses kernel timeouts.</a:t>
            </a:r>
          </a:p>
          <a:p>
            <a:r>
              <a:t>Implementation and limitations: vulnsuite/protection/OPERATIONS.md</a:t>
            </a:r>
          </a:p>
          <a:p>
            <a:r>
              <a:t>Staging and maintenance: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assessment service evaluates exposure; the protection service handles telemetry, investigations and response. Their separate responsibilities help teams plan access, storage, maintenance and integration around the requirements of each service.</a:t>
            </a:r>
          </a:p>
          <a:p>
            <a:r>
              <a:t>Scope: SQLite protection persistence is not a horizontally scalable or highly available PostgreSQL backend.</a:t>
            </a:r>
          </a:p>
          <a:p>
            <a:r>
              <a:t>Implementation and limitations: vulnsuite/protection/OPERATIONS.md</a:t>
            </a:r>
          </a:p>
          <a:p>
            <a:r>
              <a:t>Staging and maintenance: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Host monitoring depends on knowing which agents are enrolled, authorised and reporting correctly. Central lifecycle controls help maintain that inventory, replace credentials, withdraw access and identify policy or version differences that require administrator attention.</a:t>
            </a:r>
          </a:p>
          <a:p>
            <a:r>
              <a:t>Scope: Agent software installation and upgrades use an administrator-controlled rollout.</a:t>
            </a:r>
          </a:p>
          <a:p>
            <a:r>
              <a:t>Implementation and limitations: vulnsuite/protection/OPERATIONS.md</a:t>
            </a:r>
          </a:p>
          <a:p>
            <a:r>
              <a:t>Staging and maintenance: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Investigations often involve several people and external operational systems. Incident records preserve ownership and decisions, while signed notifications carry relevant information to organisation-operated integrations, helping teams coordinate work and recover delivery after temporary service failures.</a:t>
            </a:r>
          </a:p>
          <a:p>
            <a:r>
              <a:t>Scope: Webhooks support organisation-operated adapters; native Jira, ServiceNow or Splunk connectors are not implied.</a:t>
            </a:r>
          </a:p>
          <a:p>
            <a:r>
              <a:t>Implementation and limitations: vulnsuite/protection/OPERATIONS.md</a:t>
            </a:r>
          </a:p>
          <a:p>
            <a:r>
              <a:t>Staging and maintenance: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 interruptions and growing evidence volumes can affect security operations. Persistent queues and acknowledgement checks support recovery after outages, while backup and retention controls help teams manage stored evidence according to investigation needs and operational requirements.</a:t>
            </a:r>
          </a:p>
          <a:p>
            <a:r>
              <a:t>Scope: Schedule maintenance explicitly and measure capacity, recovery objectives and backup security in the target environment.</a:t>
            </a:r>
          </a:p>
          <a:p>
            <a:r>
              <a:t>Implementation and limitations: vulnsuite/protection/OPERATIONS.md</a:t>
            </a:r>
          </a:p>
          <a:p>
            <a:r>
              <a:t>Staging and maintenance: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validation results demonstrate exercised code paths and selected native file behaviours. They provide evidence for technical review, while full containment effectiveness, host compatibility and operational performance require testing in the intended environment.</a:t>
            </a:r>
          </a:p>
          <a:p>
            <a:r>
              <a:t>Scope: Automated tests and narrow native file checks do not establish live containment efficacy or production readiness.</a:t>
            </a:r>
          </a:p>
          <a:p>
            <a:r>
              <a:t>Implementation and limitations: vulnsuite/protection/OPERATIONS.md</a:t>
            </a:r>
          </a:p>
          <a:p>
            <a:r>
              <a:t>Staging and maintenance: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Deployment conditions determine whether security controls work as intended. Staging should verify identity, telemetry, permissions, enforcement and recovery together, including how containment behaves during service interruptions and host restarts.</a:t>
            </a:r>
          </a:p>
          <a:p>
            <a:r>
              <a:t>Scope: Validate native Windows ACLs, firewall enforcement, scheduled-task expiry and reboot recovery before enabling containment.</a:t>
            </a:r>
          </a:p>
          <a:p>
            <a:r>
              <a:t>Implementation and limitations: vulnsuite/protection/OPERATIONS.md</a:t>
            </a:r>
          </a:p>
          <a:p>
            <a:r>
              <a:t>Staging and maintenance: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suitable deployment starts with clear asset scope, accountable owners and measurable acceptance criteria. These decisions help teams assess coverage, operational impact, recovery expectations and the conditions under which approved response should be enabled.</a:t>
            </a:r>
          </a:p>
          <a:p>
            <a:r>
              <a:t>Scope: Production deployment requires environment-specific validation and an approved operating procedure.</a:t>
            </a:r>
          </a:p>
          <a:p>
            <a:r>
              <a:t>Implementation and limitations: vulnsuite/protection/OPERATIONS.md</a:t>
            </a:r>
          </a:p>
          <a:p>
            <a:r>
              <a:t>Staging and maintenance: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deployment adds a continuous monitoring dashboard, bounded host collectors, local source scanning and service templates. Health checks expose stale snapshots, while tenant-scoped access connects findings to operations. Deployment details and limits are documented in vulnsuite/README.md.</a:t>
            </a:r>
          </a:p>
          <a:p>
            <a:r>
              <a:t>Scope: Coverage depends on configured sources and targets; installed scanners do not imply active coverage.</a:t>
            </a:r>
          </a:p>
          <a:p>
            <a:r>
              <a:t>Implementation and limitations: vulnsuite/protection/OPERATIONS.md</a:t>
            </a:r>
          </a:p>
          <a:p>
            <a:r>
              <a:t>Staging and maintenance: deploy/protection/OPERATIONS.md</a:t>
            </a:r>
          </a:p>
          <a:p>
            <a:r>
              <a:t>Automated validation does not establish live enforcement or full EDR coverage.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VULNERABILITY ASSESSMENT + SERVER PROTECTION</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VulnSuite</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VulnSuite helps security teams understand where systems are exposed, investigate suspicious server activity and coordinate approved responses. It connects assessment findings with operational evidence while keeping responsibility, review and deployment requirements visible.</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Assessment and detection</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Code, dependencies and infrastructure assessment</a:t>
            </a:r>
          </a:p>
          <a:p>
            <a:pPr marL="182880" indent="-164592">
              <a:lnSpc>
                <a:spcPts val="2200"/>
              </a:lnSpc>
              <a:spcAft>
                <a:spcPts val="800"/>
              </a:spcAft>
              <a:buChar char="•"/>
              <a:defRPr sz="1700">
                <a:solidFill>
                  <a:srgbClr val="334155"/>
                </a:solidFill>
                <a:latin typeface="DejaVu Sans"/>
              </a:defRPr>
            </a:pPr>
            <a:r>
              <a:t>Linux and Windows security telemetry</a:t>
            </a:r>
          </a:p>
          <a:p>
            <a:pPr marL="182880" indent="-164592">
              <a:lnSpc>
                <a:spcPts val="2200"/>
              </a:lnSpc>
              <a:spcAft>
                <a:spcPts val="800"/>
              </a:spcAft>
              <a:buChar char="•"/>
              <a:defRPr sz="1700">
                <a:solidFill>
                  <a:srgbClr val="334155"/>
                </a:solidFill>
                <a:latin typeface="DejaVu Sans"/>
              </a:defRPr>
            </a:pPr>
            <a:r>
              <a:t>Malware signals and cross-host correlation</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Security operations</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Verified identity, roles and a shared SOC view</a:t>
            </a:r>
          </a:p>
          <a:p>
            <a:pPr marL="182880" indent="-164592">
              <a:lnSpc>
                <a:spcPts val="2200"/>
              </a:lnSpc>
              <a:spcAft>
                <a:spcPts val="800"/>
              </a:spcAft>
              <a:buChar char="•"/>
              <a:defRPr sz="1700">
                <a:solidFill>
                  <a:srgbClr val="334155"/>
                </a:solidFill>
                <a:latin typeface="DejaVu Sans"/>
              </a:defRPr>
            </a:pPr>
            <a:r>
              <a:t>Incident ownership and central agent enrollment</a:t>
            </a:r>
          </a:p>
          <a:p>
            <a:pPr marL="182880" indent="-164592">
              <a:lnSpc>
                <a:spcPts val="2200"/>
              </a:lnSpc>
              <a:spcAft>
                <a:spcPts val="800"/>
              </a:spcAft>
              <a:buChar char="•"/>
              <a:defRPr sz="1700">
                <a:solidFill>
                  <a:srgbClr val="334155"/>
                </a:solidFill>
                <a:latin typeface="DejaVu Sans"/>
              </a:defRPr>
            </a:pPr>
            <a:r>
              <a:t>Reviewed quarantine, isolation and cloud-WAF response</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Introducing VulnSuite | Vulnerability assessment, server monitoring and approved security response.</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21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01 /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SECURITY OUTCOMES</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What the suite addresses</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Security teams need a clear path from identifying exposure to deciding what action is justified. VulnSuite supports that process by linking findings, suspicious activity and investigation records, helping analysts prioritise work and document their decisions.</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Reduce exposure</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Find vulnerable software and unsafe configurations</a:t>
            </a:r>
          </a:p>
          <a:p>
            <a:pPr marL="182880" indent="-164592">
              <a:lnSpc>
                <a:spcPts val="2200"/>
              </a:lnSpc>
              <a:spcAft>
                <a:spcPts val="800"/>
              </a:spcAft>
              <a:buChar char="•"/>
              <a:defRPr sz="1700">
                <a:solidFill>
                  <a:srgbClr val="334155"/>
                </a:solidFill>
                <a:latin typeface="DejaVu Sans"/>
              </a:defRPr>
            </a:pPr>
            <a:r>
              <a:t>Assess exposed services, APIs and TLS settings</a:t>
            </a:r>
          </a:p>
          <a:p>
            <a:pPr marL="182880" indent="-164592">
              <a:lnSpc>
                <a:spcPts val="2200"/>
              </a:lnSpc>
              <a:spcAft>
                <a:spcPts val="800"/>
              </a:spcAft>
              <a:buChar char="•"/>
              <a:defRPr sz="1700">
                <a:solidFill>
                  <a:srgbClr val="334155"/>
                </a:solidFill>
                <a:latin typeface="DejaVu Sans"/>
              </a:defRPr>
            </a:pPr>
            <a:r>
              <a:t>Prioritise findings using severity and asset context</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Investigate and respond</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Connect host alerts with vulnerability findings</a:t>
            </a:r>
          </a:p>
          <a:p>
            <a:pPr marL="182880" indent="-164592">
              <a:lnSpc>
                <a:spcPts val="2200"/>
              </a:lnSpc>
              <a:spcAft>
                <a:spcPts val="800"/>
              </a:spcAft>
              <a:buChar char="•"/>
              <a:defRPr sz="1700">
                <a:solidFill>
                  <a:srgbClr val="334155"/>
                </a:solidFill>
                <a:latin typeface="DejaVu Sans"/>
              </a:defRPr>
            </a:pPr>
            <a:r>
              <a:t>Assign incidents, review evidence and track action</a:t>
            </a:r>
          </a:p>
          <a:p>
            <a:pPr marL="182880" indent="-164592">
              <a:lnSpc>
                <a:spcPts val="2200"/>
              </a:lnSpc>
              <a:spcAft>
                <a:spcPts val="800"/>
              </a:spcAft>
              <a:buChar char="•"/>
              <a:defRPr sz="1700">
                <a:solidFill>
                  <a:srgbClr val="334155"/>
                </a:solidFill>
                <a:latin typeface="DejaVu Sans"/>
              </a:defRPr>
            </a:pPr>
            <a:r>
              <a:t>Approve bounded containment and inspect receipts</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Selected detection signals support investigation; coverage is not equivalent to a complete EDR platform.</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21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02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ASSESSMENT + OPERATIONS</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Platform coverage</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Different assets expose different kinds of risk, from vulnerable libraries to unsafe infrastructure settings and suspicious host activity. VulnSuite brings assessment and monitoring into a common operational context, with coverage determined by configured tools and telemetry sources.</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Assessment modules</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SCA, secrets and static code analysis</a:t>
            </a:r>
          </a:p>
          <a:p>
            <a:pPr marL="182880" indent="-164592">
              <a:lnSpc>
                <a:spcPts val="2200"/>
              </a:lnSpc>
              <a:spcAft>
                <a:spcPts val="800"/>
              </a:spcAft>
              <a:buChar char="•"/>
              <a:defRPr sz="1700">
                <a:solidFill>
                  <a:srgbClr val="334155"/>
                </a:solidFill>
                <a:latin typeface="DejaVu Sans"/>
              </a:defRPr>
            </a:pPr>
            <a:r>
              <a:t>Network, cloud, containers and asset discovery</a:t>
            </a:r>
          </a:p>
          <a:p>
            <a:pPr marL="182880" indent="-164592">
              <a:lnSpc>
                <a:spcPts val="2200"/>
              </a:lnSpc>
              <a:spcAft>
                <a:spcPts val="800"/>
              </a:spcAft>
              <a:buChar char="•"/>
              <a:defRPr sz="1700">
                <a:solidFill>
                  <a:srgbClr val="334155"/>
                </a:solidFill>
                <a:latin typeface="DejaVu Sans"/>
              </a:defRPr>
            </a:pPr>
            <a:r>
              <a:t>IaC, Kubernetes and external attack surface</a:t>
            </a:r>
          </a:p>
          <a:p>
            <a:pPr marL="182880" indent="-164592">
              <a:lnSpc>
                <a:spcPts val="2200"/>
              </a:lnSpc>
              <a:spcAft>
                <a:spcPts val="800"/>
              </a:spcAft>
              <a:buChar char="•"/>
              <a:defRPr sz="1700">
                <a:solidFill>
                  <a:srgbClr val="334155"/>
                </a:solidFill>
                <a:latin typeface="DejaVu Sans"/>
              </a:defRPr>
            </a:pPr>
            <a:r>
              <a:t>API testing and software supply-chain checks</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Protection and operations</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Linux audit and Windows event adapters</a:t>
            </a:r>
          </a:p>
          <a:p>
            <a:pPr marL="182880" indent="-164592">
              <a:lnSpc>
                <a:spcPts val="2200"/>
              </a:lnSpc>
              <a:spcAft>
                <a:spcPts val="800"/>
              </a:spcAft>
              <a:buChar char="•"/>
              <a:defRPr sz="1700">
                <a:solidFill>
                  <a:srgbClr val="334155"/>
                </a:solidFill>
                <a:latin typeface="DejaVu Sans"/>
              </a:defRPr>
            </a:pPr>
            <a:r>
              <a:t>Access, process, malware and integrity signals</a:t>
            </a:r>
          </a:p>
          <a:p>
            <a:pPr marL="182880" indent="-164592">
              <a:lnSpc>
                <a:spcPts val="2200"/>
              </a:lnSpc>
              <a:spcAft>
                <a:spcPts val="800"/>
              </a:spcAft>
              <a:buChar char="•"/>
              <a:defRPr sz="1700">
                <a:solidFill>
                  <a:srgbClr val="334155"/>
                </a:solidFill>
                <a:latin typeface="DejaVu Sans"/>
              </a:defRPr>
            </a:pPr>
            <a:r>
              <a:t>SOC console, investigations and agent lifecycle</a:t>
            </a:r>
          </a:p>
          <a:p>
            <a:pPr marL="182880" indent="-164592">
              <a:lnSpc>
                <a:spcPts val="2200"/>
              </a:lnSpc>
              <a:spcAft>
                <a:spcPts val="800"/>
              </a:spcAft>
              <a:buChar char="•"/>
              <a:defRPr sz="1700">
                <a:solidFill>
                  <a:srgbClr val="334155"/>
                </a:solidFill>
                <a:latin typeface="DejaVu Sans"/>
              </a:defRPr>
            </a:pPr>
            <a:r>
              <a:t>Signed notifications and approved response plans</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Assessment and protection services retain separate persistence and deployment boundaries.</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21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03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APPLICATION SECURITY</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Software and supply-chain risk</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Applications inherit risk from their own code, third-party dependencies and build artifacts. These checks help teams understand what software contains, identify known weaknesses and retain supporting evidence so remediation and software release decisions can be reviewed.</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Code and dependencies</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Trivy, pip-audit and OSV-Scanner collectors</a:t>
            </a:r>
          </a:p>
          <a:p>
            <a:pPr marL="182880" indent="-164592">
              <a:lnSpc>
                <a:spcPts val="2200"/>
              </a:lnSpc>
              <a:spcAft>
                <a:spcPts val="800"/>
              </a:spcAft>
              <a:buChar char="•"/>
              <a:defRPr sz="1700">
                <a:solidFill>
                  <a:srgbClr val="334155"/>
                </a:solidFill>
                <a:latin typeface="DejaVu Sans"/>
              </a:defRPr>
            </a:pPr>
            <a:r>
              <a:t>Semgrep and Bandit static analysis</a:t>
            </a:r>
          </a:p>
          <a:p>
            <a:pPr marL="182880" indent="-164592">
              <a:lnSpc>
                <a:spcPts val="2200"/>
              </a:lnSpc>
              <a:spcAft>
                <a:spcPts val="800"/>
              </a:spcAft>
              <a:buChar char="•"/>
              <a:defRPr sz="1700">
                <a:solidFill>
                  <a:srgbClr val="334155"/>
                </a:solidFill>
                <a:latin typeface="DejaVu Sans"/>
              </a:defRPr>
            </a:pPr>
            <a:r>
              <a:t>Gitleaks and TruffleHog secret detection</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Build and artifact evidence</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Syft software bill of materials</a:t>
            </a:r>
          </a:p>
          <a:p>
            <a:pPr marL="182880" indent="-164592">
              <a:lnSpc>
                <a:spcPts val="2200"/>
              </a:lnSpc>
              <a:spcAft>
                <a:spcPts val="800"/>
              </a:spcAft>
              <a:buChar char="•"/>
              <a:defRPr sz="1700">
                <a:solidFill>
                  <a:srgbClr val="334155"/>
                </a:solidFill>
                <a:latin typeface="DejaVu Sans"/>
              </a:defRPr>
            </a:pPr>
            <a:r>
              <a:t>Cosign signature and attestation checks</a:t>
            </a:r>
          </a:p>
          <a:p>
            <a:pPr marL="182880" indent="-164592">
              <a:lnSpc>
                <a:spcPts val="2200"/>
              </a:lnSpc>
              <a:spcAft>
                <a:spcPts val="800"/>
              </a:spcAft>
              <a:buChar char="•"/>
              <a:defRPr sz="1700">
                <a:solidFill>
                  <a:srgbClr val="334155"/>
                </a:solidFill>
                <a:latin typeface="DejaVu Sans"/>
              </a:defRPr>
            </a:pPr>
            <a:r>
              <a:t>VEX statements captured in finding evidence</a:t>
            </a:r>
          </a:p>
          <a:p>
            <a:pPr marL="182880" indent="-164592">
              <a:lnSpc>
                <a:spcPts val="2200"/>
              </a:lnSpc>
              <a:spcAft>
                <a:spcPts val="800"/>
              </a:spcAft>
              <a:buChar char="•"/>
              <a:defRPr sz="1700">
                <a:solidFill>
                  <a:srgbClr val="334155"/>
                </a:solidFill>
                <a:latin typeface="DejaVu Sans"/>
              </a:defRPr>
            </a:pPr>
            <a:r>
              <a:t>Risk scoring and remediation lifecycle tracking</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Coverage depends on configured targets, installed tools and available advisory data.</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21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04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EXPOSURE MANAGEMENT</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Infrastructure and API assessment</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Exposed services, weak configurations and application interfaces can create paths into an organisation. Assessment collectors help identify these conditions across selected targets, giving teams evidence to prioritise fixes and confirm which systems need closer investigation.</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Infrastructure</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Nmap service discovery and testssl.sh TLS checks</a:t>
            </a:r>
          </a:p>
          <a:p>
            <a:pPr marL="182880" indent="-164592">
              <a:lnSpc>
                <a:spcPts val="2200"/>
              </a:lnSpc>
              <a:spcAft>
                <a:spcPts val="800"/>
              </a:spcAft>
              <a:buChar char="•"/>
              <a:defRPr sz="1700">
                <a:solidFill>
                  <a:srgbClr val="334155"/>
                </a:solidFill>
                <a:latin typeface="DejaVu Sans"/>
              </a:defRPr>
            </a:pPr>
            <a:r>
              <a:t>Prowler cloud configuration collectors</a:t>
            </a:r>
          </a:p>
          <a:p>
            <a:pPr marL="182880" indent="-164592">
              <a:lnSpc>
                <a:spcPts val="2200"/>
              </a:lnSpc>
              <a:spcAft>
                <a:spcPts val="800"/>
              </a:spcAft>
              <a:buChar char="•"/>
              <a:defRPr sz="1700">
                <a:solidFill>
                  <a:srgbClr val="334155"/>
                </a:solidFill>
                <a:latin typeface="DejaVu Sans"/>
              </a:defRPr>
            </a:pPr>
            <a:r>
              <a:t>Checkov / Trivy IaC and Kubernetes posture checks</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Applications and APIs</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Nuclei and OWASP ZAP assessment collectors</a:t>
            </a:r>
          </a:p>
          <a:p>
            <a:pPr marL="182880" indent="-164592">
              <a:lnSpc>
                <a:spcPts val="2200"/>
              </a:lnSpc>
              <a:spcAft>
                <a:spcPts val="800"/>
              </a:spcAft>
              <a:buChar char="•"/>
              <a:defRPr sz="1700">
                <a:solidFill>
                  <a:srgbClr val="334155"/>
                </a:solidFill>
                <a:latin typeface="DejaVu Sans"/>
              </a:defRPr>
            </a:pPr>
            <a:r>
              <a:t>Target allowlists and active-scan configuration gates</a:t>
            </a:r>
          </a:p>
          <a:p>
            <a:pPr marL="182880" indent="-164592">
              <a:lnSpc>
                <a:spcPts val="2200"/>
              </a:lnSpc>
              <a:spcAft>
                <a:spcPts val="800"/>
              </a:spcAft>
              <a:buChar char="•"/>
              <a:defRPr sz="1700">
                <a:solidFill>
                  <a:srgbClr val="334155"/>
                </a:solidFill>
                <a:latin typeface="DejaVu Sans"/>
              </a:defRPr>
            </a:pPr>
            <a:r>
              <a:t>External discovery with Subfinder and httpx</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Assessment scans complement host monitoring and inline WAF enforcement.</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21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05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SSO TOKEN VERIFICATION + RBAC</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Verified identity and access</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Security operations involve sensitive evidence and actions that can interrupt services. Verified identity and explicit permissions establish who may view information or approve changes, while tenant boundaries limit assessment access to the organisation identified by trusted tokens.</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Authentication and roles</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Verify token signature, issuer, audience and expiry</a:t>
            </a:r>
          </a:p>
          <a:p>
            <a:pPr marL="182880" indent="-164592">
              <a:lnSpc>
                <a:spcPts val="2200"/>
              </a:lnSpc>
              <a:spcAft>
                <a:spcPts val="800"/>
              </a:spcAft>
              <a:buChar char="•"/>
              <a:defRPr sz="1700">
                <a:solidFill>
                  <a:srgbClr val="334155"/>
                </a:solidFill>
                <a:latin typeface="DejaVu Sans"/>
              </a:defRPr>
            </a:pPr>
            <a:r>
              <a:t>Require signed tenant and explicit role claims</a:t>
            </a:r>
          </a:p>
          <a:p>
            <a:pPr marL="182880" indent="-164592">
              <a:lnSpc>
                <a:spcPts val="2200"/>
              </a:lnSpc>
              <a:spcAft>
                <a:spcPts val="800"/>
              </a:spcAft>
              <a:buChar char="•"/>
              <a:defRPr sz="1700">
                <a:solidFill>
                  <a:srgbClr val="334155"/>
                </a:solidFill>
                <a:latin typeface="DejaVu Sans"/>
              </a:defRPr>
            </a:pPr>
            <a:r>
              <a:t>Separate viewer, auditor, analyst and admin rights</a:t>
            </a:r>
          </a:p>
          <a:p>
            <a:pPr marL="182880" indent="-164592">
              <a:lnSpc>
                <a:spcPts val="2200"/>
              </a:lnSpc>
              <a:spcAft>
                <a:spcPts val="800"/>
              </a:spcAft>
              <a:buChar char="•"/>
              <a:defRPr sz="1700">
                <a:solidFill>
                  <a:srgbClr val="334155"/>
                </a:solidFill>
                <a:latin typeface="DejaVu Sans"/>
              </a:defRPr>
            </a:pPr>
            <a:r>
              <a:t>Sign-in and MFA follow identity-provider policy</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Tenant and approval boundaries</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Bind assessment transactions to signed tenant ID</a:t>
            </a:r>
          </a:p>
          <a:p>
            <a:pPr marL="182880" indent="-164592">
              <a:lnSpc>
                <a:spcPts val="2200"/>
              </a:lnSpc>
              <a:spcAft>
                <a:spcPts val="800"/>
              </a:spcAft>
              <a:buChar char="•"/>
              <a:defRPr sz="1700">
                <a:solidFill>
                  <a:srgbClr val="334155"/>
                </a:solidFill>
                <a:latin typeface="DejaVu Sans"/>
              </a:defRPr>
            </a:pPr>
            <a:r>
              <a:t>Enforce PostgreSQL row-level security policies</a:t>
            </a:r>
          </a:p>
          <a:p>
            <a:pPr marL="182880" indent="-164592">
              <a:lnSpc>
                <a:spcPts val="2200"/>
              </a:lnSpc>
              <a:spcAft>
                <a:spcPts val="800"/>
              </a:spcAft>
              <a:buChar char="•"/>
              <a:defRPr sz="1700">
                <a:solidFill>
                  <a:srgbClr val="334155"/>
                </a:solidFill>
                <a:latin typeface="DejaVu Sans"/>
              </a:defRPr>
            </a:pPr>
            <a:r>
              <a:t>Bind protection access to one organisation</a:t>
            </a:r>
          </a:p>
          <a:p>
            <a:pPr marL="182880" indent="-164592">
              <a:lnSpc>
                <a:spcPts val="2200"/>
              </a:lnSpc>
              <a:spcAft>
                <a:spcPts val="800"/>
              </a:spcAft>
              <a:buChar char="•"/>
              <a:defRPr sz="1700">
                <a:solidFill>
                  <a:srgbClr val="334155"/>
                </a:solidFill>
                <a:latin typeface="DejaVu Sans"/>
              </a:defRPr>
            </a:pPr>
            <a:r>
              <a:t>Require a different admin to approve playbooks</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JWT verification and RLS controls are implemented; live IdP integration and database-role enforcement need staging.</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21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06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ALERTS + FINDINGS + AGENTS</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Unified operations console</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An analyst investigating an alert needs to understand the affected host, its known weaknesses and any response already underway. The console brings that context together, helping teams coordinate investigation while making unavailable information visible.</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Shared investigation view</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View intrusion alerts and vulnerability findings</a:t>
            </a:r>
          </a:p>
          <a:p>
            <a:pPr marL="182880" indent="-164592">
              <a:lnSpc>
                <a:spcPts val="2200"/>
              </a:lnSpc>
              <a:spcAft>
                <a:spcPts val="800"/>
              </a:spcAft>
              <a:buChar char="•"/>
              <a:defRPr sz="1700">
                <a:solidFill>
                  <a:srgbClr val="334155"/>
                </a:solidFill>
                <a:latin typeface="DejaVu Sans"/>
              </a:defRPr>
            </a:pPr>
            <a:r>
              <a:t>Inspect agent health, sensor status and version drift</a:t>
            </a:r>
          </a:p>
          <a:p>
            <a:pPr marL="182880" indent="-164592">
              <a:lnSpc>
                <a:spcPts val="2200"/>
              </a:lnSpc>
              <a:spcAft>
                <a:spcPts val="800"/>
              </a:spcAft>
              <a:buChar char="•"/>
              <a:defRPr sz="1700">
                <a:solidFill>
                  <a:srgbClr val="334155"/>
                </a:solidFill>
                <a:latin typeface="DejaVu Sans"/>
              </a:defRPr>
            </a:pPr>
            <a:r>
              <a:t>Create and assign incidents from selected alerts</a:t>
            </a:r>
          </a:p>
          <a:p>
            <a:pPr marL="182880" indent="-164592">
              <a:lnSpc>
                <a:spcPts val="2200"/>
              </a:lnSpc>
              <a:spcAft>
                <a:spcPts val="800"/>
              </a:spcAft>
              <a:buChar char="•"/>
              <a:defRPr sz="1700">
                <a:solidFill>
                  <a:srgbClr val="334155"/>
                </a:solidFill>
                <a:latin typeface="DejaVu Sans"/>
              </a:defRPr>
            </a:pPr>
            <a:r>
              <a:t>Review response plans before approval</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Operational safeguards</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Apply the same API role checks to console actions</a:t>
            </a:r>
          </a:p>
          <a:p>
            <a:pPr marL="182880" indent="-164592">
              <a:lnSpc>
                <a:spcPts val="2200"/>
              </a:lnSpc>
              <a:spcAft>
                <a:spcPts val="800"/>
              </a:spcAft>
              <a:buChar char="•"/>
              <a:defRPr sz="1700">
                <a:solidFill>
                  <a:srgbClr val="334155"/>
                </a:solidFill>
                <a:latin typeface="DejaVu Sans"/>
              </a:defRPr>
            </a:pPr>
            <a:r>
              <a:t>Keep access tokens in browser-tab memory</a:t>
            </a:r>
          </a:p>
          <a:p>
            <a:pPr marL="182880" indent="-164592">
              <a:lnSpc>
                <a:spcPts val="2200"/>
              </a:lnSpc>
              <a:spcAft>
                <a:spcPts val="800"/>
              </a:spcAft>
              <a:buChar char="•"/>
              <a:defRPr sz="1700">
                <a:solidFill>
                  <a:srgbClr val="334155"/>
                </a:solidFill>
                <a:latin typeface="DejaVu Sans"/>
              </a:defRPr>
            </a:pPr>
            <a:r>
              <a:t>Report unavailable upstream sources explicitly</a:t>
            </a:r>
          </a:p>
          <a:p>
            <a:pPr marL="182880" indent="-164592">
              <a:lnSpc>
                <a:spcPts val="2200"/>
              </a:lnSpc>
              <a:spcAft>
                <a:spcPts val="800"/>
              </a:spcAft>
              <a:buChar char="•"/>
              <a:defRPr sz="1700">
                <a:solidFill>
                  <a:srgbClr val="334155"/>
                </a:solidFill>
                <a:latin typeface="DejaVu Sans"/>
              </a:defRPr>
            </a:pPr>
            <a:r>
              <a:t>Retrieve findings through a fixed HTTPS connector</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The console shows bounded recent lists; it is not an exhaustive cross-platform evidence search.</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21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07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WINDOWS EVENTS + LINUX AUDIT</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Windows and Linux monitoring</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Server monitoring depends on collecting useful activity from the operating system and making gaps visible. Windows event sources and Linux audit records provide investigation evidence, while sensor health indicators help teams distinguish quiet systems from missing telemetry.</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Windows monitoring</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Security log authentication and network logons</a:t>
            </a:r>
          </a:p>
          <a:p>
            <a:pPr marL="182880" indent="-164592">
              <a:lnSpc>
                <a:spcPts val="2200"/>
              </a:lnSpc>
              <a:spcAft>
                <a:spcPts val="800"/>
              </a:spcAft>
              <a:buChar char="•"/>
              <a:defRPr sz="1700">
                <a:solidFill>
                  <a:srgbClr val="334155"/>
                </a:solidFill>
                <a:latin typeface="DejaVu Sans"/>
              </a:defRPr>
            </a:pPr>
            <a:r>
              <a:t>RDP and SMB evidence where source events support it</a:t>
            </a:r>
          </a:p>
          <a:p>
            <a:pPr marL="182880" indent="-164592">
              <a:lnSpc>
                <a:spcPts val="2200"/>
              </a:lnSpc>
              <a:spcAft>
                <a:spcPts val="800"/>
              </a:spcAft>
              <a:buChar char="•"/>
              <a:defRPr sz="1700">
                <a:solidFill>
                  <a:srgbClr val="334155"/>
                </a:solidFill>
                <a:latin typeface="DejaVu Sans"/>
              </a:defRPr>
            </a:pPr>
            <a:r>
              <a:t>Sysmon process-creation records</a:t>
            </a:r>
          </a:p>
          <a:p>
            <a:pPr marL="182880" indent="-164592">
              <a:lnSpc>
                <a:spcPts val="2200"/>
              </a:lnSpc>
              <a:spcAft>
                <a:spcPts val="800"/>
              </a:spcAft>
              <a:buChar char="•"/>
              <a:defRPr sz="1700">
                <a:solidFill>
                  <a:srgbClr val="334155"/>
                </a:solidFill>
                <a:latin typeface="DejaVu Sans"/>
              </a:defRPr>
            </a:pPr>
            <a:r>
              <a:t>Selected fields without raw command-line capture</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Linux monitoring</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Event-driven audit execution records</a:t>
            </a:r>
          </a:p>
          <a:p>
            <a:pPr marL="182880" indent="-164592">
              <a:lnSpc>
                <a:spcPts val="2200"/>
              </a:lnSpc>
              <a:spcAft>
                <a:spcPts val="800"/>
              </a:spcAft>
              <a:buChar char="•"/>
              <a:defRPr sz="1700">
                <a:solidFill>
                  <a:srgbClr val="334155"/>
                </a:solidFill>
                <a:latin typeface="DejaVu Sans"/>
              </a:defRPr>
            </a:pPr>
            <a:r>
              <a:t>Linux /proc process polling</a:t>
            </a:r>
          </a:p>
          <a:p>
            <a:pPr marL="182880" indent="-164592">
              <a:lnSpc>
                <a:spcPts val="2200"/>
              </a:lnSpc>
              <a:spcAft>
                <a:spcPts val="800"/>
              </a:spcAft>
              <a:buChar char="•"/>
              <a:defRPr sz="1700">
                <a:solidFill>
                  <a:srgbClr val="334155"/>
                </a:solidFill>
                <a:latin typeface="DejaVu Sans"/>
              </a:defRPr>
            </a:pPr>
            <a:r>
              <a:t>SSH access, API denials and file-integrity signals</a:t>
            </a:r>
          </a:p>
          <a:p>
            <a:pPr marL="182880" indent="-164592">
              <a:lnSpc>
                <a:spcPts val="2200"/>
              </a:lnSpc>
              <a:spcAft>
                <a:spcPts val="800"/>
              </a:spcAft>
              <a:buChar char="•"/>
              <a:defRPr sz="1700">
                <a:solidFill>
                  <a:srgbClr val="334155"/>
                </a:solidFill>
                <a:latin typeface="DejaVu Sans"/>
              </a:defRPr>
            </a:pPr>
            <a:r>
              <a:t>Sensor health and missing-telemetry indicators</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Windows and Linux support monitoring and approved containment. Native enforcement and recovery require staging validation.</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21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08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SELECTED HOST SIGNALS</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Process and malware detection</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Selected process patterns and reviewed malware indicators provide clues that warrant investigation. A known-bad hash match supplies specific file evidence; analysts can review its context before approving action, while missing scanners or telemetry remain visible as coverage limitations.</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Suspicious activity</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Recognised web-server parent spawning a shell</a:t>
            </a:r>
          </a:p>
          <a:p>
            <a:pPr marL="182880" indent="-164592">
              <a:lnSpc>
                <a:spcPts val="2200"/>
              </a:lnSpc>
              <a:spcAft>
                <a:spcPts val="800"/>
              </a:spcAft>
              <a:buChar char="•"/>
              <a:defRPr sz="1700">
                <a:solidFill>
                  <a:srgbClr val="334155"/>
                </a:solidFill>
                <a:latin typeface="DejaVu Sans"/>
              </a:defRPr>
            </a:pPr>
            <a:r>
              <a:t>Execution from writable temporary locations</a:t>
            </a:r>
          </a:p>
          <a:p>
            <a:pPr marL="182880" indent="-164592">
              <a:lnSpc>
                <a:spcPts val="2200"/>
              </a:lnSpc>
              <a:spcAft>
                <a:spcPts val="800"/>
              </a:spcAft>
              <a:buChar char="•"/>
              <a:defRPr sz="1700">
                <a:solidFill>
                  <a:srgbClr val="334155"/>
                </a:solidFill>
                <a:latin typeface="DejaVu Sans"/>
              </a:defRPr>
            </a:pPr>
            <a:r>
              <a:t>Deleted executable signals on Linux</a:t>
            </a:r>
          </a:p>
          <a:p>
            <a:pPr marL="182880" indent="-164592">
              <a:lnSpc>
                <a:spcPts val="2200"/>
              </a:lnSpc>
              <a:spcAft>
                <a:spcPts val="800"/>
              </a:spcAft>
              <a:buChar char="•"/>
              <a:defRPr sz="1700">
                <a:solidFill>
                  <a:srgbClr val="334155"/>
                </a:solidFill>
                <a:latin typeface="DejaVu Sans"/>
              </a:defRPr>
            </a:pPr>
            <a:r>
              <a:t>Event records for short-lived processes</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Malware evidence</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Known-bad SHA256 matches on selected targets</a:t>
            </a:r>
          </a:p>
          <a:p>
            <a:pPr marL="182880" indent="-164592">
              <a:lnSpc>
                <a:spcPts val="2200"/>
              </a:lnSpc>
              <a:spcAft>
                <a:spcPts val="800"/>
              </a:spcAft>
              <a:buChar char="•"/>
              <a:defRPr sz="1700">
                <a:solidFill>
                  <a:srgbClr val="334155"/>
                </a:solidFill>
                <a:latin typeface="DejaVu Sans"/>
              </a:defRPr>
            </a:pPr>
            <a:r>
              <a:t>Optional Linux selected-file ClamAV scans</a:t>
            </a:r>
          </a:p>
          <a:p>
            <a:pPr marL="182880" indent="-164592">
              <a:lnSpc>
                <a:spcPts val="2200"/>
              </a:lnSpc>
              <a:spcAft>
                <a:spcPts val="800"/>
              </a:spcAft>
              <a:buChar char="•"/>
              <a:defRPr sz="1700">
                <a:solidFill>
                  <a:srgbClr val="334155"/>
                </a:solidFill>
                <a:latin typeface="DejaVu Sans"/>
              </a:defRPr>
            </a:pPr>
            <a:r>
              <a:t>Path, signature and hash retained for review</a:t>
            </a:r>
          </a:p>
          <a:p>
            <a:pPr marL="182880" indent="-164592">
              <a:lnSpc>
                <a:spcPts val="2200"/>
              </a:lnSpc>
              <a:spcAft>
                <a:spcPts val="800"/>
              </a:spcAft>
              <a:buChar char="•"/>
              <a:defRPr sz="1700">
                <a:solidFill>
                  <a:srgbClr val="334155"/>
                </a:solidFill>
                <a:latin typeface="DejaVu Sans"/>
              </a:defRPr>
            </a:pPr>
            <a:r>
              <a:t>Unavailable scanners surface degraded coverage</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Coverage excludes complete memory scanning and full-disk protection. File quarantine does not terminate a running process.</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21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09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CROSS-HOST CORRELATION</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Lateral-movement signals</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Activity that appears ordinary on one server can become suspicious when repeated across several hosts. Correlating authentication events helps analysts recognise possible account misuse or movement between systems, while retaining context needed to assess legitimate administrative activity.</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Correlated patterns</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Password spraying across multiple hosts</a:t>
            </a:r>
          </a:p>
          <a:p>
            <a:pPr marL="182880" indent="-164592">
              <a:lnSpc>
                <a:spcPts val="2200"/>
              </a:lnSpc>
              <a:spcAft>
                <a:spcPts val="800"/>
              </a:spcAft>
              <a:buChar char="•"/>
              <a:defRPr sz="1700">
                <a:solidFill>
                  <a:srgbClr val="334155"/>
                </a:solidFill>
                <a:latin typeface="DejaVu Sans"/>
              </a:defRPr>
            </a:pPr>
            <a:r>
              <a:t>Same-user successful-login fan-out</a:t>
            </a:r>
          </a:p>
          <a:p>
            <a:pPr marL="182880" indent="-164592">
              <a:lnSpc>
                <a:spcPts val="2200"/>
              </a:lnSpc>
              <a:spcAft>
                <a:spcPts val="800"/>
              </a:spcAft>
              <a:buChar char="•"/>
              <a:defRPr sz="1700">
                <a:solidFill>
                  <a:srgbClr val="334155"/>
                </a:solidFill>
                <a:latin typeface="DejaVu Sans"/>
              </a:defRPr>
            </a:pPr>
            <a:r>
              <a:t>Suspected pivots from already flagged hosts</a:t>
            </a:r>
          </a:p>
          <a:p>
            <a:pPr marL="182880" indent="-164592">
              <a:lnSpc>
                <a:spcPts val="2200"/>
              </a:lnSpc>
              <a:spcAft>
                <a:spcPts val="800"/>
              </a:spcAft>
              <a:buChar char="•"/>
              <a:defRPr sz="1700">
                <a:solidFill>
                  <a:srgbClr val="334155"/>
                </a:solidFill>
                <a:latin typeface="DejaVu Sans"/>
              </a:defRPr>
            </a:pPr>
            <a:r>
              <a:t>Remote-access evidence from supported event sources</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Investigation context</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Administrator-defined host-to-IP ownership</a:t>
            </a:r>
          </a:p>
          <a:p>
            <a:pPr marL="182880" indent="-164592">
              <a:lnSpc>
                <a:spcPts val="2200"/>
              </a:lnSpc>
              <a:spcAft>
                <a:spcPts val="800"/>
              </a:spcAft>
              <a:buChar char="•"/>
              <a:defRPr sz="1700">
                <a:solidFill>
                  <a:srgbClr val="334155"/>
                </a:solidFill>
                <a:latin typeface="DejaVu Sans"/>
              </a:defRPr>
            </a:pPr>
            <a:r>
              <a:t>Time-bounded correlation with retained evidence</a:t>
            </a:r>
          </a:p>
          <a:p>
            <a:pPr marL="182880" indent="-164592">
              <a:lnSpc>
                <a:spcPts val="2200"/>
              </a:lnSpc>
              <a:spcAft>
                <a:spcPts val="800"/>
              </a:spcAft>
              <a:buChar char="•"/>
              <a:defRPr sz="1700">
                <a:solidFill>
                  <a:srgbClr val="334155"/>
                </a:solidFill>
                <a:latin typeface="DejaVu Sans"/>
              </a:defRPr>
            </a:pPr>
            <a:r>
              <a:t>Retry, out-of-order and restart handling</a:t>
            </a:r>
          </a:p>
          <a:p>
            <a:pPr marL="182880" indent="-164592">
              <a:lnSpc>
                <a:spcPts val="2200"/>
              </a:lnSpc>
              <a:spcAft>
                <a:spcPts val="800"/>
              </a:spcAft>
              <a:buChar char="•"/>
              <a:defRPr sz="1700">
                <a:solidFill>
                  <a:srgbClr val="334155"/>
                </a:solidFill>
                <a:latin typeface="DejaVu Sans"/>
              </a:defRPr>
            </a:pPr>
            <a:r>
              <a:t>Expiring exceptions for reviewed false positives</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NAT, shared accounts and legitimate automation need review; protocol labels require supporting source evidence.</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21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10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MODSECURITY + CLOUDFLARE</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WAF integration</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Web application firewalls provide an enforcement point for traffic reaching protected applications. Connecting their signals with investigations helps teams understand attempted abuse and review scoped blocking decisions, with tuning and deployment checks needed to avoid disrupting legitimate requests.</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On-premises or proxy WAF</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Nginx / ModSecurity and OWASP CRS templates</a:t>
            </a:r>
          </a:p>
          <a:p>
            <a:pPr marL="182880" indent="-164592">
              <a:lnSpc>
                <a:spcPts val="2200"/>
              </a:lnSpc>
              <a:spcAft>
                <a:spcPts val="800"/>
              </a:spcAft>
              <a:buChar char="•"/>
              <a:defRPr sz="1700">
                <a:solidFill>
                  <a:srgbClr val="334155"/>
                </a:solidFill>
                <a:latin typeface="DejaVu Sans"/>
              </a:defRPr>
            </a:pPr>
            <a:r>
              <a:t>Sanitised serial-JSON rule-match collection</a:t>
            </a:r>
          </a:p>
          <a:p>
            <a:pPr marL="182880" indent="-164592">
              <a:lnSpc>
                <a:spcPts val="2200"/>
              </a:lnSpc>
              <a:spcAft>
                <a:spcPts val="800"/>
              </a:spcAft>
              <a:buChar char="•"/>
              <a:defRPr sz="1700">
                <a:solidFill>
                  <a:srgbClr val="334155"/>
                </a:solidFill>
                <a:latin typeface="DejaVu Sans"/>
              </a:defRPr>
            </a:pPr>
            <a:r>
              <a:t>DetectionOnly starting configuration</a:t>
            </a:r>
          </a:p>
          <a:p>
            <a:pPr marL="182880" indent="-164592">
              <a:lnSpc>
                <a:spcPts val="2200"/>
              </a:lnSpc>
              <a:spcAft>
                <a:spcPts val="800"/>
              </a:spcAft>
              <a:buChar char="•"/>
              <a:defRPr sz="1700">
                <a:solidFill>
                  <a:srgbClr val="334155"/>
                </a:solidFill>
                <a:latin typeface="DejaVu Sans"/>
              </a:defRPr>
            </a:pPr>
            <a:r>
              <a:t>No request-body or credential export</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Cloudflare response connector</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Use a configured zone and custom-ruleset scope</a:t>
            </a:r>
          </a:p>
          <a:p>
            <a:pPr marL="182880" indent="-164592">
              <a:lnSpc>
                <a:spcPts val="2200"/>
              </a:lnSpc>
              <a:spcAft>
                <a:spcPts val="800"/>
              </a:spcAft>
              <a:buChar char="•"/>
              <a:defRPr sz="1700">
                <a:solidFill>
                  <a:srgbClr val="334155"/>
                </a:solidFill>
                <a:latin typeface="DejaVu Sans"/>
              </a:defRPr>
            </a:pPr>
            <a:r>
              <a:t>Apply an approved source-IP block</a:t>
            </a:r>
          </a:p>
          <a:p>
            <a:pPr marL="182880" indent="-164592">
              <a:lnSpc>
                <a:spcPts val="2200"/>
              </a:lnSpc>
              <a:spcAft>
                <a:spcPts val="800"/>
              </a:spcAft>
              <a:buChar char="•"/>
              <a:defRPr sz="1700">
                <a:solidFill>
                  <a:srgbClr val="334155"/>
                </a:solidFill>
                <a:latin typeface="DejaVu Sans"/>
              </a:defRPr>
            </a:pPr>
            <a:r>
              <a:t>Embed fixed expiry in the provider rule</a:t>
            </a:r>
          </a:p>
          <a:p>
            <a:pPr marL="182880" indent="-164592">
              <a:lnSpc>
                <a:spcPts val="2200"/>
              </a:lnSpc>
              <a:spcAft>
                <a:spcPts val="800"/>
              </a:spcAft>
              <a:buChar char="•"/>
              <a:defRPr sz="1700">
                <a:solidFill>
                  <a:srgbClr val="334155"/>
                </a:solidFill>
                <a:latin typeface="DejaVu Sans"/>
              </a:defRPr>
            </a:pPr>
            <a:r>
              <a:t>Retry cleanup without extending the deadline</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Rule ordering, provider permissions, propagation and real traffic enforcement remain staging checks.</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21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11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APPROVAL + BOUNDED ENFORCEMENT</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Reviewed local containment</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Containment can interrupt business services, so response decisions need clear evidence and accountability. VulnSuite places supported file quarantine and host isolation behind separate approval and local policy checks, with recorded outcomes and reviewed recovery paths.</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Quarantine and restoration</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Use approved malware path and SHA256 evidence</a:t>
            </a:r>
          </a:p>
          <a:p>
            <a:pPr marL="182880" indent="-164592">
              <a:lnSpc>
                <a:spcPts val="2200"/>
              </a:lnSpc>
              <a:spcAft>
                <a:spcPts val="800"/>
              </a:spcAft>
              <a:buChar char="•"/>
              <a:defRPr sz="1700">
                <a:solidFill>
                  <a:srgbClr val="334155"/>
                </a:solidFill>
                <a:latin typeface="DejaVu Sans"/>
              </a:defRPr>
            </a:pPr>
            <a:r>
              <a:t>Linux: private same-filesystem quarantine vault</a:t>
            </a:r>
          </a:p>
          <a:p>
            <a:pPr marL="182880" indent="-164592">
              <a:lnSpc>
                <a:spcPts val="2200"/>
              </a:lnSpc>
              <a:spcAft>
                <a:spcPts val="800"/>
              </a:spcAft>
              <a:buChar char="•"/>
              <a:defRPr sz="1700">
                <a:solidFill>
                  <a:srgbClr val="334155"/>
                </a:solidFill>
                <a:latin typeface="DejaVu Sans"/>
              </a:defRPr>
            </a:pPr>
            <a:r>
              <a:t>Windows: file-handle checks and protected ACLs</a:t>
            </a:r>
          </a:p>
          <a:p>
            <a:pPr marL="182880" indent="-164592">
              <a:lnSpc>
                <a:spcPts val="2200"/>
              </a:lnSpc>
              <a:spcAft>
                <a:spcPts val="800"/>
              </a:spcAft>
              <a:buChar char="•"/>
              <a:defRPr sz="1700">
                <a:solidFill>
                  <a:srgbClr val="334155"/>
                </a:solidFill>
                <a:latin typeface="DejaVu Sans"/>
              </a:defRPr>
            </a:pPr>
            <a:r>
              <a:t>Restore without overwriting existing files</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Isolation and release</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Require separate approval and local policy</a:t>
            </a:r>
          </a:p>
          <a:p>
            <a:pPr marL="182880" indent="-164592">
              <a:lnSpc>
                <a:spcPts val="2200"/>
              </a:lnSpc>
              <a:spcAft>
                <a:spcPts val="800"/>
              </a:spcAft>
              <a:buChar char="•"/>
              <a:defRPr sz="1700">
                <a:solidFill>
                  <a:srgbClr val="334155"/>
                </a:solidFill>
                <a:latin typeface="DejaVu Sans"/>
              </a:defRPr>
            </a:pPr>
            <a:r>
              <a:t>Linux: kernel-expiring nftables isolation</a:t>
            </a:r>
          </a:p>
          <a:p>
            <a:pPr marL="182880" indent="-164592">
              <a:lnSpc>
                <a:spcPts val="2200"/>
              </a:lnSpc>
              <a:spcAft>
                <a:spcPts val="800"/>
              </a:spcAft>
              <a:buChar char="•"/>
              <a:defRPr sz="1700">
                <a:solidFill>
                  <a:srgbClr val="334155"/>
                </a:solidFill>
                <a:latin typeface="DejaVu Sans"/>
              </a:defRPr>
            </a:pPr>
            <a:r>
              <a:t>Windows: firewall rules with local recovery tasks</a:t>
            </a:r>
          </a:p>
          <a:p>
            <a:pPr marL="182880" indent="-164592">
              <a:lnSpc>
                <a:spcPts val="2200"/>
              </a:lnSpc>
              <a:spcAft>
                <a:spcPts val="800"/>
              </a:spcAft>
              <a:buChar char="•"/>
              <a:defRPr sz="1700">
                <a:solidFill>
                  <a:srgbClr val="334155"/>
                </a:solidFill>
                <a:latin typeface="DejaVu Sans"/>
              </a:defRPr>
            </a:pPr>
            <a:r>
              <a:t>Keep configured management exceptions</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Containment is disabled by default. Windows expiry uses local recovery tasks; Linux uses kernel timeouts.</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21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12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PLATFORM ARCHITECTURE</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How the components fit</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The assessment service evaluates exposure; the protection service handles telemetry, investigations and response. Their separate responsibilities help teams plan access, storage, maintenance and integration around the requirements of each service.</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Assessment service</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Scanner collectors and orchestration workers</a:t>
            </a:r>
          </a:p>
          <a:p>
            <a:pPr marL="182880" indent="-164592">
              <a:lnSpc>
                <a:spcPts val="2200"/>
              </a:lnSpc>
              <a:spcAft>
                <a:spcPts val="800"/>
              </a:spcAft>
              <a:buChar char="•"/>
              <a:defRPr sz="1700">
                <a:solidFill>
                  <a:srgbClr val="334155"/>
                </a:solidFill>
                <a:latin typeface="DejaVu Sans"/>
              </a:defRPr>
            </a:pPr>
            <a:r>
              <a:t>Canonical findings and deterministic risk scoring</a:t>
            </a:r>
          </a:p>
          <a:p>
            <a:pPr marL="182880" indent="-164592">
              <a:lnSpc>
                <a:spcPts val="2200"/>
              </a:lnSpc>
              <a:spcAft>
                <a:spcPts val="800"/>
              </a:spcAft>
              <a:buChar char="•"/>
              <a:defRPr sz="1700">
                <a:solidFill>
                  <a:srgbClr val="334155"/>
                </a:solidFill>
                <a:latin typeface="DejaVu Sans"/>
              </a:defRPr>
            </a:pPr>
            <a:r>
              <a:t>Verified API access and PostgreSQL tenant policies</a:t>
            </a:r>
          </a:p>
          <a:p>
            <a:pPr marL="182880" indent="-164592">
              <a:lnSpc>
                <a:spcPts val="2200"/>
              </a:lnSpc>
              <a:spcAft>
                <a:spcPts val="800"/>
              </a:spcAft>
              <a:buChar char="•"/>
              <a:defRPr sz="1700">
                <a:solidFill>
                  <a:srgbClr val="334155"/>
                </a:solidFill>
                <a:latin typeface="DejaVu Sans"/>
              </a:defRPr>
            </a:pPr>
            <a:r>
              <a:t>Read-only findings feed into the operations console</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Protection service</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Authenticated Linux and Windows agents</a:t>
            </a:r>
          </a:p>
          <a:p>
            <a:pPr marL="182880" indent="-164592">
              <a:lnSpc>
                <a:spcPts val="2200"/>
              </a:lnSpc>
              <a:spcAft>
                <a:spcPts val="800"/>
              </a:spcAft>
              <a:buChar char="•"/>
              <a:defRPr sz="1700">
                <a:solidFill>
                  <a:srgbClr val="334155"/>
                </a:solidFill>
                <a:latin typeface="DejaVu Sans"/>
              </a:defRPr>
            </a:pPr>
            <a:r>
              <a:t>One organisation per SQLite operational store</a:t>
            </a:r>
          </a:p>
          <a:p>
            <a:pPr marL="182880" indent="-164592">
              <a:lnSpc>
                <a:spcPts val="2200"/>
              </a:lnSpc>
              <a:spcAft>
                <a:spcPts val="800"/>
              </a:spcAft>
              <a:buChar char="•"/>
              <a:defRPr sz="1700">
                <a:solidFill>
                  <a:srgbClr val="334155"/>
                </a:solidFill>
                <a:latin typeface="DejaVu Sans"/>
              </a:defRPr>
            </a:pPr>
            <a:r>
              <a:t>Detection, incidents, policies and response history</a:t>
            </a:r>
          </a:p>
          <a:p>
            <a:pPr marL="182880" indent="-164592">
              <a:lnSpc>
                <a:spcPts val="2200"/>
              </a:lnSpc>
              <a:spcAft>
                <a:spcPts val="800"/>
              </a:spcAft>
              <a:buChar char="•"/>
              <a:defRPr sz="1700">
                <a:solidFill>
                  <a:srgbClr val="334155"/>
                </a:solidFill>
                <a:latin typeface="DejaVu Sans"/>
              </a:defRPr>
            </a:pPr>
            <a:r>
              <a:t>Independent delivery and cloud-response worker</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SQLite protection persistence is not a horizontally scalable or highly available PostgreSQL backend.</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21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13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ENROLLMENT + POLICY + HEALTH</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Central agent lifecycle</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Host monitoring depends on knowing which agents are enrolled, authorised and reporting correctly. Central lifecycle controls help maintain that inventory, replace credentials, withdraw access and identify policy or version differences that require administrator attention.</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Credential management</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Issue expiring, one-time enrollment credentials</a:t>
            </a:r>
          </a:p>
          <a:p>
            <a:pPr marL="182880" indent="-164592">
              <a:lnSpc>
                <a:spcPts val="2200"/>
              </a:lnSpc>
              <a:spcAft>
                <a:spcPts val="800"/>
              </a:spcAft>
              <a:buChar char="•"/>
              <a:defRPr sz="1700">
                <a:solidFill>
                  <a:srgbClr val="334155"/>
                </a:solidFill>
                <a:latin typeface="DejaVu Sans"/>
              </a:defRPr>
            </a:pPr>
            <a:r>
              <a:t>Store hashes of enrolled host credentials</a:t>
            </a:r>
          </a:p>
          <a:p>
            <a:pPr marL="182880" indent="-164592">
              <a:lnSpc>
                <a:spcPts val="2200"/>
              </a:lnSpc>
              <a:spcAft>
                <a:spcPts val="800"/>
              </a:spcAft>
              <a:buChar char="•"/>
              <a:defRPr sz="1700">
                <a:solidFill>
                  <a:srgbClr val="334155"/>
                </a:solidFill>
                <a:latin typeface="DejaVu Sans"/>
              </a:defRPr>
            </a:pPr>
            <a:r>
              <a:t>Rotate keys and revoke agent access centrally</a:t>
            </a:r>
          </a:p>
          <a:p>
            <a:pPr marL="182880" indent="-164592">
              <a:lnSpc>
                <a:spcPts val="2200"/>
              </a:lnSpc>
              <a:spcAft>
                <a:spcPts val="800"/>
              </a:spcAft>
              <a:buChar char="•"/>
              <a:defRPr sz="1700">
                <a:solidFill>
                  <a:srgbClr val="334155"/>
                </a:solidFill>
                <a:latin typeface="DejaVu Sans"/>
              </a:defRPr>
            </a:pPr>
            <a:r>
              <a:t>Cancel unexecuted responses after revocation</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Inventory and policy</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Track platform, agent version and queue health</a:t>
            </a:r>
          </a:p>
          <a:p>
            <a:pPr marL="182880" indent="-164592">
              <a:lnSpc>
                <a:spcPts val="2200"/>
              </a:lnSpc>
              <a:spcAft>
                <a:spcPts val="800"/>
              </a:spcAft>
              <a:buChar char="•"/>
              <a:defRPr sz="1700">
                <a:solidFill>
                  <a:srgbClr val="334155"/>
                </a:solidFill>
                <a:latin typeface="DejaVu Sans"/>
              </a:defRPr>
            </a:pPr>
            <a:r>
              <a:t>Record administrator policy-version history</a:t>
            </a:r>
          </a:p>
          <a:p>
            <a:pPr marL="182880" indent="-164592">
              <a:lnSpc>
                <a:spcPts val="2200"/>
              </a:lnSpc>
              <a:spcAft>
                <a:spcPts val="800"/>
              </a:spcAft>
              <a:buChar char="•"/>
              <a:defRPr sz="1700">
                <a:solidFill>
                  <a:srgbClr val="334155"/>
                </a:solidFill>
                <a:latin typeface="DejaVu Sans"/>
              </a:defRPr>
            </a:pPr>
            <a:r>
              <a:t>Flag drift from the desired software version</a:t>
            </a:r>
          </a:p>
          <a:p>
            <a:pPr marL="182880" indent="-164592">
              <a:lnSpc>
                <a:spcPts val="2200"/>
              </a:lnSpc>
              <a:spcAft>
                <a:spcPts val="800"/>
              </a:spcAft>
              <a:buChar char="•"/>
              <a:defRPr sz="1700">
                <a:solidFill>
                  <a:srgbClr val="334155"/>
                </a:solidFill>
                <a:latin typeface="DejaVu Sans"/>
              </a:defRPr>
            </a:pPr>
            <a:r>
              <a:t>Keep privileged response enablement local to hosts</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Agent software installation and upgrades use an administrator-controlled rollout.</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21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OWNERSHIP + EVIDENCE + DELIVERY</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Incident and notification workflows</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Investigations often involve several people and external operational systems. Incident records preserve ownership and decisions, while signed notifications carry relevant information to organisation-operated integrations, helping teams coordinate work and recover delivery after temporary service failures.</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Investigation workflow</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Link alerts to owned incident cases</a:t>
            </a:r>
          </a:p>
          <a:p>
            <a:pPr marL="182880" indent="-164592">
              <a:lnSpc>
                <a:spcPts val="2200"/>
              </a:lnSpc>
              <a:spcAft>
                <a:spcPts val="800"/>
              </a:spcAft>
              <a:buChar char="•"/>
              <a:defRPr sz="1700">
                <a:solidFill>
                  <a:srgbClr val="334155"/>
                </a:solidFill>
                <a:latin typeface="DejaVu Sans"/>
              </a:defRPr>
            </a:pPr>
            <a:r>
              <a:t>Track status, notes and evidence timelines</a:t>
            </a:r>
          </a:p>
          <a:p>
            <a:pPr marL="182880" indent="-164592">
              <a:lnSpc>
                <a:spcPts val="2200"/>
              </a:lnSpc>
              <a:spcAft>
                <a:spcPts val="800"/>
              </a:spcAft>
              <a:buChar char="•"/>
              <a:defRPr sz="1700">
                <a:solidFill>
                  <a:srgbClr val="334155"/>
                </a:solidFill>
                <a:latin typeface="DejaVu Sans"/>
              </a:defRPr>
            </a:pPr>
            <a:r>
              <a:t>Protect concurrent edits with case versions</a:t>
            </a:r>
          </a:p>
          <a:p>
            <a:pPr marL="182880" indent="-164592">
              <a:lnSpc>
                <a:spcPts val="2200"/>
              </a:lnSpc>
              <a:spcAft>
                <a:spcPts val="800"/>
              </a:spcAft>
              <a:buChar char="•"/>
              <a:defRPr sz="1700">
                <a:solidFill>
                  <a:srgbClr val="334155"/>
                </a:solidFill>
                <a:latin typeface="DejaVu Sans"/>
              </a:defRPr>
            </a:pPr>
            <a:r>
              <a:t>Review alerts and add scoped, expiring exceptions</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SIEM and ticketing bridges</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Send signed JSON to fixed HTTPS endpoints</a:t>
            </a:r>
          </a:p>
          <a:p>
            <a:pPr marL="182880" indent="-164592">
              <a:lnSpc>
                <a:spcPts val="2200"/>
              </a:lnSpc>
              <a:spcAft>
                <a:spcPts val="800"/>
              </a:spcAft>
              <a:buChar char="•"/>
              <a:defRPr sz="1700">
                <a:solidFill>
                  <a:srgbClr val="334155"/>
                </a:solidFill>
                <a:latin typeface="DejaVu Sans"/>
              </a:defRPr>
            </a:pPr>
            <a:r>
              <a:t>Persist delivery state, leases and retry attempts</a:t>
            </a:r>
          </a:p>
          <a:p>
            <a:pPr marL="182880" indent="-164592">
              <a:lnSpc>
                <a:spcPts val="2200"/>
              </a:lnSpc>
              <a:spcAft>
                <a:spcPts val="800"/>
              </a:spcAft>
              <a:buChar char="•"/>
              <a:defRPr sz="1700">
                <a:solidFill>
                  <a:srgbClr val="334155"/>
                </a:solidFill>
                <a:latin typeface="DejaVu Sans"/>
              </a:defRPr>
            </a:pPr>
            <a:r>
              <a:t>Attach stable keys for receiver deduplication</a:t>
            </a:r>
          </a:p>
          <a:p>
            <a:pPr marL="182880" indent="-164592">
              <a:lnSpc>
                <a:spcPts val="2200"/>
              </a:lnSpc>
              <a:spcAft>
                <a:spcPts val="800"/>
              </a:spcAft>
              <a:buChar char="•"/>
              <a:defRPr sz="1700">
                <a:solidFill>
                  <a:srgbClr val="334155"/>
                </a:solidFill>
                <a:latin typeface="DejaVu Sans"/>
              </a:defRPr>
            </a:pPr>
            <a:r>
              <a:t>Audit outcomes without storing upstream secrets</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Webhooks support organisation-operated adapters; native Jira, ServiceNow or Splunk connectors are not implied.</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21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15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RECOVERY + MAINTENANCE</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Reliable delivery and retention</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Network interruptions and growing evidence volumes can affect security operations. Persistent queues and acknowledgement checks support recovery after outages, while backup and retention controls help teams manage stored evidence according to investigation needs and operational requirements.</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Telemetry continuity</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Keep events until exact acknowledgement</a:t>
            </a:r>
          </a:p>
          <a:p>
            <a:pPr marL="182880" indent="-164592">
              <a:lnSpc>
                <a:spcPts val="2200"/>
              </a:lnSpc>
              <a:spcAft>
                <a:spcPts val="800"/>
              </a:spcAft>
              <a:buChar char="•"/>
              <a:defRPr sz="1700">
                <a:solidFill>
                  <a:srgbClr val="334155"/>
                </a:solidFill>
                <a:latin typeface="DejaVu Sans"/>
              </a:defRPr>
            </a:pPr>
            <a:r>
              <a:t>Replay retained events after service outages</a:t>
            </a:r>
          </a:p>
          <a:p>
            <a:pPr marL="182880" indent="-164592">
              <a:lnSpc>
                <a:spcPts val="2200"/>
              </a:lnSpc>
              <a:spcAft>
                <a:spcPts val="800"/>
              </a:spcAft>
              <a:buChar char="•"/>
              <a:defRPr sz="1700">
                <a:solidFill>
                  <a:srgbClr val="334155"/>
                </a:solidFill>
                <a:latin typeface="DejaVu Sans"/>
              </a:defRPr>
            </a:pPr>
            <a:r>
              <a:t>Pause collection visibly when the queue is full</a:t>
            </a:r>
          </a:p>
          <a:p>
            <a:pPr marL="182880" indent="-164592">
              <a:lnSpc>
                <a:spcPts val="2200"/>
              </a:lnSpc>
              <a:spcAft>
                <a:spcPts val="800"/>
              </a:spcAft>
              <a:buChar char="•"/>
              <a:defRPr sz="1700">
                <a:solidFill>
                  <a:srgbClr val="334155"/>
                </a:solidFill>
                <a:latin typeface="DejaVu Sans"/>
              </a:defRPr>
            </a:pPr>
            <a:r>
              <a:t>Archive older events without fresh containment</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Evidence maintenance</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Create consistent SQLite backups and verify restore</a:t>
            </a:r>
          </a:p>
          <a:p>
            <a:pPr marL="182880" indent="-164592">
              <a:lnSpc>
                <a:spcPts val="2200"/>
              </a:lnSpc>
              <a:spcAft>
                <a:spcPts val="800"/>
              </a:spcAft>
              <a:buChar char="•"/>
              <a:defRPr sz="1700">
                <a:solidFill>
                  <a:srgbClr val="334155"/>
                </a:solidFill>
                <a:latin typeface="DejaVu Sans"/>
              </a:defRPr>
            </a:pPr>
            <a:r>
              <a:t>Preview retention cleanup before applying it</a:t>
            </a:r>
          </a:p>
          <a:p>
            <a:pPr marL="182880" indent="-164592">
              <a:lnSpc>
                <a:spcPts val="2200"/>
              </a:lnSpc>
              <a:spcAft>
                <a:spcPts val="800"/>
              </a:spcAft>
              <a:buChar char="•"/>
              <a:defRPr sz="1700">
                <a:solidFill>
                  <a:srgbClr val="334155"/>
                </a:solidFill>
                <a:latin typeface="DejaVu Sans"/>
              </a:defRPr>
            </a:pPr>
            <a:r>
              <a:t>Preserve incident and response-linked evidence</a:t>
            </a:r>
          </a:p>
          <a:p>
            <a:pPr marL="182880" indent="-164592">
              <a:lnSpc>
                <a:spcPts val="2200"/>
              </a:lnSpc>
              <a:spcAft>
                <a:spcPts val="800"/>
              </a:spcAft>
              <a:buChar char="•"/>
              <a:defRPr sz="1700">
                <a:solidFill>
                  <a:srgbClr val="334155"/>
                </a:solidFill>
                <a:latin typeface="DejaVu Sans"/>
              </a:defRPr>
            </a:pPr>
            <a:r>
              <a:t>Create offline-agent and stale-sensor alerts</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Schedule maintenance explicitly and measure capacity, recovery objectives and backup security in the target environment.</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21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16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AUTOMATED CHECKS + NATIVE FILE CHECKS</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Validation evidence</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The validation results demonstrate exercised code paths and selected native file behaviours. They provide evidence for technical review, while full containment effectiveness, host compatibility and operational performance require testing in the intended environment.</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348 automated tests passed</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Access, roles and tenant boundaries</a:t>
            </a:r>
          </a:p>
          <a:p>
            <a:pPr marL="182880" indent="-164592">
              <a:lnSpc>
                <a:spcPts val="2200"/>
              </a:lnSpc>
              <a:spcAft>
                <a:spcPts val="800"/>
              </a:spcAft>
              <a:buChar char="•"/>
              <a:defRPr sz="1700">
                <a:solidFill>
                  <a:srgbClr val="334155"/>
                </a:solidFill>
                <a:latin typeface="DejaVu Sans"/>
              </a:defRPr>
            </a:pPr>
            <a:r>
              <a:t>Detection, enrollment and incident workflows</a:t>
            </a:r>
          </a:p>
          <a:p>
            <a:pPr marL="182880" indent="-164592">
              <a:lnSpc>
                <a:spcPts val="2200"/>
              </a:lnSpc>
              <a:spcAft>
                <a:spcPts val="800"/>
              </a:spcAft>
              <a:buChar char="•"/>
              <a:defRPr sz="1700">
                <a:solidFill>
                  <a:srgbClr val="334155"/>
                </a:solidFill>
                <a:latin typeface="DejaVu Sans"/>
              </a:defRPr>
            </a:pPr>
            <a:r>
              <a:t>Delivery, retention and outage recovery</a:t>
            </a:r>
          </a:p>
          <a:p>
            <a:pPr marL="182880" indent="-164592">
              <a:lnSpc>
                <a:spcPts val="2200"/>
              </a:lnSpc>
              <a:spcAft>
                <a:spcPts val="800"/>
              </a:spcAft>
              <a:buChar char="•"/>
              <a:defRPr sz="1700">
                <a:solidFill>
                  <a:srgbClr val="334155"/>
                </a:solidFill>
                <a:latin typeface="DejaVu Sans"/>
              </a:defRPr>
            </a:pPr>
            <a:r>
              <a:t>Response workflows with mocked enforcement</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7 native Windows file checks passed</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Disposable file-operation contract fixtures</a:t>
            </a:r>
          </a:p>
          <a:p>
            <a:pPr marL="182880" indent="-164592">
              <a:lnSpc>
                <a:spcPts val="2200"/>
              </a:lnSpc>
              <a:spcAft>
                <a:spcPts val="800"/>
              </a:spcAft>
              <a:buChar char="•"/>
              <a:defRPr sz="1700">
                <a:solidFill>
                  <a:srgbClr val="334155"/>
                </a:solidFill>
                <a:latin typeface="DejaVu Sans"/>
              </a:defRPr>
            </a:pPr>
            <a:r>
              <a:t>Pinned-handle relative rename behavior</a:t>
            </a:r>
          </a:p>
          <a:p>
            <a:pPr marL="182880" indent="-164592">
              <a:lnSpc>
                <a:spcPts val="2200"/>
              </a:lnSpc>
              <a:spcAft>
                <a:spcPts val="800"/>
              </a:spcAft>
              <a:buChar char="•"/>
              <a:defRPr sz="1700">
                <a:solidFill>
                  <a:srgbClr val="334155"/>
                </a:solidFill>
                <a:latin typeface="DejaVu Sans"/>
              </a:defRPr>
            </a:pPr>
            <a:r>
              <a:t>File-sharing and junction-race checks</a:t>
            </a:r>
          </a:p>
          <a:p>
            <a:pPr marL="182880" indent="-164592">
              <a:lnSpc>
                <a:spcPts val="2200"/>
              </a:lnSpc>
              <a:spcAft>
                <a:spcPts val="800"/>
              </a:spcAft>
              <a:buChar char="•"/>
              <a:defRPr sz="1700">
                <a:solidFill>
                  <a:srgbClr val="334155"/>
                </a:solidFill>
                <a:latin typeface="DejaVu Sans"/>
              </a:defRPr>
            </a:pPr>
            <a:r>
              <a:t>Full ACL and firewall workflows require staging</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Automated tests and narrow native file checks do not establish live containment efficacy or production readiness.</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21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17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DEPLOYMENT GATES</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Required staging validation</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Deployment conditions determine whether security controls work as intended. Staging should verify identity, telemetry, permissions, enforcement and recovery together, including how containment behaves during service interruptions and host restarts.</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Identity and host environment</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IdP issuance, token lifetime and revocation behavior</a:t>
            </a:r>
          </a:p>
          <a:p>
            <a:pPr marL="182880" indent="-164592">
              <a:lnSpc>
                <a:spcPts val="2200"/>
              </a:lnSpc>
              <a:spcAft>
                <a:spcPts val="800"/>
              </a:spcAft>
              <a:buChar char="•"/>
              <a:defRPr sz="1700">
                <a:solidFill>
                  <a:srgbClr val="334155"/>
                </a:solidFill>
                <a:latin typeface="DejaVu Sans"/>
              </a:defRPr>
            </a:pPr>
            <a:r>
              <a:t>PostgreSQL RLS with the deployed runtime role</a:t>
            </a:r>
          </a:p>
          <a:p>
            <a:pPr marL="182880" indent="-164592">
              <a:lnSpc>
                <a:spcPts val="2200"/>
              </a:lnSpc>
              <a:spcAft>
                <a:spcPts val="800"/>
              </a:spcAft>
              <a:buChar char="•"/>
              <a:defRPr sz="1700">
                <a:solidFill>
                  <a:srgbClr val="334155"/>
                </a:solidFill>
                <a:latin typeface="DejaVu Sans"/>
              </a:defRPr>
            </a:pPr>
            <a:r>
              <a:t>Windows Security/Sysmon and Linux audit collection</a:t>
            </a:r>
          </a:p>
          <a:p>
            <a:pPr marL="182880" indent="-164592">
              <a:lnSpc>
                <a:spcPts val="2200"/>
              </a:lnSpc>
              <a:spcAft>
                <a:spcPts val="800"/>
              </a:spcAft>
              <a:buChar char="•"/>
              <a:defRPr sz="1700">
                <a:solidFill>
                  <a:srgbClr val="334155"/>
                </a:solidFill>
                <a:latin typeface="DejaVu Sans"/>
              </a:defRPr>
            </a:pPr>
            <a:r>
              <a:t>Linux ClamAV installation, signatures and results</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Enforcement and workload</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Cloudflare permissions, expiry and rule ordering</a:t>
            </a:r>
          </a:p>
          <a:p>
            <a:pPr marL="182880" indent="-164592">
              <a:lnSpc>
                <a:spcPts val="2200"/>
              </a:lnSpc>
              <a:spcAft>
                <a:spcPts val="800"/>
              </a:spcAft>
              <a:buChar char="•"/>
              <a:defRPr sz="1700">
                <a:solidFill>
                  <a:srgbClr val="334155"/>
                </a:solidFill>
                <a:latin typeface="DejaVu Sans"/>
              </a:defRPr>
            </a:pPr>
            <a:r>
              <a:t>ModSecurity / CRS tuning and real intervention</a:t>
            </a:r>
          </a:p>
          <a:p>
            <a:pPr marL="182880" indent="-164592">
              <a:lnSpc>
                <a:spcPts val="2200"/>
              </a:lnSpc>
              <a:spcAft>
                <a:spcPts val="800"/>
              </a:spcAft>
              <a:buChar char="•"/>
              <a:defRPr sz="1700">
                <a:solidFill>
                  <a:srgbClr val="334155"/>
                </a:solidFill>
                <a:latin typeface="DejaVu Sans"/>
              </a:defRPr>
            </a:pPr>
            <a:r>
              <a:t>Linux/Windows isolation, expiry and rollback</a:t>
            </a:r>
          </a:p>
          <a:p>
            <a:pPr marL="182880" indent="-164592">
              <a:lnSpc>
                <a:spcPts val="2200"/>
              </a:lnSpc>
              <a:spcAft>
                <a:spcPts val="800"/>
              </a:spcAft>
              <a:buChar char="•"/>
              <a:defRPr sz="1700">
                <a:solidFill>
                  <a:srgbClr val="334155"/>
                </a:solidFill>
                <a:latin typeface="DejaVu Sans"/>
              </a:defRPr>
            </a:pPr>
            <a:r>
              <a:t>False positives, overhead, backlog and recovery</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Validate native Windows ACLs, firewall enforcement, scheduled-task expiry and reboot recovery before enabling containment.</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21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18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DEPLOYMENT PLANNING</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Evaluating fit for your organisation</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A suitable deployment starts with clear asset scope, accountable owners and measurable acceptance criteria. These decisions help teams assess coverage, operational impact, recovery expectations and the conditions under which approved response should be enabled.</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Scope and ownership</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Select applications, APIs and server assets</a:t>
            </a:r>
          </a:p>
          <a:p>
            <a:pPr marL="182880" indent="-164592">
              <a:lnSpc>
                <a:spcPts val="2200"/>
              </a:lnSpc>
              <a:spcAft>
                <a:spcPts val="800"/>
              </a:spcAft>
              <a:buChar char="•"/>
              <a:defRPr sz="1700">
                <a:solidFill>
                  <a:srgbClr val="334155"/>
                </a:solidFill>
                <a:latin typeface="DejaVu Sans"/>
              </a:defRPr>
            </a:pPr>
            <a:r>
              <a:t>Identify incident owners and response approvers</a:t>
            </a:r>
          </a:p>
          <a:p>
            <a:pPr marL="182880" indent="-164592">
              <a:lnSpc>
                <a:spcPts val="2200"/>
              </a:lnSpc>
              <a:spcAft>
                <a:spcPts val="800"/>
              </a:spcAft>
              <a:buChar char="•"/>
              <a:defRPr sz="1700">
                <a:solidFill>
                  <a:srgbClr val="334155"/>
                </a:solidFill>
                <a:latin typeface="DejaVu Sans"/>
              </a:defRPr>
            </a:pPr>
            <a:r>
              <a:t>Define management-access exceptions</a:t>
            </a:r>
          </a:p>
          <a:p>
            <a:pPr marL="182880" indent="-164592">
              <a:lnSpc>
                <a:spcPts val="2200"/>
              </a:lnSpc>
              <a:spcAft>
                <a:spcPts val="800"/>
              </a:spcAft>
              <a:buChar char="•"/>
              <a:defRPr sz="1700">
                <a:solidFill>
                  <a:srgbClr val="334155"/>
                </a:solidFill>
                <a:latin typeface="DejaVu Sans"/>
              </a:defRPr>
            </a:pPr>
            <a:r>
              <a:t>Agree retention and recovery requirements</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Acceptance criteria</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Measure detection coverage and false positives</a:t>
            </a:r>
          </a:p>
          <a:p>
            <a:pPr marL="182880" indent="-164592">
              <a:lnSpc>
                <a:spcPts val="2200"/>
              </a:lnSpc>
              <a:spcAft>
                <a:spcPts val="800"/>
              </a:spcAft>
              <a:buChar char="•"/>
              <a:defRPr sz="1700">
                <a:solidFill>
                  <a:srgbClr val="334155"/>
                </a:solidFill>
                <a:latin typeface="DejaVu Sans"/>
              </a:defRPr>
            </a:pPr>
            <a:r>
              <a:t>Verify roles and separate-actor approval</a:t>
            </a:r>
          </a:p>
          <a:p>
            <a:pPr marL="182880" indent="-164592">
              <a:lnSpc>
                <a:spcPts val="2200"/>
              </a:lnSpc>
              <a:spcAft>
                <a:spcPts val="800"/>
              </a:spcAft>
              <a:buChar char="•"/>
              <a:defRPr sz="1700">
                <a:solidFill>
                  <a:srgbClr val="334155"/>
                </a:solidFill>
                <a:latin typeface="DejaVu Sans"/>
              </a:defRPr>
            </a:pPr>
            <a:r>
              <a:t>Exercise containment, expiry and restoration</a:t>
            </a:r>
          </a:p>
          <a:p>
            <a:pPr marL="182880" indent="-164592">
              <a:lnSpc>
                <a:spcPts val="2200"/>
              </a:lnSpc>
              <a:spcAft>
                <a:spcPts val="800"/>
              </a:spcAft>
              <a:buChar char="•"/>
              <a:defRPr sz="1700">
                <a:solidFill>
                  <a:srgbClr val="334155"/>
                </a:solidFill>
                <a:latin typeface="DejaVu Sans"/>
              </a:defRPr>
            </a:pPr>
            <a:r>
              <a:t>Measure host overhead and service recovery</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Production deployment requires environment-specific validation and an approved operating procedure.</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21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972800" cy="274320"/>
          </a:xfrm>
          <a:prstGeom prst="rect">
            <a:avLst/>
          </a:prstGeom>
          <a:noFill/>
        </p:spPr>
        <p:txBody>
          <a:bodyPr wrap="square" lIns="0" rIns="0" tIns="0" bIns="0">
            <a:noAutofit/>
          </a:bodyPr>
          <a:lstStyle/>
          <a:p>
            <a:pPr>
              <a:spcAft>
                <a:spcPts val="0"/>
              </a:spcAft>
              <a:defRPr sz="1100" b="1">
                <a:solidFill>
                  <a:srgbClr val="F38020"/>
                </a:solidFill>
                <a:latin typeface="DejaVu Sans"/>
              </a:defRPr>
            </a:pPr>
            <a:r>
              <a:t>OCTOBER 2026 UPDATE</a:t>
            </a:r>
          </a:p>
        </p:txBody>
      </p:sp>
      <p:sp>
        <p:nvSpPr>
          <p:cNvPr id="4" name="TextBox 3"/>
          <p:cNvSpPr txBox="1"/>
          <p:nvPr/>
        </p:nvSpPr>
        <p:spPr>
          <a:xfrm>
            <a:off x="502920" y="795528"/>
            <a:ext cx="11155680" cy="594360"/>
          </a:xfrm>
          <a:prstGeom prst="rect">
            <a:avLst/>
          </a:prstGeom>
          <a:noFill/>
        </p:spPr>
        <p:txBody>
          <a:bodyPr wrap="square" lIns="0" rIns="0" tIns="0" bIns="0">
            <a:noAutofit/>
          </a:bodyPr>
          <a:lstStyle/>
          <a:p>
            <a:pPr>
              <a:spcAft>
                <a:spcPts val="0"/>
              </a:spcAft>
              <a:defRPr sz="3400" b="1">
                <a:solidFill>
                  <a:srgbClr val="0A2540"/>
                </a:solidFill>
                <a:latin typeface="DejaVu Sans"/>
              </a:defRPr>
            </a:pPr>
            <a:r>
              <a:t>Continuous monitoring deployment</a:t>
            </a:r>
          </a:p>
        </p:txBody>
      </p:sp>
      <p:sp>
        <p:nvSpPr>
          <p:cNvPr id="5" name="TextBox 4"/>
          <p:cNvSpPr txBox="1"/>
          <p:nvPr/>
        </p:nvSpPr>
        <p:spPr>
          <a:xfrm>
            <a:off x="502920" y="1417320"/>
            <a:ext cx="11155680" cy="768096"/>
          </a:xfrm>
          <a:prstGeom prst="rect">
            <a:avLst/>
          </a:prstGeom>
          <a:noFill/>
        </p:spPr>
        <p:txBody>
          <a:bodyPr wrap="square" lIns="0" rIns="0" tIns="0" bIns="0">
            <a:noAutofit/>
          </a:bodyPr>
          <a:lstStyle/>
          <a:p>
            <a:pPr>
              <a:lnSpc>
                <a:spcPts val="2000"/>
              </a:lnSpc>
              <a:spcAft>
                <a:spcPts val="0"/>
              </a:spcAft>
              <a:defRPr sz="1550" b="0">
                <a:solidFill>
                  <a:srgbClr val="334155"/>
                </a:solidFill>
                <a:latin typeface="DejaVu Sans"/>
              </a:defRPr>
            </a:pPr>
            <a:r>
              <a:t>The deployment adds a continuous monitoring dashboard, bounded host collectors, local source scanning and service templates. Health checks expose stale snapshots, while tenant-scoped access connects findings to operations. Deployment details and limits are documented in vulnsuite/README.md.</a:t>
            </a:r>
          </a:p>
        </p:txBody>
      </p:sp>
      <p:sp>
        <p:nvSpPr>
          <p:cNvPr id="6" name="Rectangle 5"/>
          <p:cNvSpPr/>
          <p:nvPr/>
        </p:nvSpPr>
        <p:spPr>
          <a:xfrm>
            <a:off x="502920"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Monitoring and findings</a:t>
            </a:r>
          </a:p>
        </p:txBody>
      </p:sp>
      <p:sp>
        <p:nvSpPr>
          <p:cNvPr id="9" name="TextBox 8"/>
          <p:cNvSpPr txBox="1"/>
          <p:nvPr/>
        </p:nvSpPr>
        <p:spPr>
          <a:xfrm>
            <a:off x="749808"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Minute-by-minute host snapshots</a:t>
            </a:r>
          </a:p>
          <a:p>
            <a:pPr marL="182880" indent="-164592">
              <a:lnSpc>
                <a:spcPts val="2200"/>
              </a:lnSpc>
              <a:spcAft>
                <a:spcPts val="800"/>
              </a:spcAft>
              <a:buChar char="•"/>
              <a:defRPr sz="1700">
                <a:solidFill>
                  <a:srgbClr val="334155"/>
                </a:solidFill>
                <a:latin typeface="DejaVu Sans"/>
              </a:defRPr>
            </a:pPr>
            <a:r>
              <a:t>Stale snapshot health checks</a:t>
            </a:r>
          </a:p>
          <a:p>
            <a:pPr marL="182880" indent="-164592">
              <a:lnSpc>
                <a:spcPts val="2200"/>
              </a:lnSpc>
              <a:spcAft>
                <a:spcPts val="800"/>
              </a:spcAft>
              <a:buChar char="•"/>
              <a:defRPr sz="1700">
                <a:solidFill>
                  <a:srgbClr val="334155"/>
                </a:solidFill>
                <a:latin typeface="DejaVu Sans"/>
              </a:defRPr>
            </a:pPr>
            <a:r>
              <a:t>Hourly scans of VulnSuite source</a:t>
            </a:r>
          </a:p>
          <a:p>
            <a:pPr marL="182880" indent="-164592">
              <a:lnSpc>
                <a:spcPts val="2200"/>
              </a:lnSpc>
              <a:spcAft>
                <a:spcPts val="800"/>
              </a:spcAft>
              <a:buChar char="•"/>
              <a:defRPr sz="1700">
                <a:solidFill>
                  <a:srgbClr val="334155"/>
                </a:solidFill>
                <a:latin typeface="DejaVu Sans"/>
              </a:defRPr>
            </a:pPr>
            <a:r>
              <a:t>Agent delivery health refresh</a:t>
            </a:r>
          </a:p>
        </p:txBody>
      </p:sp>
      <p:sp>
        <p:nvSpPr>
          <p:cNvPr id="10" name="Rectangle 9"/>
          <p:cNvSpPr/>
          <p:nvPr/>
        </p:nvSpPr>
        <p:spPr>
          <a:xfrm>
            <a:off x="6281928" y="2331720"/>
            <a:ext cx="5404104" cy="3657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45720" cy="3657600"/>
          </a:xfrm>
          <a:prstGeom prst="rect">
            <a:avLst/>
          </a:prstGeom>
          <a:solidFill>
            <a:srgbClr val="F3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542032"/>
            <a:ext cx="4901184" cy="594360"/>
          </a:xfrm>
          <a:prstGeom prst="rect">
            <a:avLst/>
          </a:prstGeom>
          <a:noFill/>
        </p:spPr>
        <p:txBody>
          <a:bodyPr wrap="square" lIns="0" rIns="0" tIns="0" bIns="0">
            <a:noAutofit/>
          </a:bodyPr>
          <a:lstStyle/>
          <a:p>
            <a:pPr>
              <a:spcAft>
                <a:spcPts val="0"/>
              </a:spcAft>
              <a:defRPr sz="2000" b="1">
                <a:solidFill>
                  <a:srgbClr val="0A2540"/>
                </a:solidFill>
                <a:latin typeface="DejaVu Sans"/>
              </a:defRPr>
            </a:pPr>
            <a:r>
              <a:t>Deployment controls</a:t>
            </a:r>
          </a:p>
        </p:txBody>
      </p:sp>
      <p:sp>
        <p:nvSpPr>
          <p:cNvPr id="13" name="TextBox 12"/>
          <p:cNvSpPr txBox="1"/>
          <p:nvPr/>
        </p:nvSpPr>
        <p:spPr>
          <a:xfrm>
            <a:off x="6528816" y="3236976"/>
            <a:ext cx="4846320" cy="2615184"/>
          </a:xfrm>
          <a:prstGeom prst="rect">
            <a:avLst/>
          </a:prstGeom>
          <a:noFill/>
        </p:spPr>
        <p:txBody>
          <a:bodyPr wrap="square" lIns="0" rIns="0" tIns="0" bIns="0">
            <a:noAutofit/>
          </a:bodyPr>
          <a:lstStyle/>
          <a:p>
            <a:pPr marL="182880" indent="-164592">
              <a:lnSpc>
                <a:spcPts val="2200"/>
              </a:lnSpc>
              <a:spcAft>
                <a:spcPts val="800"/>
              </a:spcAft>
              <a:buChar char="•"/>
              <a:defRPr sz="1700" b="0">
                <a:solidFill>
                  <a:srgbClr val="334155"/>
                </a:solidFill>
                <a:latin typeface="DejaVu Sans"/>
              </a:defRPr>
            </a:pPr>
            <a:r>
              <a:t>Dedicated PostgreSQL and Redis services</a:t>
            </a:r>
          </a:p>
          <a:p>
            <a:pPr marL="182880" indent="-164592">
              <a:lnSpc>
                <a:spcPts val="2200"/>
              </a:lnSpc>
              <a:spcAft>
                <a:spcPts val="800"/>
              </a:spcAft>
              <a:buChar char="•"/>
              <a:defRPr sz="1700">
                <a:solidFill>
                  <a:srgbClr val="334155"/>
                </a:solidFill>
                <a:latin typeface="DejaVu Sans"/>
              </a:defRPr>
            </a:pPr>
            <a:r>
              <a:t>Renewed tenant-scoped read tokens</a:t>
            </a:r>
          </a:p>
          <a:p>
            <a:pPr marL="182880" indent="-164592">
              <a:lnSpc>
                <a:spcPts val="2200"/>
              </a:lnSpc>
              <a:spcAft>
                <a:spcPts val="800"/>
              </a:spcAft>
              <a:buChar char="•"/>
              <a:defRPr sz="1700">
                <a:solidFill>
                  <a:srgbClr val="334155"/>
                </a:solidFill>
                <a:latin typeface="DejaVu Sans"/>
              </a:defRPr>
            </a:pPr>
            <a:r>
              <a:t>Systemd services and scheduled collectors</a:t>
            </a:r>
          </a:p>
          <a:p>
            <a:pPr marL="182880" indent="-164592">
              <a:lnSpc>
                <a:spcPts val="2200"/>
              </a:lnSpc>
              <a:spcAft>
                <a:spcPts val="800"/>
              </a:spcAft>
              <a:buChar char="•"/>
              <a:defRPr sz="1700">
                <a:solidFill>
                  <a:srgbClr val="334155"/>
                </a:solidFill>
                <a:latin typeface="DejaVu Sans"/>
              </a:defRPr>
            </a:pPr>
            <a:r>
              <a:t>Containment and external alerts disabled</a:t>
            </a:r>
          </a:p>
        </p:txBody>
      </p:sp>
      <p:sp>
        <p:nvSpPr>
          <p:cNvPr id="14" name="TextBox 13"/>
          <p:cNvSpPr txBox="1"/>
          <p:nvPr/>
        </p:nvSpPr>
        <p:spPr>
          <a:xfrm>
            <a:off x="502920" y="6080760"/>
            <a:ext cx="11155680" cy="384048"/>
          </a:xfrm>
          <a:prstGeom prst="rect">
            <a:avLst/>
          </a:prstGeom>
          <a:noFill/>
        </p:spPr>
        <p:txBody>
          <a:bodyPr wrap="square" lIns="0" rIns="0" tIns="0" bIns="0">
            <a:noAutofit/>
          </a:bodyPr>
          <a:lstStyle/>
          <a:p>
            <a:pPr>
              <a:spcAft>
                <a:spcPts val="0"/>
              </a:spcAft>
              <a:defRPr sz="1100" b="0">
                <a:solidFill>
                  <a:srgbClr val="64748B"/>
                </a:solidFill>
                <a:latin typeface="DejaVu Sans"/>
              </a:defRPr>
            </a:pPr>
            <a:r>
              <a:t>Coverage depends on configured sources and targets; installed scanners do not imply active coverage.</a:t>
            </a:r>
          </a:p>
        </p:txBody>
      </p:sp>
      <p:sp>
        <p:nvSpPr>
          <p:cNvPr id="15" name="TextBox 14"/>
          <p:cNvSpPr txBox="1"/>
          <p:nvPr/>
        </p:nvSpPr>
        <p:spPr>
          <a:xfrm>
            <a:off x="502920" y="6519672"/>
            <a:ext cx="100584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CONFIDENTIAL • INTERNAL REVIEW  |  21 October 2026</a:t>
            </a:r>
          </a:p>
        </p:txBody>
      </p:sp>
      <p:sp>
        <p:nvSpPr>
          <p:cNvPr id="16" name="TextBox 15"/>
          <p:cNvSpPr txBox="1"/>
          <p:nvPr/>
        </p:nvSpPr>
        <p:spPr>
          <a:xfrm>
            <a:off x="11045952" y="6519672"/>
            <a:ext cx="685800" cy="182880"/>
          </a:xfrm>
          <a:prstGeom prst="rect">
            <a:avLst/>
          </a:prstGeom>
          <a:noFill/>
        </p:spPr>
        <p:txBody>
          <a:bodyPr wrap="square" lIns="0" rIns="0" tIns="0" bIns="0">
            <a:noAutofit/>
          </a:bodyPr>
          <a:lstStyle/>
          <a:p>
            <a:pPr>
              <a:spcAft>
                <a:spcPts val="0"/>
              </a:spcAft>
              <a:defRPr sz="900" b="0">
                <a:solidFill>
                  <a:srgbClr val="64748B"/>
                </a:solidFill>
                <a:latin typeface="DejaVu Sans"/>
              </a:defRPr>
            </a:pPr>
            <a:r>
              <a:t>20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Introducing VulnSuite — vulnerability assessment and server protection</dc:title>
  <dc:subject>Platform capabilities, security controls and deployment requirements</dc:subject>
  <dc:creator>VulnSuite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