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94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789920" y="274320"/>
            <a:ext cx="128016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>
                <a:solidFill>
                  <a:srgbClr val="CBD5E1"/>
                </a:solidFill>
                <a:latin typeface="Calibri"/>
              </a:rPr>
              <a:t>01 / COVER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828800" cy="10972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7200" b="0">
                <a:solidFill>
                  <a:srgbClr val="1E293B"/>
                </a:solidFill>
                <a:latin typeface="Calibri"/>
              </a:rPr>
              <a:t>🛡️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2331720"/>
            <a:ext cx="950976" cy="292608"/>
          </a:xfrm>
          <a:prstGeom prst="roundRect">
            <a:avLst>
              <a:gd name="adj" fmla="val 50000"/>
            </a:avLst>
          </a:prstGeom>
          <a:solidFill>
            <a:srgbClr val="FFF6EE"/>
          </a:solidFill>
          <a:ln w="9525">
            <a:solidFill>
              <a:srgbClr val="F38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18288" rIns="109728" bIns="18288" rtlCol="0" anchor="ctr"/>
          <a:lstStyle/>
          <a:p>
            <a:pPr algn="ctr"/>
            <a:r>
              <a:rPr sz="1000" b="1">
                <a:solidFill>
                  <a:srgbClr val="F38020"/>
                </a:solidFill>
                <a:latin typeface="Calibri"/>
              </a:rPr>
              <a:t>INTRODUCING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697480"/>
            <a:ext cx="10515600" cy="12801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6800" b="1">
                <a:solidFill>
                  <a:srgbClr val="0A2540"/>
                </a:solidFill>
                <a:latin typeface="Calibri"/>
              </a:rPr>
              <a:t>VulnSuite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4023360"/>
            <a:ext cx="10424160" cy="1554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600" b="0">
                <a:solidFill>
                  <a:srgbClr val="64748B"/>
                </a:solidFill>
                <a:latin typeface="Calibri"/>
              </a:rPr>
              <a:t>A BFSI-native, multi-tool, risk-prioritized cybersecurity vulnerability analysis platform spanning code, IaC, runtime, perimeter, API, supply chain, and multi-cloud — Azure + AWS + GCP. Built for Indian banking. Aligned to RBI CSF and CERT-In from the ground up.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6035040"/>
            <a:ext cx="1042416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CONFIDENTIAL — INTERNAL USE ONLY · Prepared for CISO Review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789920" y="274320"/>
            <a:ext cx="128016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>
                <a:solidFill>
                  <a:srgbClr val="CBD5E1"/>
                </a:solidFill>
                <a:latin typeface="Calibri"/>
              </a:rPr>
              <a:t>02 / WHAT IT ADDRESSES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1426464" cy="292608"/>
          </a:xfrm>
          <a:prstGeom prst="roundRect">
            <a:avLst>
              <a:gd name="adj" fmla="val 50000"/>
            </a:avLst>
          </a:prstGeom>
          <a:solidFill>
            <a:srgbClr val="FFF6EE"/>
          </a:solidFill>
          <a:ln w="9525">
            <a:solidFill>
              <a:srgbClr val="F38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18288" rIns="109728" bIns="18288" rtlCol="0" anchor="ctr"/>
          <a:lstStyle/>
          <a:p>
            <a:pPr algn="ctr"/>
            <a:r>
              <a:rPr sz="1000" b="1">
                <a:solidFill>
                  <a:srgbClr val="F38020"/>
                </a:solidFill>
                <a:latin typeface="Calibri"/>
              </a:rPr>
              <a:t>WHAT VULNSUITE ADDRESSES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3444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A2540"/>
                </a:solidFill>
                <a:latin typeface="Calibri"/>
              </a:rPr>
              <a:t>Four gaps in </a:t>
            </a:r>
            <a:r>
              <a:rPr sz="3200" b="1">
                <a:solidFill>
                  <a:srgbClr val="F38020"/>
                </a:solidFill>
                <a:latin typeface="Calibri"/>
              </a:rPr>
              <a:t>conventional vulnerability scanning.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9447" y="2788920"/>
            <a:ext cx="2606040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38047" y="2971800"/>
            <a:ext cx="2148840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>
                <a:solidFill>
                  <a:srgbClr val="F38020"/>
                </a:solidFill>
                <a:latin typeface="Calibri"/>
              </a:rPr>
              <a:t>Tools, no risk lens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047" y="3566160"/>
            <a:ext cx="2148840" cy="12801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Calibri"/>
              </a:rPr>
              <a:t>Scanners produce raw findings without business-risk prioritization. Severity ≠ exploitability ≠ blast radius.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98367" y="2788920"/>
            <a:ext cx="2606040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26967" y="2971800"/>
            <a:ext cx="2148840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>
                <a:solidFill>
                  <a:srgbClr val="F38020"/>
                </a:solidFill>
                <a:latin typeface="Calibri"/>
              </a:rPr>
              <a:t>Findings, no citations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26967" y="3566160"/>
            <a:ext cx="2148840" cy="12801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Calibri"/>
              </a:rPr>
              <a:t>Auditors expect RBI CSF / CERT-In / CIS / NIST traceability per finding. Most scanners stop at CVE IDs.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87287" y="2788920"/>
            <a:ext cx="2606040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15887" y="2971800"/>
            <a:ext cx="2148840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>
                <a:solidFill>
                  <a:srgbClr val="F38020"/>
                </a:solidFill>
                <a:latin typeface="Calibri"/>
              </a:rPr>
              <a:t>Cloud, no parity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5887" y="3566160"/>
            <a:ext cx="2148840" cy="12801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Calibri"/>
              </a:rPr>
              <a:t>Azure, AWS, and GCP each carry their own console, severity scale, and compliance pack. No unified view.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76207" y="2788920"/>
            <a:ext cx="2606040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204807" y="2971800"/>
            <a:ext cx="2148840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>
                <a:solidFill>
                  <a:srgbClr val="F38020"/>
                </a:solidFill>
                <a:latin typeface="Calibri"/>
              </a:rPr>
              <a:t>Code, no trust chain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04807" y="3566160"/>
            <a:ext cx="2148840" cy="12801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Calibri"/>
              </a:rPr>
              <a:t>No continuity from SBOM → signature → SLSA attestation → VEX. Supply-chain risk lives in slides, not pipelines.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349240"/>
            <a:ext cx="10515600" cy="12801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Calibri"/>
              </a:rPr>
              <a:t>VulnSuite addresses all four in a single platform, with passive-only enforcement and air-gap support as defaults — engineered for BFSI from the schema up.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789920" y="274320"/>
            <a:ext cx="128016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>
                <a:solidFill>
                  <a:srgbClr val="CBD5E1"/>
                </a:solidFill>
                <a:latin typeface="Calibri"/>
              </a:rPr>
              <a:t>03 / THE SOLUTION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987552" cy="292608"/>
          </a:xfrm>
          <a:prstGeom prst="roundRect">
            <a:avLst>
              <a:gd name="adj" fmla="val 50000"/>
            </a:avLst>
          </a:prstGeom>
          <a:solidFill>
            <a:srgbClr val="FFF6EE"/>
          </a:solidFill>
          <a:ln w="9525">
            <a:solidFill>
              <a:srgbClr val="F38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18288" rIns="109728" bIns="18288" rtlCol="0" anchor="ctr"/>
          <a:lstStyle/>
          <a:p>
            <a:pPr algn="ctr"/>
            <a:r>
              <a:rPr sz="1000" b="1">
                <a:solidFill>
                  <a:srgbClr val="F38020"/>
                </a:solidFill>
                <a:latin typeface="Calibri"/>
              </a:rPr>
              <a:t>THE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3444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A2540"/>
                </a:solidFill>
                <a:latin typeface="Calibri"/>
              </a:rPr>
              <a:t>One platform. </a:t>
            </a:r>
            <a:r>
              <a:rPr sz="3200" b="1">
                <a:solidFill>
                  <a:srgbClr val="F38020"/>
                </a:solidFill>
                <a:latin typeface="Calibri"/>
              </a:rPr>
              <a:t>One risk lens. One compliance story.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86587" y="3108960"/>
            <a:ext cx="352044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0907" y="3383280"/>
            <a:ext cx="29718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800" b="1">
                <a:solidFill>
                  <a:srgbClr val="F38020"/>
                </a:solidFill>
                <a:latin typeface="Calibri"/>
              </a:rPr>
              <a:t>🎯  Risk-Prioritized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0907" y="4023360"/>
            <a:ext cx="2971800" cy="12801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Calibri"/>
              </a:rPr>
              <a:t>CVSS × EPSS × criticality × exposure collapses raw scanner output into a focused P0–P4 queue.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35627" y="3108960"/>
            <a:ext cx="352044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09947" y="3383280"/>
            <a:ext cx="29718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800" b="1">
                <a:solidFill>
                  <a:srgbClr val="F38020"/>
                </a:solidFill>
                <a:latin typeface="Calibri"/>
              </a:rPr>
              <a:t>🏛️  Compliance-Native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09947" y="4023360"/>
            <a:ext cx="2971800" cy="12801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Calibri"/>
              </a:rPr>
              <a:t>RBI CSF, CERT-In, ISO 27001, CIS, NIST citations embedded in every finding.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84667" y="3108960"/>
            <a:ext cx="352044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58987" y="3383280"/>
            <a:ext cx="29718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800" b="1">
                <a:solidFill>
                  <a:srgbClr val="F38020"/>
                </a:solidFill>
                <a:latin typeface="Calibri"/>
              </a:rPr>
              <a:t>🔒  Passive &amp; Air-Gap Ready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58987" y="4023360"/>
            <a:ext cx="2971800" cy="12801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Calibri"/>
              </a:rPr>
              <a:t>No exploitation. Offline modes for every network dependency. BFSI audit-safe.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789920" y="274320"/>
            <a:ext cx="128016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>
                <a:solidFill>
                  <a:srgbClr val="CBD5E1"/>
                </a:solidFill>
                <a:latin typeface="Calibri"/>
              </a:rPr>
              <a:t>04 / RISK ENGINE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1097280" cy="292608"/>
          </a:xfrm>
          <a:prstGeom prst="roundRect">
            <a:avLst>
              <a:gd name="adj" fmla="val 50000"/>
            </a:avLst>
          </a:prstGeom>
          <a:solidFill>
            <a:srgbClr val="FFF6EE"/>
          </a:solidFill>
          <a:ln w="9525">
            <a:solidFill>
              <a:srgbClr val="F38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18288" rIns="109728" bIns="18288" rtlCol="0" anchor="ctr"/>
          <a:lstStyle/>
          <a:p>
            <a:pPr algn="ctr"/>
            <a:r>
              <a:rPr sz="1000" b="1">
                <a:solidFill>
                  <a:srgbClr val="F38020"/>
                </a:solidFill>
                <a:latin typeface="Calibri"/>
              </a:rPr>
              <a:t>THE RISK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3444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A2540"/>
                </a:solidFill>
                <a:latin typeface="Calibri"/>
              </a:rPr>
              <a:t>Math that </a:t>
            </a:r>
            <a:r>
              <a:rPr sz="3200" b="1">
                <a:solidFill>
                  <a:srgbClr val="F38020"/>
                </a:solidFill>
                <a:latin typeface="Calibri"/>
              </a:rPr>
              <a:t>matches business risk.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697480"/>
            <a:ext cx="1060704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F38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r>
              <a:rPr sz="2400" b="1">
                <a:solidFill>
                  <a:srgbClr val="C2410C"/>
                </a:solidFill>
                <a:latin typeface="Consolas"/>
              </a:rPr>
              <a:t>risk = CVSS × EPSS × (criticality / 5) × exposure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9447" y="3886200"/>
            <a:ext cx="2606040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92327" y="4050792"/>
            <a:ext cx="22402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>
                <a:solidFill>
                  <a:srgbClr val="1E40AF"/>
                </a:solidFill>
                <a:latin typeface="Calibri"/>
              </a:rPr>
              <a:t>CVSS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2327" y="4434840"/>
            <a:ext cx="224028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Calibri"/>
              </a:rPr>
              <a:t>0–10 · Technical severity from NVD/vendor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98367" y="3886200"/>
            <a:ext cx="2606040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581247" y="4050792"/>
            <a:ext cx="22402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>
                <a:solidFill>
                  <a:srgbClr val="1E40AF"/>
                </a:solidFill>
                <a:latin typeface="Calibri"/>
              </a:rPr>
              <a:t>EPSS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81247" y="4434840"/>
            <a:ext cx="224028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Calibri"/>
              </a:rPr>
              <a:t>0–1 · Exploit probability (FIRST.org, Redis-cached)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7287" y="3886200"/>
            <a:ext cx="2606040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70167" y="4050792"/>
            <a:ext cx="22402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>
                <a:solidFill>
                  <a:srgbClr val="1E40AF"/>
                </a:solidFill>
                <a:latin typeface="Calibri"/>
              </a:rPr>
              <a:t>Criticality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0167" y="4434840"/>
            <a:ext cx="224028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Calibri"/>
              </a:rPr>
              <a:t>1–5 · Business tier from asset tags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76207" y="3886200"/>
            <a:ext cx="2606040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59087" y="4050792"/>
            <a:ext cx="22402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>
                <a:solidFill>
                  <a:srgbClr val="1E40AF"/>
                </a:solidFill>
                <a:latin typeface="Calibri"/>
              </a:rPr>
              <a:t>Exposure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59087" y="4434840"/>
            <a:ext cx="224028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Calibri"/>
              </a:rPr>
              <a:t>Internet 1.0 · Internal 0.6 · Isolated 0.3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5167" y="5532120"/>
            <a:ext cx="2103120" cy="822960"/>
          </a:xfrm>
          <a:prstGeom prst="roundRect">
            <a:avLst>
              <a:gd name="adj" fmla="val 18000"/>
            </a:avLst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P0 ≥ 7.0</a:t>
            </a:r>
          </a:p>
          <a:p>
            <a:pPr algn="ctr"/>
            <a:r>
              <a:rPr sz="900">
                <a:solidFill>
                  <a:srgbClr val="FFFFFF"/>
                </a:solidFill>
                <a:latin typeface="Calibri"/>
              </a:rPr>
              <a:t>CERT-In clock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849727" y="5532120"/>
            <a:ext cx="2103120" cy="822960"/>
          </a:xfrm>
          <a:prstGeom prst="roundRect">
            <a:avLst>
              <a:gd name="adj" fmla="val 18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P1 ≥ 4.5</a:t>
            </a:r>
          </a:p>
          <a:p>
            <a:pPr algn="ctr"/>
            <a:r>
              <a:rPr sz="900">
                <a:solidFill>
                  <a:srgbClr val="FFFFFF"/>
                </a:solidFill>
                <a:latin typeface="Calibri"/>
              </a:rPr>
              <a:t>7-day SLA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44287" y="5532120"/>
            <a:ext cx="2103120" cy="822960"/>
          </a:xfrm>
          <a:prstGeom prst="roundRect">
            <a:avLst>
              <a:gd name="adj" fmla="val 18000"/>
            </a:avLst>
          </a:prstGeom>
          <a:solidFill>
            <a:srgbClr val="CA8A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P2 ≥ 2.0</a:t>
            </a:r>
          </a:p>
          <a:p>
            <a:pPr algn="ctr"/>
            <a:r>
              <a:rPr sz="900">
                <a:solidFill>
                  <a:srgbClr val="FFFFFF"/>
                </a:solidFill>
                <a:latin typeface="Calibri"/>
              </a:rPr>
              <a:t>30-day SLA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238847" y="5532120"/>
            <a:ext cx="2103120" cy="822960"/>
          </a:xfrm>
          <a:prstGeom prst="roundRect">
            <a:avLst>
              <a:gd name="adj" fmla="val 1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P3 ≥ 0.5</a:t>
            </a:r>
          </a:p>
          <a:p>
            <a:pPr algn="ctr"/>
            <a:r>
              <a:rPr sz="900">
                <a:solidFill>
                  <a:srgbClr val="FFFFFF"/>
                </a:solidFill>
                <a:latin typeface="Calibri"/>
              </a:rPr>
              <a:t>Backlog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433407" y="5532120"/>
            <a:ext cx="2103120" cy="822960"/>
          </a:xfrm>
          <a:prstGeom prst="roundRect">
            <a:avLst>
              <a:gd name="adj" fmla="val 18000"/>
            </a:avLst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P4 &lt; 0.5</a:t>
            </a:r>
          </a:p>
          <a:p>
            <a:pPr algn="ctr"/>
            <a:r>
              <a:rPr sz="900">
                <a:solidFill>
                  <a:srgbClr val="FFFFFF"/>
                </a:solidFill>
                <a:latin typeface="Calibri"/>
              </a:rPr>
              <a:t>Info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789920" y="274320"/>
            <a:ext cx="128016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>
                <a:solidFill>
                  <a:srgbClr val="CBD5E1"/>
                </a:solidFill>
                <a:latin typeface="Calibri"/>
              </a:rPr>
              <a:t>05 / SCANNER COVERAGE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1828800" cy="292608"/>
          </a:xfrm>
          <a:prstGeom prst="roundRect">
            <a:avLst>
              <a:gd name="adj" fmla="val 50000"/>
            </a:avLst>
          </a:prstGeom>
          <a:solidFill>
            <a:srgbClr val="FFF6EE"/>
          </a:solidFill>
          <a:ln w="9525">
            <a:solidFill>
              <a:srgbClr val="F38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18288" rIns="109728" bIns="18288" rtlCol="0" anchor="ctr"/>
          <a:lstStyle/>
          <a:p>
            <a:pPr algn="ctr"/>
            <a:r>
              <a:rPr sz="1000" b="1">
                <a:solidFill>
                  <a:srgbClr val="F38020"/>
                </a:solidFill>
                <a:latin typeface="Calibri"/>
              </a:rPr>
              <a:t>12 MODULES · 1 SCHEMA · 1 RISK LENS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3444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A2540"/>
                </a:solidFill>
                <a:latin typeface="Calibri"/>
              </a:rPr>
              <a:t>Belt-and-braces </a:t>
            </a:r>
            <a:r>
              <a:rPr sz="3200" b="1">
                <a:solidFill>
                  <a:srgbClr val="F38020"/>
                </a:solidFill>
                <a:latin typeface="Calibri"/>
              </a:rPr>
              <a:t>by design.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606040"/>
            <a:ext cx="1828800" cy="32918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1">
                <a:solidFill>
                  <a:srgbClr val="F38020"/>
                </a:solidFill>
                <a:latin typeface="Calibri"/>
              </a:rPr>
              <a:t>MODULE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06040" y="2606040"/>
            <a:ext cx="4023360" cy="32918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1">
                <a:solidFill>
                  <a:srgbClr val="F38020"/>
                </a:solidFill>
                <a:latin typeface="Calibri"/>
              </a:rPr>
              <a:t>TOOLS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9400" y="2606040"/>
            <a:ext cx="5029200" cy="32918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1">
                <a:solidFill>
                  <a:srgbClr val="F38020"/>
                </a:solidFill>
                <a:latin typeface="Calibri"/>
              </a:rPr>
              <a:t>WHAT IT CATCHES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898648"/>
            <a:ext cx="10881360" cy="18288"/>
          </a:xfrm>
          <a:prstGeom prst="rect">
            <a:avLst/>
          </a:prstGeom>
          <a:solidFill>
            <a:srgbClr val="F38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2990088"/>
            <a:ext cx="1828800" cy="32918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50" b="1">
                <a:solidFill>
                  <a:srgbClr val="0A2540"/>
                </a:solidFill>
                <a:latin typeface="Calibri"/>
              </a:rPr>
              <a:t>SCA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06040" y="2990088"/>
            <a:ext cx="4023360" cy="32918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Trivy · pip-audit · OSV-Scanner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2990088"/>
            <a:ext cx="5029200" cy="32918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Triple-corroborated CVEs (NVD/PyPA/OSV.dev)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319272"/>
            <a:ext cx="1828800" cy="32918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50" b="1">
                <a:solidFill>
                  <a:srgbClr val="0A2540"/>
                </a:solidFill>
                <a:latin typeface="Calibri"/>
              </a:rPr>
              <a:t>Secrets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06040" y="3319272"/>
            <a:ext cx="4023360" cy="32918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gitleaks · TruffleHog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3319272"/>
            <a:ext cx="5029200" cy="32918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Hardcoded creds with live cloud 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648456"/>
            <a:ext cx="1828800" cy="32918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50" b="1">
                <a:solidFill>
                  <a:srgbClr val="0A2540"/>
                </a:solidFill>
                <a:latin typeface="Calibri"/>
              </a:rPr>
              <a:t>SAST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06040" y="3648456"/>
            <a:ext cx="4023360" cy="32918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Semgrep · Bandit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3648456"/>
            <a:ext cx="5029200" cy="32918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OWASP Top 10 + Python crypto pitfalls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3977640"/>
            <a:ext cx="1828800" cy="32918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50" b="1">
                <a:solidFill>
                  <a:srgbClr val="0A2540"/>
                </a:solidFill>
                <a:latin typeface="Calibri"/>
              </a:rPr>
              <a:t>Network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06040" y="3977640"/>
            <a:ext cx="4023360" cy="32918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nmap (passive) · testssl.sh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3977640"/>
            <a:ext cx="5029200" cy="32918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Services + TLS hygiene with RBI Annex-I citations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4306824"/>
            <a:ext cx="1828800" cy="32918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50" b="1">
                <a:solidFill>
                  <a:srgbClr val="0A2540"/>
                </a:solidFill>
                <a:latin typeface="Calibri"/>
              </a:rPr>
              <a:t>Cloud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06040" y="4306824"/>
            <a:ext cx="4023360" cy="32918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Prowler Azure · AWS · GCP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9400" y="4306824"/>
            <a:ext cx="5029200" cy="32918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CIS + ISO + NIST across all hyperscalers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4636008"/>
            <a:ext cx="1828800" cy="32918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50" b="1">
                <a:solidFill>
                  <a:srgbClr val="0A2540"/>
                </a:solidFill>
                <a:latin typeface="Calibri"/>
              </a:rPr>
              <a:t>Container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06040" y="4636008"/>
            <a:ext cx="4023360" cy="32918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Trivy image · Dockle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29400" y="4636008"/>
            <a:ext cx="5029200" cy="32918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Image CVEs + CIS Docker hardening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4965192"/>
            <a:ext cx="1828800" cy="32918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50" b="1">
                <a:solidFill>
                  <a:srgbClr val="0A2540"/>
                </a:solidFill>
                <a:latin typeface="Calibri"/>
              </a:rPr>
              <a:t>IaC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06040" y="4965192"/>
            <a:ext cx="4023360" cy="32918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Checkov · Trivy config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29400" y="4965192"/>
            <a:ext cx="5029200" cy="32918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Terraform · Bicep · Helm · K8s · OpenAPI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5294376"/>
            <a:ext cx="1828800" cy="32918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50" b="1">
                <a:solidFill>
                  <a:srgbClr val="0A2540"/>
                </a:solidFill>
                <a:latin typeface="Calibri"/>
              </a:rPr>
              <a:t>Kubernetes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606040" y="5294376"/>
            <a:ext cx="4023360" cy="32918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Kubescape · kubectl + Trivy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29400" y="5294376"/>
            <a:ext cx="5029200" cy="32918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NSA + CIS posture and every running image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" y="5623560"/>
            <a:ext cx="1828800" cy="32918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50" b="1">
                <a:solidFill>
                  <a:srgbClr val="0A2540"/>
                </a:solidFill>
                <a:latin typeface="Calibri"/>
              </a:rPr>
              <a:t>ASM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06040" y="5623560"/>
            <a:ext cx="4023360" cy="32918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Subfinder · httpx · TestSSL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29400" y="5623560"/>
            <a:ext cx="5029200" cy="32918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Passive subdomain + service + TLS exposure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" y="5952744"/>
            <a:ext cx="1828800" cy="32918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50" b="1">
                <a:solidFill>
                  <a:srgbClr val="0A2540"/>
                </a:solidFill>
                <a:latin typeface="Calibri"/>
              </a:rPr>
              <a:t>API Security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06040" y="5952744"/>
            <a:ext cx="4023360" cy="32918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Nuclei · OWASP ZAP (gated)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29400" y="5952744"/>
            <a:ext cx="5029200" cy="32918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OpenAPI-driven DAST, triple-gated allowlist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7240" y="6281928"/>
            <a:ext cx="1828800" cy="32918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50" b="1">
                <a:solidFill>
                  <a:srgbClr val="0A2540"/>
                </a:solidFill>
                <a:latin typeface="Calibri"/>
              </a:rPr>
              <a:t>Supply Chain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606040" y="6281928"/>
            <a:ext cx="4023360" cy="32918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Syft · Cosign · VEX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29400" y="6281928"/>
            <a:ext cx="5029200" cy="32918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SBOM + signed + SLSA-attested + VEX-suppressed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" y="6611112"/>
            <a:ext cx="1828800" cy="32918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50" b="1">
                <a:solidFill>
                  <a:srgbClr val="0A2540"/>
                </a:solidFill>
                <a:latin typeface="Calibri"/>
              </a:rPr>
              <a:t>Discovery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606040" y="6611112"/>
            <a:ext cx="4023360" cy="32918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Azure RG · AWS CLI · gcloud · Subfinder · kubectl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629400" y="6611112"/>
            <a:ext cx="5029200" cy="32918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Auto-inventory across cloud, perimeter, and clusters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789920" y="274320"/>
            <a:ext cx="128016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>
                <a:solidFill>
                  <a:srgbClr val="CBD5E1"/>
                </a:solidFill>
                <a:latin typeface="Calibri"/>
              </a:rPr>
              <a:t>06 / SCA MODULE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1097280" cy="292608"/>
          </a:xfrm>
          <a:prstGeom prst="roundRect">
            <a:avLst>
              <a:gd name="adj" fmla="val 50000"/>
            </a:avLst>
          </a:prstGeom>
          <a:solidFill>
            <a:srgbClr val="FFF6EE"/>
          </a:solidFill>
          <a:ln w="9525">
            <a:solidFill>
              <a:srgbClr val="F38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18288" rIns="109728" bIns="18288" rtlCol="0" anchor="ctr"/>
          <a:lstStyle/>
          <a:p>
            <a:pPr algn="ctr"/>
            <a:r>
              <a:rPr sz="1000" b="1">
                <a:solidFill>
                  <a:srgbClr val="F38020"/>
                </a:solidFill>
                <a:latin typeface="Calibri"/>
              </a:rPr>
              <a:t>MODULE 01 — SCA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34440"/>
            <a:ext cx="10515600" cy="8229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3200" b="1">
                <a:solidFill>
                  <a:srgbClr val="0A2540"/>
                </a:solidFill>
                <a:latin typeface="Calibri"/>
              </a:rPr>
              <a:t>Software Composition Analysis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86587" y="2377440"/>
            <a:ext cx="3520440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15187" y="2542032"/>
            <a:ext cx="306324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500" b="1">
                <a:solidFill>
                  <a:srgbClr val="F38020"/>
                </a:solidFill>
                <a:latin typeface="Calibri"/>
              </a:rPr>
              <a:t>Trivy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5187" y="2971800"/>
            <a:ext cx="3063240" cy="24688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>
                <a:solidFill>
                  <a:srgbClr val="F38020"/>
                </a:solidFill>
                <a:latin typeface="Calibri"/>
              </a:rPr>
              <a:t>▸  </a:t>
            </a:r>
            <a:r>
              <a:rPr sz="1050">
                <a:solidFill>
                  <a:srgbClr val="334155"/>
                </a:solidFill>
                <a:latin typeface="Calibri"/>
              </a:rPr>
              <a:t>Broad multi-ecosystem</a:t>
            </a:r>
          </a:p>
          <a:p>
            <a:pPr algn="l">
              <a:lnSpc>
                <a:spcPct val="120000"/>
              </a:lnSpc>
            </a:pPr>
            <a:r>
              <a:rPr sz="1050" b="1">
                <a:solidFill>
                  <a:srgbClr val="F38020"/>
                </a:solidFill>
                <a:latin typeface="Calibri"/>
              </a:rPr>
              <a:t>▸  </a:t>
            </a:r>
            <a:r>
              <a:rPr sz="1050">
                <a:solidFill>
                  <a:srgbClr val="334155"/>
                </a:solidFill>
                <a:latin typeface="Calibri"/>
              </a:rPr>
              <a:t>NVD-first CVSS</a:t>
            </a:r>
          </a:p>
          <a:p>
            <a:pPr algn="l">
              <a:lnSpc>
                <a:spcPct val="120000"/>
              </a:lnSpc>
            </a:pPr>
            <a:r>
              <a:rPr sz="1050" b="1">
                <a:solidFill>
                  <a:srgbClr val="F38020"/>
                </a:solidFill>
                <a:latin typeface="Calibri"/>
              </a:rPr>
              <a:t>▸  </a:t>
            </a:r>
            <a:r>
              <a:rPr sz="1050">
                <a:solidFill>
                  <a:srgbClr val="334155"/>
                </a:solidFill>
                <a:latin typeface="Calibri"/>
              </a:rPr>
              <a:t>Container + filesystem</a:t>
            </a:r>
          </a:p>
          <a:p>
            <a:pPr algn="l">
              <a:lnSpc>
                <a:spcPct val="120000"/>
              </a:lnSpc>
            </a:pPr>
            <a:r>
              <a:rPr sz="1050" b="1">
                <a:solidFill>
                  <a:srgbClr val="F38020"/>
                </a:solidFill>
                <a:latin typeface="Calibri"/>
              </a:rPr>
              <a:t>▸  </a:t>
            </a:r>
            <a:r>
              <a:rPr sz="1050">
                <a:solidFill>
                  <a:srgbClr val="334155"/>
                </a:solidFill>
                <a:latin typeface="Calibri"/>
              </a:rPr>
              <a:t>Offline DB support</a:t>
            </a:r>
          </a:p>
          <a:p>
            <a:pPr algn="l">
              <a:lnSpc>
                <a:spcPct val="120000"/>
              </a:lnSpc>
            </a:pPr>
            <a:r>
              <a:rPr sz="1050" b="1">
                <a:solidFill>
                  <a:srgbClr val="F38020"/>
                </a:solidFill>
                <a:latin typeface="Calibri"/>
              </a:rPr>
              <a:t>▸  </a:t>
            </a:r>
            <a:r>
              <a:rPr sz="1050">
                <a:solidFill>
                  <a:srgbClr val="334155"/>
                </a:solidFill>
                <a:latin typeface="Calibri"/>
              </a:rPr>
              <a:t>15-min hard timeout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35627" y="2377440"/>
            <a:ext cx="3520440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64227" y="2542032"/>
            <a:ext cx="306324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500" b="1">
                <a:solidFill>
                  <a:srgbClr val="F38020"/>
                </a:solidFill>
                <a:latin typeface="Calibri"/>
              </a:rPr>
              <a:t>pip-audit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64227" y="2971800"/>
            <a:ext cx="3063240" cy="24688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>
                <a:solidFill>
                  <a:srgbClr val="F38020"/>
                </a:solidFill>
                <a:latin typeface="Calibri"/>
              </a:rPr>
              <a:t>▸  </a:t>
            </a:r>
            <a:r>
              <a:rPr sz="1050">
                <a:solidFill>
                  <a:srgbClr val="334155"/>
                </a:solidFill>
                <a:latin typeface="Calibri"/>
              </a:rPr>
              <a:t>PyPA Advisory DB</a:t>
            </a:r>
          </a:p>
          <a:p>
            <a:pPr algn="l">
              <a:lnSpc>
                <a:spcPct val="120000"/>
              </a:lnSpc>
            </a:pPr>
            <a:r>
              <a:rPr sz="1050" b="1">
                <a:solidFill>
                  <a:srgbClr val="F38020"/>
                </a:solidFill>
                <a:latin typeface="Calibri"/>
              </a:rPr>
              <a:t>▸  </a:t>
            </a:r>
            <a:r>
              <a:rPr sz="1050">
                <a:solidFill>
                  <a:srgbClr val="334155"/>
                </a:solidFill>
                <a:latin typeface="Calibri"/>
              </a:rPr>
              <a:t>requirements.txt / pyproject / venv</a:t>
            </a:r>
          </a:p>
          <a:p>
            <a:pPr algn="l">
              <a:lnSpc>
                <a:spcPct val="120000"/>
              </a:lnSpc>
            </a:pPr>
            <a:r>
              <a:rPr sz="1050" b="1">
                <a:solidFill>
                  <a:srgbClr val="F38020"/>
                </a:solidFill>
                <a:latin typeface="Calibri"/>
              </a:rPr>
              <a:t>▸  </a:t>
            </a:r>
            <a:r>
              <a:rPr sz="1050">
                <a:solidFill>
                  <a:srgbClr val="334155"/>
                </a:solidFill>
                <a:latin typeface="Calibri"/>
              </a:rPr>
              <a:t>Unpatched CVEs → HIGH</a:t>
            </a:r>
          </a:p>
          <a:p>
            <a:pPr algn="l">
              <a:lnSpc>
                <a:spcPct val="120000"/>
              </a:lnSpc>
            </a:pPr>
            <a:r>
              <a:rPr sz="1050" b="1">
                <a:solidFill>
                  <a:srgbClr val="F38020"/>
                </a:solidFill>
                <a:latin typeface="Calibri"/>
              </a:rPr>
              <a:t>▸  </a:t>
            </a:r>
            <a:r>
              <a:rPr sz="1050">
                <a:solidFill>
                  <a:srgbClr val="334155"/>
                </a:solidFill>
                <a:latin typeface="Calibri"/>
              </a:rPr>
              <a:t>Offline cache mode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84667" y="2377440"/>
            <a:ext cx="3520440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13267" y="2542032"/>
            <a:ext cx="306324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500" b="1">
                <a:solidFill>
                  <a:srgbClr val="F38020"/>
                </a:solidFill>
                <a:latin typeface="Calibri"/>
              </a:rPr>
              <a:t>OSV-Scanner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13267" y="2971800"/>
            <a:ext cx="3063240" cy="24688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>
                <a:solidFill>
                  <a:srgbClr val="F38020"/>
                </a:solidFill>
                <a:latin typeface="Calibri"/>
              </a:rPr>
              <a:t>▸  </a:t>
            </a:r>
            <a:r>
              <a:rPr sz="1050">
                <a:solidFill>
                  <a:srgbClr val="334155"/>
                </a:solidFill>
                <a:latin typeface="Calibri"/>
              </a:rPr>
              <a:t>Google OSV.dev</a:t>
            </a:r>
          </a:p>
          <a:p>
            <a:pPr algn="l">
              <a:lnSpc>
                <a:spcPct val="120000"/>
              </a:lnSpc>
            </a:pPr>
            <a:r>
              <a:rPr sz="1050" b="1">
                <a:solidFill>
                  <a:srgbClr val="F38020"/>
                </a:solidFill>
                <a:latin typeface="Calibri"/>
              </a:rPr>
              <a:t>▸  </a:t>
            </a:r>
            <a:r>
              <a:rPr sz="1050">
                <a:solidFill>
                  <a:srgbClr val="334155"/>
                </a:solidFill>
                <a:latin typeface="Calibri"/>
              </a:rPr>
              <a:t>npm · Maven · crates · Go</a:t>
            </a:r>
          </a:p>
          <a:p>
            <a:pPr algn="l">
              <a:lnSpc>
                <a:spcPct val="120000"/>
              </a:lnSpc>
            </a:pPr>
            <a:r>
              <a:rPr sz="1050" b="1">
                <a:solidFill>
                  <a:srgbClr val="F38020"/>
                </a:solidFill>
                <a:latin typeface="Calibri"/>
              </a:rPr>
              <a:t>▸  </a:t>
            </a:r>
            <a:r>
              <a:rPr sz="1050">
                <a:solidFill>
                  <a:srgbClr val="334155"/>
                </a:solidFill>
                <a:latin typeface="Calibri"/>
              </a:rPr>
              <a:t>Often fresher than NVD</a:t>
            </a:r>
          </a:p>
          <a:p>
            <a:pPr algn="l">
              <a:lnSpc>
                <a:spcPct val="120000"/>
              </a:lnSpc>
            </a:pPr>
            <a:r>
              <a:rPr sz="1050" b="1">
                <a:solidFill>
                  <a:srgbClr val="F38020"/>
                </a:solidFill>
                <a:latin typeface="Calibri"/>
              </a:rPr>
              <a:t>▸  </a:t>
            </a:r>
            <a:r>
              <a:rPr sz="1050">
                <a:solidFill>
                  <a:srgbClr val="334155"/>
                </a:solidFill>
                <a:latin typeface="Calibri"/>
              </a:rPr>
              <a:t>Walks nested fix events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760720"/>
            <a:ext cx="10515600" cy="9144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Dedup keyed on (asset, cve, pkg, version). Cross-tool corroboration trail stored in every finding for audit defensibility.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789920" y="274320"/>
            <a:ext cx="128016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>
                <a:solidFill>
                  <a:srgbClr val="CBD5E1"/>
                </a:solidFill>
                <a:latin typeface="Calibri"/>
              </a:rPr>
              <a:t>07 / SECRETS + SAST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1719072" cy="292608"/>
          </a:xfrm>
          <a:prstGeom prst="roundRect">
            <a:avLst>
              <a:gd name="adj" fmla="val 50000"/>
            </a:avLst>
          </a:prstGeom>
          <a:solidFill>
            <a:srgbClr val="FFF6EE"/>
          </a:solidFill>
          <a:ln w="9525">
            <a:solidFill>
              <a:srgbClr val="F38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18288" rIns="109728" bIns="18288" rtlCol="0" anchor="ctr"/>
          <a:lstStyle/>
          <a:p>
            <a:pPr algn="ctr"/>
            <a:r>
              <a:rPr sz="1000" b="1">
                <a:solidFill>
                  <a:srgbClr val="F38020"/>
                </a:solidFill>
                <a:latin typeface="Calibri"/>
              </a:rPr>
              <a:t>MODULES 02 &amp; 03 — SECRETS &amp; SAST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34440"/>
            <a:ext cx="10515600" cy="8229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3200" b="1">
                <a:solidFill>
                  <a:srgbClr val="0A2540"/>
                </a:solidFill>
                <a:latin typeface="Calibri"/>
              </a:rPr>
              <a:t>Credentials &amp; code quality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240280"/>
            <a:ext cx="5394960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2404872"/>
            <a:ext cx="493776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500" b="1">
                <a:solidFill>
                  <a:srgbClr val="F38020"/>
                </a:solidFill>
                <a:latin typeface="Calibri"/>
              </a:rPr>
              <a:t>🔑  gitleaks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834640"/>
            <a:ext cx="4937760" cy="15544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>
                <a:solidFill>
                  <a:srgbClr val="F38020"/>
                </a:solidFill>
                <a:latin typeface="Calibri"/>
              </a:rPr>
              <a:t>▸  </a:t>
            </a:r>
            <a:r>
              <a:rPr sz="1050">
                <a:solidFill>
                  <a:srgbClr val="334155"/>
                </a:solidFill>
                <a:latin typeface="Calibri"/>
              </a:rPr>
              <a:t>Regex-based, redact by default</a:t>
            </a:r>
          </a:p>
          <a:p>
            <a:pPr algn="l">
              <a:lnSpc>
                <a:spcPct val="120000"/>
              </a:lnSpc>
            </a:pPr>
            <a:r>
              <a:rPr sz="1050" b="1">
                <a:solidFill>
                  <a:srgbClr val="F38020"/>
                </a:solidFill>
                <a:latin typeface="Calibri"/>
              </a:rPr>
              <a:t>▸  </a:t>
            </a:r>
            <a:r>
              <a:rPr sz="1050">
                <a:solidFill>
                  <a:srgbClr val="334155"/>
                </a:solidFill>
                <a:latin typeface="Calibri"/>
              </a:rPr>
              <a:t>Commit + author captured for blame</a:t>
            </a:r>
          </a:p>
          <a:p>
            <a:pPr algn="l">
              <a:lnSpc>
                <a:spcPct val="120000"/>
              </a:lnSpc>
            </a:pPr>
            <a:r>
              <a:rPr sz="1050" b="1">
                <a:solidFill>
                  <a:srgbClr val="F38020"/>
                </a:solidFill>
                <a:latin typeface="Calibri"/>
              </a:rPr>
              <a:t>▸  </a:t>
            </a:r>
            <a:r>
              <a:rPr sz="1050">
                <a:solidFill>
                  <a:srgbClr val="334155"/>
                </a:solidFill>
                <a:latin typeface="Calibri"/>
              </a:rPr>
              <a:t>Severity floor: HIGH</a:t>
            </a:r>
          </a:p>
          <a:p>
            <a:pPr algn="l">
              <a:lnSpc>
                <a:spcPct val="120000"/>
              </a:lnSpc>
            </a:pPr>
            <a:r>
              <a:rPr sz="1050" b="1">
                <a:solidFill>
                  <a:srgbClr val="F38020"/>
                </a:solidFill>
                <a:latin typeface="Calibri"/>
              </a:rPr>
              <a:t>▸  </a:t>
            </a:r>
            <a:r>
              <a:rPr sz="1050">
                <a:solidFill>
                  <a:srgbClr val="334155"/>
                </a:solidFill>
                <a:latin typeface="Calibri"/>
              </a:rPr>
              <a:t>CWE-798 mapped</a:t>
            </a:r>
          </a:p>
          <a:p>
            <a:pPr algn="l">
              <a:lnSpc>
                <a:spcPct val="120000"/>
              </a:lnSpc>
            </a:pPr>
            <a:r>
              <a:rPr sz="1050" b="1">
                <a:solidFill>
                  <a:srgbClr val="F38020"/>
                </a:solidFill>
                <a:latin typeface="Calibri"/>
              </a:rPr>
              <a:t>▸  </a:t>
            </a:r>
            <a:r>
              <a:rPr sz="1050">
                <a:solidFill>
                  <a:srgbClr val="334155"/>
                </a:solidFill>
                <a:latin typeface="Calibri"/>
              </a:rPr>
              <a:t>Cloud keys auto → CRITICAL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2240280"/>
            <a:ext cx="5394960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629400" y="2404872"/>
            <a:ext cx="493776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500" b="1">
                <a:solidFill>
                  <a:srgbClr val="F38020"/>
                </a:solidFill>
                <a:latin typeface="Calibri"/>
              </a:rPr>
              <a:t>🔑  TruffleHog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2834640"/>
            <a:ext cx="4937760" cy="15544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>
                <a:solidFill>
                  <a:srgbClr val="F38020"/>
                </a:solidFill>
                <a:latin typeface="Calibri"/>
              </a:rPr>
              <a:t>▸  </a:t>
            </a:r>
            <a:r>
              <a:rPr sz="1050">
                <a:solidFill>
                  <a:srgbClr val="334155"/>
                </a:solidFill>
                <a:latin typeface="Calibri"/>
              </a:rPr>
              <a:t>LIVE credential verification</a:t>
            </a:r>
          </a:p>
          <a:p>
            <a:pPr algn="l">
              <a:lnSpc>
                <a:spcPct val="120000"/>
              </a:lnSpc>
            </a:pPr>
            <a:r>
              <a:rPr sz="1050" b="1">
                <a:solidFill>
                  <a:srgbClr val="F38020"/>
                </a:solidFill>
                <a:latin typeface="Calibri"/>
              </a:rPr>
              <a:t>▸  </a:t>
            </a:r>
            <a:r>
              <a:rPr sz="1050">
                <a:solidFill>
                  <a:srgbClr val="334155"/>
                </a:solidFill>
                <a:latin typeface="Calibri"/>
              </a:rPr>
              <a:t>Verified hits → CRITICAL</a:t>
            </a:r>
          </a:p>
          <a:p>
            <a:pPr algn="l">
              <a:lnSpc>
                <a:spcPct val="120000"/>
              </a:lnSpc>
            </a:pPr>
            <a:r>
              <a:rPr sz="1050" b="1">
                <a:solidFill>
                  <a:srgbClr val="F38020"/>
                </a:solidFill>
                <a:latin typeface="Calibri"/>
              </a:rPr>
              <a:t>▸  </a:t>
            </a:r>
            <a:r>
              <a:rPr sz="1050">
                <a:solidFill>
                  <a:srgbClr val="334155"/>
                </a:solidFill>
                <a:latin typeface="Calibri"/>
              </a:rPr>
              <a:t>CERT-In language in remediation</a:t>
            </a:r>
          </a:p>
          <a:p>
            <a:pPr algn="l">
              <a:lnSpc>
                <a:spcPct val="120000"/>
              </a:lnSpc>
            </a:pPr>
            <a:r>
              <a:rPr sz="1050" b="1">
                <a:solidFill>
                  <a:srgbClr val="F38020"/>
                </a:solidFill>
                <a:latin typeface="Calibri"/>
              </a:rPr>
              <a:t>▸  </a:t>
            </a:r>
            <a:r>
              <a:rPr sz="1050">
                <a:solidFill>
                  <a:srgbClr val="334155"/>
                </a:solidFill>
                <a:latin typeface="Calibri"/>
              </a:rPr>
              <a:t>Raw values NEVER persisted</a:t>
            </a:r>
          </a:p>
          <a:p>
            <a:pPr algn="l">
              <a:lnSpc>
                <a:spcPct val="120000"/>
              </a:lnSpc>
            </a:pPr>
            <a:r>
              <a:rPr sz="1050" b="1">
                <a:solidFill>
                  <a:srgbClr val="F38020"/>
                </a:solidFill>
                <a:latin typeface="Calibri"/>
              </a:rPr>
              <a:t>▸  </a:t>
            </a:r>
            <a:r>
              <a:rPr sz="1050">
                <a:solidFill>
                  <a:srgbClr val="334155"/>
                </a:solidFill>
                <a:latin typeface="Calibri"/>
              </a:rPr>
              <a:t>Opt-in egress control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4663440"/>
            <a:ext cx="5394960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05840" y="4828032"/>
            <a:ext cx="493776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500" b="1">
                <a:solidFill>
                  <a:srgbClr val="F38020"/>
                </a:solidFill>
                <a:latin typeface="Calibri"/>
              </a:rPr>
              <a:t>🧪  Semgrep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257800"/>
            <a:ext cx="4937760" cy="15544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>
                <a:solidFill>
                  <a:srgbClr val="F38020"/>
                </a:solidFill>
                <a:latin typeface="Calibri"/>
              </a:rPr>
              <a:t>▸  </a:t>
            </a:r>
            <a:r>
              <a:rPr sz="1050">
                <a:solidFill>
                  <a:srgbClr val="334155"/>
                </a:solidFill>
                <a:latin typeface="Calibri"/>
              </a:rPr>
              <a:t>Multi-language SAST</a:t>
            </a:r>
          </a:p>
          <a:p>
            <a:pPr algn="l">
              <a:lnSpc>
                <a:spcPct val="120000"/>
              </a:lnSpc>
            </a:pPr>
            <a:r>
              <a:rPr sz="1050" b="1">
                <a:solidFill>
                  <a:srgbClr val="F38020"/>
                </a:solidFill>
                <a:latin typeface="Calibri"/>
              </a:rPr>
              <a:t>▸  </a:t>
            </a:r>
            <a:r>
              <a:rPr sz="1050">
                <a:solidFill>
                  <a:srgbClr val="334155"/>
                </a:solidFill>
                <a:latin typeface="Calibri"/>
              </a:rPr>
              <a:t>default + security-audit + OWASP + secrets packs</a:t>
            </a:r>
          </a:p>
          <a:p>
            <a:pPr algn="l">
              <a:lnSpc>
                <a:spcPct val="120000"/>
              </a:lnSpc>
            </a:pPr>
            <a:r>
              <a:rPr sz="1050" b="1">
                <a:solidFill>
                  <a:srgbClr val="F38020"/>
                </a:solidFill>
                <a:latin typeface="Calibri"/>
              </a:rPr>
              <a:t>▸  </a:t>
            </a:r>
            <a:r>
              <a:rPr sz="1050">
                <a:solidFill>
                  <a:srgbClr val="334155"/>
                </a:solidFill>
                <a:latin typeface="Calibri"/>
              </a:rPr>
              <a:t>--metrics off (BFSI mandate)</a:t>
            </a:r>
          </a:p>
          <a:p>
            <a:pPr algn="l">
              <a:lnSpc>
                <a:spcPct val="120000"/>
              </a:lnSpc>
            </a:pPr>
            <a:r>
              <a:rPr sz="1050" b="1">
                <a:solidFill>
                  <a:srgbClr val="F38020"/>
                </a:solidFill>
                <a:latin typeface="Calibri"/>
              </a:rPr>
              <a:t>▸  </a:t>
            </a:r>
            <a:r>
              <a:rPr sz="1050">
                <a:solidFill>
                  <a:srgbClr val="334155"/>
                </a:solidFill>
                <a:latin typeface="Calibri"/>
              </a:rPr>
              <a:t>HIGH+HIGH impact/confidence → CRITICAL</a:t>
            </a:r>
          </a:p>
          <a:p>
            <a:pPr algn="l">
              <a:lnSpc>
                <a:spcPct val="120000"/>
              </a:lnSpc>
            </a:pPr>
            <a:r>
              <a:rPr sz="1050" b="1">
                <a:solidFill>
                  <a:srgbClr val="F38020"/>
                </a:solidFill>
                <a:latin typeface="Calibri"/>
              </a:rPr>
              <a:t>▸  </a:t>
            </a:r>
            <a:r>
              <a:rPr sz="1050">
                <a:solidFill>
                  <a:srgbClr val="334155"/>
                </a:solidFill>
                <a:latin typeface="Calibri"/>
              </a:rPr>
              <a:t>Offline rules dir for air-gap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4663440"/>
            <a:ext cx="5394960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629400" y="4828032"/>
            <a:ext cx="493776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500" b="1">
                <a:solidFill>
                  <a:srgbClr val="F38020"/>
                </a:solidFill>
                <a:latin typeface="Calibri"/>
              </a:rPr>
              <a:t>🧪  Bandit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5257800"/>
            <a:ext cx="4937760" cy="15544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>
                <a:solidFill>
                  <a:srgbClr val="F38020"/>
                </a:solidFill>
                <a:latin typeface="Calibri"/>
              </a:rPr>
              <a:t>▸  </a:t>
            </a:r>
            <a:r>
              <a:rPr sz="1050">
                <a:solidFill>
                  <a:srgbClr val="334155"/>
                </a:solidFill>
                <a:latin typeface="Calibri"/>
              </a:rPr>
              <a:t>Python AST-driven linter</a:t>
            </a:r>
          </a:p>
          <a:p>
            <a:pPr algn="l">
              <a:lnSpc>
                <a:spcPct val="120000"/>
              </a:lnSpc>
            </a:pPr>
            <a:r>
              <a:rPr sz="1050" b="1">
                <a:solidFill>
                  <a:srgbClr val="F38020"/>
                </a:solidFill>
                <a:latin typeface="Calibri"/>
              </a:rPr>
              <a:t>▸  </a:t>
            </a:r>
            <a:r>
              <a:rPr sz="1050">
                <a:solidFill>
                  <a:srgbClr val="334155"/>
                </a:solidFill>
                <a:latin typeface="Calibri"/>
              </a:rPr>
              <a:t>3×3 severity × confidence matrix</a:t>
            </a:r>
          </a:p>
          <a:p>
            <a:pPr algn="l">
              <a:lnSpc>
                <a:spcPct val="120000"/>
              </a:lnSpc>
            </a:pPr>
            <a:r>
              <a:rPr sz="1050" b="1">
                <a:solidFill>
                  <a:srgbClr val="F38020"/>
                </a:solidFill>
                <a:latin typeface="Calibri"/>
              </a:rPr>
              <a:t>▸  </a:t>
            </a:r>
            <a:r>
              <a:rPr sz="1050">
                <a:solidFill>
                  <a:srgbClr val="334155"/>
                </a:solidFill>
                <a:latin typeface="Calibri"/>
              </a:rPr>
              <a:t>Curated fix for MD5, DES, ECB, pickle, yaml.load, shell=True, SQL concat</a:t>
            </a:r>
          </a:p>
          <a:p>
            <a:pPr algn="l">
              <a:lnSpc>
                <a:spcPct val="120000"/>
              </a:lnSpc>
            </a:pPr>
            <a:r>
              <a:rPr sz="1050" b="1">
                <a:solidFill>
                  <a:srgbClr val="F38020"/>
                </a:solidFill>
                <a:latin typeface="Calibri"/>
              </a:rPr>
              <a:t>▸  </a:t>
            </a:r>
            <a:r>
              <a:rPr sz="1050">
                <a:solidFill>
                  <a:srgbClr val="334155"/>
                </a:solidFill>
                <a:latin typeface="Calibri"/>
              </a:rPr>
              <a:t>Maps to RBI CSF 6.14 SDLC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789920" y="274320"/>
            <a:ext cx="128016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>
                <a:solidFill>
                  <a:srgbClr val="CBD5E1"/>
                </a:solidFill>
                <a:latin typeface="Calibri"/>
              </a:rPr>
              <a:t>08 / NETWORK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1609343" cy="292608"/>
          </a:xfrm>
          <a:prstGeom prst="roundRect">
            <a:avLst>
              <a:gd name="adj" fmla="val 50000"/>
            </a:avLst>
          </a:prstGeom>
          <a:solidFill>
            <a:srgbClr val="FFF6EE"/>
          </a:solidFill>
          <a:ln w="9525">
            <a:solidFill>
              <a:srgbClr val="F38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18288" rIns="109728" bIns="18288" rtlCol="0" anchor="ctr"/>
          <a:lstStyle/>
          <a:p>
            <a:pPr algn="ctr"/>
            <a:r>
              <a:rPr sz="1000" b="1">
                <a:solidFill>
                  <a:srgbClr val="F38020"/>
                </a:solidFill>
                <a:latin typeface="Calibri"/>
              </a:rPr>
              <a:t>MODULE 04 — NETWORK (PASSIVE)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34440"/>
            <a:ext cx="10515600" cy="8229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3200" b="1">
                <a:solidFill>
                  <a:srgbClr val="0A2540"/>
                </a:solidFill>
                <a:latin typeface="Calibri"/>
              </a:rPr>
              <a:t>Services &amp; TLS hygiene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331720"/>
            <a:ext cx="5394960" cy="3657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2496312"/>
            <a:ext cx="493776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500" b="1">
                <a:solidFill>
                  <a:srgbClr val="F38020"/>
                </a:solidFill>
                <a:latin typeface="Calibri"/>
              </a:rPr>
              <a:t>🔍  nmap (passive)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926080"/>
            <a:ext cx="4937760" cy="30175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>
                <a:solidFill>
                  <a:srgbClr val="F38020"/>
                </a:solidFill>
                <a:latin typeface="Calibri"/>
              </a:rPr>
              <a:t>▸  </a:t>
            </a:r>
            <a:r>
              <a:rPr sz="1050">
                <a:solidFill>
                  <a:srgbClr val="334155"/>
                </a:solidFill>
                <a:latin typeface="Calibri"/>
              </a:rPr>
              <a:t>-sT -sV only, no SYN, no vuln scripts</a:t>
            </a:r>
          </a:p>
          <a:p>
            <a:pPr algn="l">
              <a:lnSpc>
                <a:spcPct val="120000"/>
              </a:lnSpc>
            </a:pPr>
            <a:r>
              <a:rPr sz="1050" b="1">
                <a:solidFill>
                  <a:srgbClr val="F38020"/>
                </a:solidFill>
                <a:latin typeface="Calibri"/>
              </a:rPr>
              <a:t>▸  </a:t>
            </a:r>
            <a:r>
              <a:rPr sz="1050">
                <a:solidFill>
                  <a:srgbClr val="334155"/>
                </a:solidFill>
                <a:latin typeface="Calibri"/>
              </a:rPr>
              <a:t>T2 polite timing ceiling enforced at __init__</a:t>
            </a:r>
          </a:p>
          <a:p>
            <a:pPr algn="l">
              <a:lnSpc>
                <a:spcPct val="120000"/>
              </a:lnSpc>
            </a:pPr>
            <a:r>
              <a:rPr sz="1050" b="1">
                <a:solidFill>
                  <a:srgbClr val="F38020"/>
                </a:solidFill>
                <a:latin typeface="Calibri"/>
              </a:rPr>
              <a:t>▸  </a:t>
            </a:r>
            <a:r>
              <a:rPr sz="1050">
                <a:solidFill>
                  <a:srgbClr val="334155"/>
                </a:solidFill>
                <a:latin typeface="Calibri"/>
              </a:rPr>
              <a:t>Refuses public CIDRs unless opted in</a:t>
            </a:r>
          </a:p>
          <a:p>
            <a:pPr algn="l">
              <a:lnSpc>
                <a:spcPct val="120000"/>
              </a:lnSpc>
            </a:pPr>
            <a:r>
              <a:rPr sz="1050" b="1">
                <a:solidFill>
                  <a:srgbClr val="F38020"/>
                </a:solidFill>
                <a:latin typeface="Calibri"/>
              </a:rPr>
              <a:t>▸  </a:t>
            </a:r>
            <a:r>
              <a:rPr sz="1050">
                <a:solidFill>
                  <a:srgbClr val="334155"/>
                </a:solidFill>
                <a:latin typeface="Calibri"/>
              </a:rPr>
              <a:t>BFSI severity table: Telnet/rsh → CRITICAL, FTP/RDP/Mongo/Redis → HIGH</a:t>
            </a:r>
          </a:p>
          <a:p>
            <a:pPr algn="l">
              <a:lnSpc>
                <a:spcPct val="120000"/>
              </a:lnSpc>
            </a:pPr>
            <a:r>
              <a:rPr sz="1050" b="1">
                <a:solidFill>
                  <a:srgbClr val="F38020"/>
                </a:solidFill>
                <a:latin typeface="Calibri"/>
              </a:rPr>
              <a:t>▸  </a:t>
            </a:r>
            <a:r>
              <a:rPr sz="1050">
                <a:solidFill>
                  <a:srgbClr val="334155"/>
                </a:solidFill>
                <a:latin typeface="Calibri"/>
              </a:rPr>
              <a:t>CPE extraction for downstream CVE enrichment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2331720"/>
            <a:ext cx="5394960" cy="3657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629400" y="2496312"/>
            <a:ext cx="493776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500" b="1">
                <a:solidFill>
                  <a:srgbClr val="F38020"/>
                </a:solidFill>
                <a:latin typeface="Calibri"/>
              </a:rPr>
              <a:t>🔐  testssl.sh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2926080"/>
            <a:ext cx="4937760" cy="30175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>
                <a:solidFill>
                  <a:srgbClr val="F38020"/>
                </a:solidFill>
                <a:latin typeface="Calibri"/>
              </a:rPr>
              <a:t>▸  </a:t>
            </a:r>
            <a:r>
              <a:rPr sz="1050">
                <a:solidFill>
                  <a:srgbClr val="334155"/>
                </a:solidFill>
                <a:latin typeface="Calibri"/>
              </a:rPr>
              <a:t>Protocols, ciphers, certs, HSTS, TLS vulns</a:t>
            </a:r>
          </a:p>
          <a:p>
            <a:pPr algn="l">
              <a:lnSpc>
                <a:spcPct val="120000"/>
              </a:lnSpc>
            </a:pPr>
            <a:r>
              <a:rPr sz="1050" b="1">
                <a:solidFill>
                  <a:srgbClr val="F38020"/>
                </a:solidFill>
                <a:latin typeface="Calibri"/>
              </a:rPr>
              <a:t>▸  </a:t>
            </a:r>
            <a:r>
              <a:rPr sz="1050">
                <a:solidFill>
                  <a:srgbClr val="334155"/>
                </a:solidFill>
                <a:latin typeface="Calibri"/>
              </a:rPr>
              <a:t>Direct RBI Annex-I clause on every finding (6.2/6.3/6.4/6.5)</a:t>
            </a:r>
          </a:p>
          <a:p>
            <a:pPr algn="l">
              <a:lnSpc>
                <a:spcPct val="120000"/>
              </a:lnSpc>
            </a:pPr>
            <a:r>
              <a:rPr sz="1050" b="1">
                <a:solidFill>
                  <a:srgbClr val="F38020"/>
                </a:solidFill>
                <a:latin typeface="Calibri"/>
              </a:rPr>
              <a:t>▸  </a:t>
            </a:r>
            <a:r>
              <a:rPr sz="1050">
                <a:solidFill>
                  <a:srgbClr val="334155"/>
                </a:solidFill>
                <a:latin typeface="Calibri"/>
              </a:rPr>
              <a:t>Heartbleed, POODLE, ROBOT, FREAK, LOGJAM, DROWN, BEAST, LUCKY13</a:t>
            </a:r>
          </a:p>
          <a:p>
            <a:pPr algn="l">
              <a:lnSpc>
                <a:spcPct val="120000"/>
              </a:lnSpc>
            </a:pPr>
            <a:r>
              <a:rPr sz="1050" b="1">
                <a:solidFill>
                  <a:srgbClr val="F38020"/>
                </a:solidFill>
                <a:latin typeface="Calibri"/>
              </a:rPr>
              <a:t>▸  </a:t>
            </a:r>
            <a:r>
              <a:rPr sz="1050">
                <a:solidFill>
                  <a:srgbClr val="334155"/>
                </a:solidFill>
                <a:latin typeface="Calibri"/>
              </a:rPr>
              <a:t>Remediation names Azure App Gateway / nginx / HAProxy by product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789920" y="274320"/>
            <a:ext cx="128016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>
                <a:solidFill>
                  <a:srgbClr val="CBD5E1"/>
                </a:solidFill>
                <a:latin typeface="Calibri"/>
              </a:rPr>
              <a:t>09 / CLOUD · CONTAINER · DISCOVERY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2194560" cy="292608"/>
          </a:xfrm>
          <a:prstGeom prst="roundRect">
            <a:avLst>
              <a:gd name="adj" fmla="val 50000"/>
            </a:avLst>
          </a:prstGeom>
          <a:solidFill>
            <a:srgbClr val="FFF6EE"/>
          </a:solidFill>
          <a:ln w="9525">
            <a:solidFill>
              <a:srgbClr val="F38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18288" rIns="109728" bIns="18288" rtlCol="0" anchor="ctr"/>
          <a:lstStyle/>
          <a:p>
            <a:pPr algn="ctr"/>
            <a:r>
              <a:rPr sz="1000" b="1">
                <a:solidFill>
                  <a:srgbClr val="F38020"/>
                </a:solidFill>
                <a:latin typeface="Calibri"/>
              </a:rPr>
              <a:t>MODULES 05–07 — CLOUD · CONTAINER · DISCOVERY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34440"/>
            <a:ext cx="10515600" cy="8229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3200" b="1">
                <a:solidFill>
                  <a:srgbClr val="0A2540"/>
                </a:solidFill>
                <a:latin typeface="Calibri"/>
              </a:rPr>
              <a:t>Multi-cloud posture · Azure + AWS + GCP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86587" y="2331720"/>
            <a:ext cx="3520440" cy="3566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15187" y="2496312"/>
            <a:ext cx="306324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500" b="1">
                <a:solidFill>
                  <a:srgbClr val="F38020"/>
                </a:solidFill>
                <a:latin typeface="Calibri"/>
              </a:rPr>
              <a:t>☁️  Prowler — Azure · AWS · GCP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5187" y="2926080"/>
            <a:ext cx="3063240" cy="29260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>
                <a:solidFill>
                  <a:srgbClr val="F38020"/>
                </a:solidFill>
                <a:latin typeface="Calibri"/>
              </a:rPr>
              <a:t>▸  </a:t>
            </a:r>
            <a:r>
              <a:rPr sz="1050">
                <a:solidFill>
                  <a:srgbClr val="334155"/>
                </a:solidFill>
                <a:latin typeface="Calibri"/>
              </a:rPr>
              <a:t>Read-only credentials only</a:t>
            </a:r>
          </a:p>
          <a:p>
            <a:pPr algn="l">
              <a:lnSpc>
                <a:spcPct val="120000"/>
              </a:lnSpc>
            </a:pPr>
            <a:r>
              <a:rPr sz="1050" b="1">
                <a:solidFill>
                  <a:srgbClr val="F38020"/>
                </a:solidFill>
                <a:latin typeface="Calibri"/>
              </a:rPr>
              <a:t>▸  </a:t>
            </a:r>
            <a:r>
              <a:rPr sz="1050">
                <a:solidFill>
                  <a:srgbClr val="334155"/>
                </a:solidFill>
                <a:latin typeface="Calibri"/>
              </a:rPr>
              <a:t>CIS + ISO 27001 + NIST 800-53</a:t>
            </a:r>
          </a:p>
          <a:p>
            <a:pPr algn="l">
              <a:lnSpc>
                <a:spcPct val="120000"/>
              </a:lnSpc>
            </a:pPr>
            <a:r>
              <a:rPr sz="1050" b="1">
                <a:solidFill>
                  <a:srgbClr val="F38020"/>
                </a:solidFill>
                <a:latin typeface="Calibri"/>
              </a:rPr>
              <a:t>▸  </a:t>
            </a:r>
            <a:r>
              <a:rPr sz="1050">
                <a:solidFill>
                  <a:srgbClr val="334155"/>
                </a:solidFill>
                <a:latin typeface="Calibri"/>
              </a:rPr>
              <a:t>Account / project scoping passed through</a:t>
            </a:r>
          </a:p>
          <a:p>
            <a:pPr algn="l">
              <a:lnSpc>
                <a:spcPct val="120000"/>
              </a:lnSpc>
            </a:pPr>
            <a:r>
              <a:rPr sz="1050" b="1">
                <a:solidFill>
                  <a:srgbClr val="F38020"/>
                </a:solidFill>
                <a:latin typeface="Calibri"/>
              </a:rPr>
              <a:t>▸  </a:t>
            </a:r>
            <a:r>
              <a:rPr sz="1050">
                <a:solidFill>
                  <a:srgbClr val="334155"/>
                </a:solidFill>
                <a:latin typeface="Calibri"/>
              </a:rPr>
              <a:t>OCSF JSON, single Module.CLOUD shape</a:t>
            </a:r>
          </a:p>
          <a:p>
            <a:pPr algn="l">
              <a:lnSpc>
                <a:spcPct val="120000"/>
              </a:lnSpc>
            </a:pPr>
            <a:r>
              <a:rPr sz="1050" b="1">
                <a:solidFill>
                  <a:srgbClr val="F38020"/>
                </a:solidFill>
                <a:latin typeface="Calibri"/>
              </a:rPr>
              <a:t>▸  </a:t>
            </a:r>
            <a:r>
              <a:rPr sz="1050">
                <a:solidFill>
                  <a:srgbClr val="334155"/>
                </a:solidFill>
                <a:latin typeface="Calibri"/>
              </a:rPr>
              <a:t>Failing checks only — no noise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35627" y="2331720"/>
            <a:ext cx="3520440" cy="3566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64227" y="2496312"/>
            <a:ext cx="306324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500" b="1">
                <a:solidFill>
                  <a:srgbClr val="F38020"/>
                </a:solidFill>
                <a:latin typeface="Calibri"/>
              </a:rPr>
              <a:t>📦  Dockle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64227" y="2926080"/>
            <a:ext cx="3063240" cy="29260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>
                <a:solidFill>
                  <a:srgbClr val="F38020"/>
                </a:solidFill>
                <a:latin typeface="Calibri"/>
              </a:rPr>
              <a:t>▸  </a:t>
            </a:r>
            <a:r>
              <a:rPr sz="1050">
                <a:solidFill>
                  <a:srgbClr val="334155"/>
                </a:solidFill>
                <a:latin typeface="Calibri"/>
              </a:rPr>
              <a:t>CIS Docker Benchmark</a:t>
            </a:r>
          </a:p>
          <a:p>
            <a:pPr algn="l">
              <a:lnSpc>
                <a:spcPct val="120000"/>
              </a:lnSpc>
            </a:pPr>
            <a:r>
              <a:rPr sz="1050" b="1">
                <a:solidFill>
                  <a:srgbClr val="F38020"/>
                </a:solidFill>
                <a:latin typeface="Calibri"/>
              </a:rPr>
              <a:t>▸  </a:t>
            </a:r>
            <a:r>
              <a:rPr sz="1050">
                <a:solidFill>
                  <a:srgbClr val="334155"/>
                </a:solidFill>
                <a:latin typeface="Calibri"/>
              </a:rPr>
              <a:t>Non-root USER enforcement</a:t>
            </a:r>
          </a:p>
          <a:p>
            <a:pPr algn="l">
              <a:lnSpc>
                <a:spcPct val="120000"/>
              </a:lnSpc>
            </a:pPr>
            <a:r>
              <a:rPr sz="1050" b="1">
                <a:solidFill>
                  <a:srgbClr val="F38020"/>
                </a:solidFill>
                <a:latin typeface="Calibri"/>
              </a:rPr>
              <a:t>▸  </a:t>
            </a:r>
            <a:r>
              <a:rPr sz="1050">
                <a:solidFill>
                  <a:srgbClr val="334155"/>
                </a:solidFill>
                <a:latin typeface="Calibri"/>
              </a:rPr>
              <a:t>Pinned tags, HEALTHCHECK</a:t>
            </a:r>
          </a:p>
          <a:p>
            <a:pPr algn="l">
              <a:lnSpc>
                <a:spcPct val="120000"/>
              </a:lnSpc>
            </a:pPr>
            <a:r>
              <a:rPr sz="1050" b="1">
                <a:solidFill>
                  <a:srgbClr val="F38020"/>
                </a:solidFill>
                <a:latin typeface="Calibri"/>
              </a:rPr>
              <a:t>▸  </a:t>
            </a:r>
            <a:r>
              <a:rPr sz="1050">
                <a:solidFill>
                  <a:srgbClr val="334155"/>
                </a:solidFill>
                <a:latin typeface="Calibri"/>
              </a:rPr>
              <a:t>Content Trust, setuid bits</a:t>
            </a:r>
          </a:p>
          <a:p>
            <a:pPr algn="l">
              <a:lnSpc>
                <a:spcPct val="120000"/>
              </a:lnSpc>
            </a:pPr>
            <a:r>
              <a:rPr sz="1050" b="1">
                <a:solidFill>
                  <a:srgbClr val="F38020"/>
                </a:solidFill>
                <a:latin typeface="Calibri"/>
              </a:rPr>
              <a:t>▸  </a:t>
            </a:r>
            <a:r>
              <a:rPr sz="1050">
                <a:solidFill>
                  <a:srgbClr val="334155"/>
                </a:solidFill>
                <a:latin typeface="Calibri"/>
              </a:rPr>
              <a:t>Runtime secrets check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84667" y="2331720"/>
            <a:ext cx="3520440" cy="3566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13267" y="2496312"/>
            <a:ext cx="306324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500" b="1">
                <a:solidFill>
                  <a:srgbClr val="F38020"/>
                </a:solidFill>
                <a:latin typeface="Calibri"/>
              </a:rPr>
              <a:t>🗺️  Multi-cloud Inventory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13267" y="2926080"/>
            <a:ext cx="3063240" cy="29260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>
                <a:solidFill>
                  <a:srgbClr val="F38020"/>
                </a:solidFill>
                <a:latin typeface="Calibri"/>
              </a:rPr>
              <a:t>▸  </a:t>
            </a:r>
            <a:r>
              <a:rPr sz="1050">
                <a:solidFill>
                  <a:srgbClr val="334155"/>
                </a:solidFill>
                <a:latin typeface="Calibri"/>
              </a:rPr>
              <a:t>Azure Resource Graph (KQL)</a:t>
            </a:r>
          </a:p>
          <a:p>
            <a:pPr algn="l">
              <a:lnSpc>
                <a:spcPct val="120000"/>
              </a:lnSpc>
            </a:pPr>
            <a:r>
              <a:rPr sz="1050" b="1">
                <a:solidFill>
                  <a:srgbClr val="F38020"/>
                </a:solidFill>
                <a:latin typeface="Calibri"/>
              </a:rPr>
              <a:t>▸  </a:t>
            </a:r>
            <a:r>
              <a:rPr sz="1050">
                <a:solidFill>
                  <a:srgbClr val="334155"/>
                </a:solidFill>
                <a:latin typeface="Calibri"/>
              </a:rPr>
              <a:t>AWS CLI: ELBv2 + Elastic IPs</a:t>
            </a:r>
          </a:p>
          <a:p>
            <a:pPr algn="l">
              <a:lnSpc>
                <a:spcPct val="120000"/>
              </a:lnSpc>
            </a:pPr>
            <a:r>
              <a:rPr sz="1050" b="1">
                <a:solidFill>
                  <a:srgbClr val="F38020"/>
                </a:solidFill>
                <a:latin typeface="Calibri"/>
              </a:rPr>
              <a:t>▸  </a:t>
            </a:r>
            <a:r>
              <a:rPr sz="1050">
                <a:solidFill>
                  <a:srgbClr val="334155"/>
                </a:solidFill>
                <a:latin typeface="Calibri"/>
              </a:rPr>
              <a:t>gcloud asset search-all-resources</a:t>
            </a:r>
          </a:p>
          <a:p>
            <a:pPr algn="l">
              <a:lnSpc>
                <a:spcPct val="120000"/>
              </a:lnSpc>
            </a:pPr>
            <a:r>
              <a:rPr sz="1050" b="1">
                <a:solidFill>
                  <a:srgbClr val="F38020"/>
                </a:solidFill>
                <a:latin typeface="Calibri"/>
              </a:rPr>
              <a:t>▸  </a:t>
            </a:r>
            <a:r>
              <a:rPr sz="1050">
                <a:solidFill>
                  <a:srgbClr val="334155"/>
                </a:solidFill>
                <a:latin typeface="Calibri"/>
              </a:rPr>
              <a:t>Tag-based criticality (prod→5, dev→1)</a:t>
            </a:r>
          </a:p>
          <a:p>
            <a:pPr algn="l">
              <a:lnSpc>
                <a:spcPct val="120000"/>
              </a:lnSpc>
            </a:pPr>
            <a:r>
              <a:rPr sz="1050" b="1">
                <a:solidFill>
                  <a:srgbClr val="F38020"/>
                </a:solidFill>
                <a:latin typeface="Calibri"/>
              </a:rPr>
              <a:t>▸  </a:t>
            </a:r>
            <a:r>
              <a:rPr sz="1050">
                <a:solidFill>
                  <a:srgbClr val="334155"/>
                </a:solidFill>
                <a:latin typeface="Calibri"/>
              </a:rPr>
              <a:t>Public-facing → exposure INTERNET</a:t>
            </a:r>
          </a:p>
          <a:p>
            <a:pPr algn="l">
              <a:lnSpc>
                <a:spcPct val="120000"/>
              </a:lnSpc>
            </a:pPr>
            <a:r>
              <a:rPr sz="1050" b="1">
                <a:solidFill>
                  <a:srgbClr val="F38020"/>
                </a:solidFill>
                <a:latin typeface="Calibri"/>
              </a:rPr>
              <a:t>▸  </a:t>
            </a:r>
            <a:r>
              <a:rPr sz="1050">
                <a:solidFill>
                  <a:srgbClr val="334155"/>
                </a:solidFill>
                <a:latin typeface="Calibri"/>
              </a:rPr>
              <a:t>Idempotent upsert, nightly via Beat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789920" y="274320"/>
            <a:ext cx="128016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>
                <a:solidFill>
                  <a:srgbClr val="CBD5E1"/>
                </a:solidFill>
                <a:latin typeface="Calibri"/>
              </a:rPr>
              <a:t>10 / IAC + KUBERNETES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1792224" cy="292608"/>
          </a:xfrm>
          <a:prstGeom prst="roundRect">
            <a:avLst>
              <a:gd name="adj" fmla="val 50000"/>
            </a:avLst>
          </a:prstGeom>
          <a:solidFill>
            <a:srgbClr val="FFF6EE"/>
          </a:solidFill>
          <a:ln w="9525">
            <a:solidFill>
              <a:srgbClr val="F38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18288" rIns="109728" bIns="18288" rtlCol="0" anchor="ctr"/>
          <a:lstStyle/>
          <a:p>
            <a:pPr algn="ctr"/>
            <a:r>
              <a:rPr sz="1000" b="1">
                <a:solidFill>
                  <a:srgbClr val="F38020"/>
                </a:solidFill>
                <a:latin typeface="Calibri"/>
              </a:rPr>
              <a:t>MODULES 08 &amp; 09 — IAC · KUBERNETES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344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A2540"/>
                </a:solidFill>
                <a:latin typeface="Calibri"/>
              </a:rPr>
              <a:t>Shift left. </a:t>
            </a:r>
            <a:r>
              <a:rPr sz="3200" b="1">
                <a:solidFill>
                  <a:srgbClr val="F38020"/>
                </a:solidFill>
                <a:latin typeface="Calibri"/>
              </a:rPr>
              <a:t>Land safe.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331720"/>
            <a:ext cx="5394960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2496312"/>
            <a:ext cx="493776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500" b="1">
                <a:solidFill>
                  <a:srgbClr val="F38020"/>
                </a:solidFill>
                <a:latin typeface="Calibri"/>
              </a:rPr>
              <a:t>📐  Checkov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926080"/>
            <a:ext cx="4937760" cy="15544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>
                <a:solidFill>
                  <a:srgbClr val="F38020"/>
                </a:solidFill>
                <a:latin typeface="Calibri"/>
              </a:rPr>
              <a:t>▸  </a:t>
            </a:r>
            <a:r>
              <a:rPr sz="1050">
                <a:solidFill>
                  <a:srgbClr val="334155"/>
                </a:solidFill>
                <a:latin typeface="Calibri"/>
              </a:rPr>
              <a:t>Terraform · Plan JSON · Bicep · Helm · K8s · Kustomize · OpenAPI</a:t>
            </a:r>
          </a:p>
          <a:p>
            <a:pPr algn="l">
              <a:lnSpc>
                <a:spcPct val="120000"/>
              </a:lnSpc>
            </a:pPr>
            <a:r>
              <a:rPr sz="1050" b="1">
                <a:solidFill>
                  <a:srgbClr val="F38020"/>
                </a:solidFill>
                <a:latin typeface="Calibri"/>
              </a:rPr>
              <a:t>▸  </a:t>
            </a:r>
            <a:r>
              <a:rPr sz="1050">
                <a:solidFill>
                  <a:srgbClr val="334155"/>
                </a:solidFill>
                <a:latin typeface="Calibri"/>
              </a:rPr>
              <a:t>Policy packs across CIS, NIST, PCI-DSS, SOC 2, ISO</a:t>
            </a:r>
          </a:p>
          <a:p>
            <a:pPr algn="l">
              <a:lnSpc>
                <a:spcPct val="120000"/>
              </a:lnSpc>
            </a:pPr>
            <a:r>
              <a:rPr sz="1050" b="1">
                <a:solidFill>
                  <a:srgbClr val="F38020"/>
                </a:solidFill>
                <a:latin typeface="Calibri"/>
              </a:rPr>
              <a:t>▸  </a:t>
            </a:r>
            <a:r>
              <a:rPr sz="1050">
                <a:solidFill>
                  <a:srgbClr val="334155"/>
                </a:solidFill>
                <a:latin typeface="Calibri"/>
              </a:rPr>
              <a:t>--download-external-modules false (air-gap safe)</a:t>
            </a:r>
          </a:p>
          <a:p>
            <a:pPr algn="l">
              <a:lnSpc>
                <a:spcPct val="120000"/>
              </a:lnSpc>
            </a:pPr>
            <a:r>
              <a:rPr sz="1050" b="1">
                <a:solidFill>
                  <a:srgbClr val="F38020"/>
                </a:solidFill>
                <a:latin typeface="Calibri"/>
              </a:rPr>
              <a:t>▸  </a:t>
            </a:r>
            <a:r>
              <a:rPr sz="1050">
                <a:solidFill>
                  <a:srgbClr val="334155"/>
                </a:solidFill>
                <a:latin typeface="Calibri"/>
              </a:rPr>
              <a:t>RBI CSF 6.4 secure config + 6.14 SDLC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2331720"/>
            <a:ext cx="5394960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629400" y="2496312"/>
            <a:ext cx="493776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500" b="1">
                <a:solidFill>
                  <a:srgbClr val="F38020"/>
                </a:solidFill>
                <a:latin typeface="Calibri"/>
              </a:rPr>
              <a:t>📐  Trivy config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2926080"/>
            <a:ext cx="4937760" cy="15544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>
                <a:solidFill>
                  <a:srgbClr val="F38020"/>
                </a:solidFill>
                <a:latin typeface="Calibri"/>
              </a:rPr>
              <a:t>▸  </a:t>
            </a:r>
            <a:r>
              <a:rPr sz="1050">
                <a:solidFill>
                  <a:srgbClr val="334155"/>
                </a:solidFill>
                <a:latin typeface="Calibri"/>
              </a:rPr>
              <a:t>AVD-ID-keyed misconfiguration corroboration</a:t>
            </a:r>
          </a:p>
          <a:p>
            <a:pPr algn="l">
              <a:lnSpc>
                <a:spcPct val="120000"/>
              </a:lnSpc>
            </a:pPr>
            <a:r>
              <a:rPr sz="1050" b="1">
                <a:solidFill>
                  <a:srgbClr val="F38020"/>
                </a:solidFill>
                <a:latin typeface="Calibri"/>
              </a:rPr>
              <a:t>▸  </a:t>
            </a:r>
            <a:r>
              <a:rPr sz="1050">
                <a:solidFill>
                  <a:srgbClr val="334155"/>
                </a:solidFill>
                <a:latin typeface="Calibri"/>
              </a:rPr>
              <a:t>Pairs with Checkov: only agreed misconfigs rise above informational</a:t>
            </a:r>
          </a:p>
          <a:p>
            <a:pPr algn="l">
              <a:lnSpc>
                <a:spcPct val="120000"/>
              </a:lnSpc>
            </a:pPr>
            <a:r>
              <a:rPr sz="1050" b="1">
                <a:solidFill>
                  <a:srgbClr val="F38020"/>
                </a:solidFill>
                <a:latin typeface="Calibri"/>
              </a:rPr>
              <a:t>▸  </a:t>
            </a:r>
            <a:r>
              <a:rPr sz="1050">
                <a:solidFill>
                  <a:srgbClr val="334155"/>
                </a:solidFill>
                <a:latin typeface="Calibri"/>
              </a:rPr>
              <a:t>Triple-corroboration pattern auditors expect for SCA, now applied to IaC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4754880"/>
            <a:ext cx="5394960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05840" y="4919472"/>
            <a:ext cx="493776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500" b="1">
                <a:solidFill>
                  <a:srgbClr val="F38020"/>
                </a:solidFill>
                <a:latin typeface="Calibri"/>
              </a:rPr>
              <a:t>☸️  Kubescape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349240"/>
            <a:ext cx="4937760" cy="15544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>
                <a:solidFill>
                  <a:srgbClr val="F38020"/>
                </a:solidFill>
                <a:latin typeface="Calibri"/>
              </a:rPr>
              <a:t>▸  </a:t>
            </a:r>
            <a:r>
              <a:rPr sz="1050">
                <a:solidFill>
                  <a:srgbClr val="334155"/>
                </a:solidFill>
                <a:latin typeface="Calibri"/>
              </a:rPr>
              <a:t>NSA + CIS Kubernetes benchmarks</a:t>
            </a:r>
          </a:p>
          <a:p>
            <a:pPr algn="l">
              <a:lnSpc>
                <a:spcPct val="120000"/>
              </a:lnSpc>
            </a:pPr>
            <a:r>
              <a:rPr sz="1050" b="1">
                <a:solidFill>
                  <a:srgbClr val="F38020"/>
                </a:solidFill>
                <a:latin typeface="Calibri"/>
              </a:rPr>
              <a:t>▸  </a:t>
            </a:r>
            <a:r>
              <a:rPr sz="1050">
                <a:solidFill>
                  <a:srgbClr val="334155"/>
                </a:solidFill>
                <a:latin typeface="Calibri"/>
              </a:rPr>
              <a:t>Live cluster mode with namespace exclusions</a:t>
            </a:r>
          </a:p>
          <a:p>
            <a:pPr algn="l">
              <a:lnSpc>
                <a:spcPct val="120000"/>
              </a:lnSpc>
            </a:pPr>
            <a:r>
              <a:rPr sz="1050" b="1">
                <a:solidFill>
                  <a:srgbClr val="F38020"/>
                </a:solidFill>
                <a:latin typeface="Calibri"/>
              </a:rPr>
              <a:t>▸  </a:t>
            </a:r>
            <a:r>
              <a:rPr sz="1050">
                <a:solidFill>
                  <a:srgbClr val="334155"/>
                </a:solidFill>
                <a:latin typeface="Calibri"/>
              </a:rPr>
              <a:t>Per-control YAML evidence for auditors</a:t>
            </a:r>
          </a:p>
          <a:p>
            <a:pPr algn="l">
              <a:lnSpc>
                <a:spcPct val="120000"/>
              </a:lnSpc>
            </a:pPr>
            <a:r>
              <a:rPr sz="1050" b="1">
                <a:solidFill>
                  <a:srgbClr val="F38020"/>
                </a:solidFill>
                <a:latin typeface="Calibri"/>
              </a:rPr>
              <a:t>▸  </a:t>
            </a:r>
            <a:r>
              <a:rPr sz="1050">
                <a:solidFill>
                  <a:srgbClr val="334155"/>
                </a:solidFill>
                <a:latin typeface="Calibri"/>
              </a:rPr>
              <a:t>RBI CSF 6.3 + 6.4 + 6.13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4754880"/>
            <a:ext cx="5394960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629400" y="4919472"/>
            <a:ext cx="493776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500" b="1">
                <a:solidFill>
                  <a:srgbClr val="F38020"/>
                </a:solidFill>
                <a:latin typeface="Calibri"/>
              </a:rPr>
              <a:t>☸️  K8s Inventory + Trivy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5349240"/>
            <a:ext cx="4937760" cy="15544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>
                <a:solidFill>
                  <a:srgbClr val="F38020"/>
                </a:solidFill>
                <a:latin typeface="Calibri"/>
              </a:rPr>
              <a:t>▸  </a:t>
            </a:r>
            <a:r>
              <a:rPr sz="1050">
                <a:solidFill>
                  <a:srgbClr val="334155"/>
                </a:solidFill>
                <a:latin typeface="Calibri"/>
              </a:rPr>
              <a:t>kubectl get deploy/sts/ds/pod -A → image extraction</a:t>
            </a:r>
          </a:p>
          <a:p>
            <a:pPr algn="l">
              <a:lnSpc>
                <a:spcPct val="120000"/>
              </a:lnSpc>
            </a:pPr>
            <a:r>
              <a:rPr sz="1050" b="1">
                <a:solidFill>
                  <a:srgbClr val="F38020"/>
                </a:solidFill>
                <a:latin typeface="Calibri"/>
              </a:rPr>
              <a:t>▸  </a:t>
            </a:r>
            <a:r>
              <a:rPr sz="1050">
                <a:solidFill>
                  <a:srgbClr val="334155"/>
                </a:solidFill>
                <a:latin typeface="Calibri"/>
              </a:rPr>
              <a:t>Every running image fed back through Trivy under Module.KUBERNETES</a:t>
            </a:r>
          </a:p>
          <a:p>
            <a:pPr algn="l">
              <a:lnSpc>
                <a:spcPct val="120000"/>
              </a:lnSpc>
            </a:pPr>
            <a:r>
              <a:rPr sz="1050" b="1">
                <a:solidFill>
                  <a:srgbClr val="F38020"/>
                </a:solidFill>
                <a:latin typeface="Calibri"/>
              </a:rPr>
              <a:t>▸  </a:t>
            </a:r>
            <a:r>
              <a:rPr sz="1050">
                <a:solidFill>
                  <a:srgbClr val="334155"/>
                </a:solidFill>
                <a:latin typeface="Calibri"/>
              </a:rPr>
              <a:t>Cluster posture + workload CVEs land on the same asset</a:t>
            </a:r>
          </a:p>
          <a:p>
            <a:pPr algn="l">
              <a:lnSpc>
                <a:spcPct val="120000"/>
              </a:lnSpc>
            </a:pPr>
            <a:r>
              <a:rPr sz="1050" b="1">
                <a:solidFill>
                  <a:srgbClr val="F38020"/>
                </a:solidFill>
                <a:latin typeface="Calibri"/>
              </a:rPr>
              <a:t>▸  </a:t>
            </a:r>
            <a:r>
              <a:rPr sz="1050">
                <a:solidFill>
                  <a:srgbClr val="334155"/>
                </a:solidFill>
                <a:latin typeface="Calibri"/>
              </a:rPr>
              <a:t>"What's running" matches "what we scanned"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789920" y="274320"/>
            <a:ext cx="128016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>
                <a:solidFill>
                  <a:srgbClr val="CBD5E1"/>
                </a:solidFill>
                <a:latin typeface="Calibri"/>
              </a:rPr>
              <a:t>11 / EXTERNAL ATTACK SURFACE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1097280" cy="292608"/>
          </a:xfrm>
          <a:prstGeom prst="roundRect">
            <a:avLst>
              <a:gd name="adj" fmla="val 50000"/>
            </a:avLst>
          </a:prstGeom>
          <a:solidFill>
            <a:srgbClr val="FFF6EE"/>
          </a:solidFill>
          <a:ln w="9525">
            <a:solidFill>
              <a:srgbClr val="F38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18288" rIns="109728" bIns="18288" rtlCol="0" anchor="ctr"/>
          <a:lstStyle/>
          <a:p>
            <a:pPr algn="ctr"/>
            <a:r>
              <a:rPr sz="1000" b="1">
                <a:solidFill>
                  <a:srgbClr val="F38020"/>
                </a:solidFill>
                <a:latin typeface="Calibri"/>
              </a:rPr>
              <a:t>MODULE 10 — ASM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344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A2540"/>
                </a:solidFill>
                <a:latin typeface="Calibri"/>
              </a:rPr>
              <a:t>What attackers </a:t>
            </a:r>
            <a:r>
              <a:rPr sz="3200" b="1">
                <a:solidFill>
                  <a:srgbClr val="F38020"/>
                </a:solidFill>
                <a:latin typeface="Calibri"/>
              </a:rPr>
              <a:t>see of us.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86587" y="2331720"/>
            <a:ext cx="3520440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15187" y="2496312"/>
            <a:ext cx="306324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500" b="1">
                <a:solidFill>
                  <a:srgbClr val="F38020"/>
                </a:solidFill>
                <a:latin typeface="Calibri"/>
              </a:rPr>
              <a:t>🌐  Subfinder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5187" y="2926080"/>
            <a:ext cx="3063240" cy="24688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>
                <a:solidFill>
                  <a:srgbClr val="F38020"/>
                </a:solidFill>
                <a:latin typeface="Calibri"/>
              </a:rPr>
              <a:t>▸  </a:t>
            </a:r>
            <a:r>
              <a:rPr sz="1050">
                <a:solidFill>
                  <a:srgbClr val="334155"/>
                </a:solidFill>
                <a:latin typeface="Calibri"/>
              </a:rPr>
              <a:t>Passive sources only (Censys, VT, AlienVault, etc.)</a:t>
            </a:r>
          </a:p>
          <a:p>
            <a:pPr algn="l">
              <a:lnSpc>
                <a:spcPct val="120000"/>
              </a:lnSpc>
            </a:pPr>
            <a:r>
              <a:rPr sz="1050" b="1">
                <a:solidFill>
                  <a:srgbClr val="F38020"/>
                </a:solidFill>
                <a:latin typeface="Calibri"/>
              </a:rPr>
              <a:t>▸  </a:t>
            </a:r>
            <a:r>
              <a:rPr sz="1050">
                <a:solidFill>
                  <a:srgbClr val="334155"/>
                </a:solidFill>
                <a:latin typeface="Calibri"/>
              </a:rPr>
              <a:t>Zero probing traffic to our perimeter</a:t>
            </a:r>
          </a:p>
          <a:p>
            <a:pPr algn="l">
              <a:lnSpc>
                <a:spcPct val="120000"/>
              </a:lnSpc>
            </a:pPr>
            <a:r>
              <a:rPr sz="1050" b="1">
                <a:solidFill>
                  <a:srgbClr val="F38020"/>
                </a:solidFill>
                <a:latin typeface="Calibri"/>
              </a:rPr>
              <a:t>▸  </a:t>
            </a:r>
            <a:r>
              <a:rPr sz="1050">
                <a:solidFill>
                  <a:srgbClr val="334155"/>
                </a:solidFill>
                <a:latin typeface="Calibri"/>
              </a:rPr>
              <a:t>Per-root cap (default 500)</a:t>
            </a:r>
          </a:p>
          <a:p>
            <a:pPr algn="l">
              <a:lnSpc>
                <a:spcPct val="120000"/>
              </a:lnSpc>
            </a:pPr>
            <a:r>
              <a:rPr sz="1050" b="1">
                <a:solidFill>
                  <a:srgbClr val="F38020"/>
                </a:solidFill>
                <a:latin typeface="Calibri"/>
              </a:rPr>
              <a:t>▸  </a:t>
            </a:r>
            <a:r>
              <a:rPr sz="1050">
                <a:solidFill>
                  <a:srgbClr val="334155"/>
                </a:solidFill>
                <a:latin typeface="Calibri"/>
              </a:rPr>
              <a:t>Each subdomain becomes a DOMAIN asset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35627" y="2331720"/>
            <a:ext cx="3520440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64227" y="2496312"/>
            <a:ext cx="306324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500" b="1">
                <a:solidFill>
                  <a:srgbClr val="F38020"/>
                </a:solidFill>
                <a:latin typeface="Calibri"/>
              </a:rPr>
              <a:t>🌐  httpx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64227" y="2926080"/>
            <a:ext cx="3063240" cy="24688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>
                <a:solidFill>
                  <a:srgbClr val="F38020"/>
                </a:solidFill>
                <a:latin typeface="Calibri"/>
              </a:rPr>
              <a:t>▸  </a:t>
            </a:r>
            <a:r>
              <a:rPr sz="1050">
                <a:solidFill>
                  <a:srgbClr val="334155"/>
                </a:solidFill>
                <a:latin typeface="Calibri"/>
              </a:rPr>
              <a:t>HTTP/HTTPS service fingerprint</a:t>
            </a:r>
          </a:p>
          <a:p>
            <a:pPr algn="l">
              <a:lnSpc>
                <a:spcPct val="120000"/>
              </a:lnSpc>
            </a:pPr>
            <a:r>
              <a:rPr sz="1050" b="1">
                <a:solidFill>
                  <a:srgbClr val="F38020"/>
                </a:solidFill>
                <a:latin typeface="Calibri"/>
              </a:rPr>
              <a:t>▸  </a:t>
            </a:r>
            <a:r>
              <a:rPr sz="1050">
                <a:solidFill>
                  <a:srgbClr val="334155"/>
                </a:solidFill>
                <a:latin typeface="Calibri"/>
              </a:rPr>
              <a:t>Status, title, web server, tech stack, TLS</a:t>
            </a:r>
          </a:p>
          <a:p>
            <a:pPr algn="l">
              <a:lnSpc>
                <a:spcPct val="120000"/>
              </a:lnSpc>
            </a:pPr>
            <a:r>
              <a:rPr sz="1050" b="1">
                <a:solidFill>
                  <a:srgbClr val="F38020"/>
                </a:solidFill>
                <a:latin typeface="Calibri"/>
              </a:rPr>
              <a:t>▸  </a:t>
            </a:r>
            <a:r>
              <a:rPr sz="1050">
                <a:solidFill>
                  <a:srgbClr val="334155"/>
                </a:solidFill>
                <a:latin typeface="Calibri"/>
              </a:rPr>
              <a:t>HTTP on prod ports → MEDIUM (cleartext forbidden)</a:t>
            </a:r>
          </a:p>
          <a:p>
            <a:pPr algn="l">
              <a:lnSpc>
                <a:spcPct val="120000"/>
              </a:lnSpc>
            </a:pPr>
            <a:r>
              <a:rPr sz="1050" b="1">
                <a:solidFill>
                  <a:srgbClr val="F38020"/>
                </a:solidFill>
                <a:latin typeface="Calibri"/>
              </a:rPr>
              <a:t>▸  </a:t>
            </a:r>
            <a:r>
              <a:rPr sz="1050">
                <a:solidFill>
                  <a:srgbClr val="334155"/>
                </a:solidFill>
                <a:latin typeface="Calibri"/>
              </a:rPr>
              <a:t>Feeds asset enrichment, not just a scan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84667" y="2331720"/>
            <a:ext cx="3520440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13267" y="2496312"/>
            <a:ext cx="306324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500" b="1">
                <a:solidFill>
                  <a:srgbClr val="F38020"/>
                </a:solidFill>
                <a:latin typeface="Calibri"/>
              </a:rPr>
              <a:t>🔐  TestSSL + nmap (opt-in)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13267" y="2926080"/>
            <a:ext cx="3063240" cy="24688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>
                <a:solidFill>
                  <a:srgbClr val="F38020"/>
                </a:solidFill>
                <a:latin typeface="Calibri"/>
              </a:rPr>
              <a:t>▸  </a:t>
            </a:r>
            <a:r>
              <a:rPr sz="1050">
                <a:solidFill>
                  <a:srgbClr val="334155"/>
                </a:solidFill>
                <a:latin typeface="Calibri"/>
              </a:rPr>
              <a:t>Every discovered host → automatic TLS posture run</a:t>
            </a:r>
          </a:p>
          <a:p>
            <a:pPr algn="l">
              <a:lnSpc>
                <a:spcPct val="120000"/>
              </a:lnSpc>
            </a:pPr>
            <a:r>
              <a:rPr sz="1050" b="1">
                <a:solidFill>
                  <a:srgbClr val="F38020"/>
                </a:solidFill>
                <a:latin typeface="Calibri"/>
              </a:rPr>
              <a:t>▸  </a:t>
            </a:r>
            <a:r>
              <a:rPr sz="1050">
                <a:solidFill>
                  <a:srgbClr val="334155"/>
                </a:solidFill>
                <a:latin typeface="Calibri"/>
              </a:rPr>
              <a:t>nmap validation gated behind explicit opt-in</a:t>
            </a:r>
          </a:p>
          <a:p>
            <a:pPr algn="l">
              <a:lnSpc>
                <a:spcPct val="120000"/>
              </a:lnSpc>
            </a:pPr>
            <a:r>
              <a:rPr sz="1050" b="1">
                <a:solidFill>
                  <a:srgbClr val="F38020"/>
                </a:solidFill>
                <a:latin typeface="Calibri"/>
              </a:rPr>
              <a:t>▸  </a:t>
            </a:r>
            <a:r>
              <a:rPr sz="1050">
                <a:solidFill>
                  <a:srgbClr val="334155"/>
                </a:solidFill>
                <a:latin typeface="Calibri"/>
              </a:rPr>
              <a:t>RBI Annex-I 6.1 inventory + 6.2 crypto + 6.4 hardening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669280"/>
            <a:ext cx="10515600" cy="7315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Closes the "shadow IT" gap. The assets the inventory misses, the perimeter still tells us about.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789920" y="274320"/>
            <a:ext cx="128016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>
                <a:solidFill>
                  <a:srgbClr val="CBD5E1"/>
                </a:solidFill>
                <a:latin typeface="Calibri"/>
              </a:rPr>
              <a:t>12 / API SECURITY + GATED DAST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1426464" cy="292608"/>
          </a:xfrm>
          <a:prstGeom prst="roundRect">
            <a:avLst>
              <a:gd name="adj" fmla="val 50000"/>
            </a:avLst>
          </a:prstGeom>
          <a:solidFill>
            <a:srgbClr val="FFF6EE"/>
          </a:solidFill>
          <a:ln w="9525">
            <a:solidFill>
              <a:srgbClr val="F38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18288" rIns="109728" bIns="18288" rtlCol="0" anchor="ctr"/>
          <a:lstStyle/>
          <a:p>
            <a:pPr algn="ctr"/>
            <a:r>
              <a:rPr sz="1000" b="1">
                <a:solidFill>
                  <a:srgbClr val="F38020"/>
                </a:solidFill>
                <a:latin typeface="Calibri"/>
              </a:rPr>
              <a:t>MODULE 11 — API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344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A2540"/>
                </a:solidFill>
                <a:latin typeface="Calibri"/>
              </a:rPr>
              <a:t>Active testing. </a:t>
            </a:r>
            <a:r>
              <a:rPr sz="3200" b="1">
                <a:solidFill>
                  <a:srgbClr val="F38020"/>
                </a:solidFill>
                <a:latin typeface="Calibri"/>
              </a:rPr>
              <a:t>Failsafe by design.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331720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2496312"/>
            <a:ext cx="493776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500" b="1">
                <a:solidFill>
                  <a:srgbClr val="F38020"/>
                </a:solidFill>
                <a:latin typeface="Calibri"/>
              </a:rPr>
              <a:t>⚡  Nuclei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926080"/>
            <a:ext cx="4937760" cy="11887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>
                <a:solidFill>
                  <a:srgbClr val="F38020"/>
                </a:solidFill>
                <a:latin typeface="Calibri"/>
              </a:rPr>
              <a:t>▸  </a:t>
            </a:r>
            <a:r>
              <a:rPr sz="1050">
                <a:solidFill>
                  <a:srgbClr val="334155"/>
                </a:solidFill>
                <a:latin typeface="Calibri"/>
              </a:rPr>
              <a:t>Community + custom YAML templates</a:t>
            </a:r>
          </a:p>
          <a:p>
            <a:pPr algn="l">
              <a:lnSpc>
                <a:spcPct val="120000"/>
              </a:lnSpc>
            </a:pPr>
            <a:r>
              <a:rPr sz="1050" b="1">
                <a:solidFill>
                  <a:srgbClr val="F38020"/>
                </a:solidFill>
                <a:latin typeface="Calibri"/>
              </a:rPr>
              <a:t>▸  </a:t>
            </a:r>
            <a:r>
              <a:rPr sz="1050">
                <a:solidFill>
                  <a:srgbClr val="334155"/>
                </a:solidFill>
                <a:latin typeface="Calibri"/>
              </a:rPr>
              <a:t>Severity floor configurable (default `medium`)</a:t>
            </a:r>
          </a:p>
          <a:p>
            <a:pPr algn="l">
              <a:lnSpc>
                <a:spcPct val="120000"/>
              </a:lnSpc>
            </a:pPr>
            <a:r>
              <a:rPr sz="1050" b="1">
                <a:solidFill>
                  <a:srgbClr val="F38020"/>
                </a:solidFill>
                <a:latin typeface="Calibri"/>
              </a:rPr>
              <a:t>▸  </a:t>
            </a:r>
            <a:r>
              <a:rPr sz="1050">
                <a:solidFill>
                  <a:srgbClr val="334155"/>
                </a:solidFill>
                <a:latin typeface="Calibri"/>
              </a:rPr>
              <a:t>CVE-tagged hits inherit EPSS — proper exploitability scoring</a:t>
            </a:r>
          </a:p>
          <a:p>
            <a:pPr algn="l">
              <a:lnSpc>
                <a:spcPct val="120000"/>
              </a:lnSpc>
            </a:pPr>
            <a:r>
              <a:rPr sz="1050" b="1">
                <a:solidFill>
                  <a:srgbClr val="F38020"/>
                </a:solidFill>
                <a:latin typeface="Calibri"/>
              </a:rPr>
              <a:t>▸  </a:t>
            </a:r>
            <a:r>
              <a:rPr sz="1050">
                <a:solidFill>
                  <a:srgbClr val="334155"/>
                </a:solidFill>
                <a:latin typeface="Calibri"/>
              </a:rPr>
              <a:t>OWASP API Top 10 + product-specific rule packs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2331720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629400" y="2496312"/>
            <a:ext cx="493776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500" b="1">
                <a:solidFill>
                  <a:srgbClr val="F38020"/>
                </a:solidFill>
                <a:latin typeface="Calibri"/>
              </a:rPr>
              <a:t>🕷️  OWASP ZAP Automation Framework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2926080"/>
            <a:ext cx="4937760" cy="11887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>
                <a:solidFill>
                  <a:srgbClr val="F38020"/>
                </a:solidFill>
                <a:latin typeface="Calibri"/>
              </a:rPr>
              <a:t>▸  </a:t>
            </a:r>
            <a:r>
              <a:rPr sz="1050">
                <a:solidFill>
                  <a:srgbClr val="334155"/>
                </a:solidFill>
                <a:latin typeface="Calibri"/>
              </a:rPr>
              <a:t>YAML plan: ingest OpenAPI → spider → passive wait → optional active scan</a:t>
            </a:r>
          </a:p>
          <a:p>
            <a:pPr algn="l">
              <a:lnSpc>
                <a:spcPct val="120000"/>
              </a:lnSpc>
            </a:pPr>
            <a:r>
              <a:rPr sz="1050" b="1">
                <a:solidFill>
                  <a:srgbClr val="F38020"/>
                </a:solidFill>
                <a:latin typeface="Calibri"/>
              </a:rPr>
              <a:t>▸  </a:t>
            </a:r>
            <a:r>
              <a:rPr sz="1050">
                <a:solidFill>
                  <a:srgbClr val="334155"/>
                </a:solidFill>
                <a:latin typeface="Calibri"/>
              </a:rPr>
              <a:t>Reports normalized into the same Finding schema</a:t>
            </a:r>
          </a:p>
          <a:p>
            <a:pPr algn="l">
              <a:lnSpc>
                <a:spcPct val="120000"/>
              </a:lnSpc>
            </a:pPr>
            <a:r>
              <a:rPr sz="1050" b="1">
                <a:solidFill>
                  <a:srgbClr val="F38020"/>
                </a:solidFill>
                <a:latin typeface="Calibri"/>
              </a:rPr>
              <a:t>▸  </a:t>
            </a:r>
            <a:r>
              <a:rPr sz="1050">
                <a:solidFill>
                  <a:srgbClr val="334155"/>
                </a:solidFill>
                <a:latin typeface="Calibri"/>
              </a:rPr>
              <a:t>Per-tenant timeout cap (default 20 min)</a:t>
            </a:r>
          </a:p>
          <a:p>
            <a:pPr algn="l">
              <a:lnSpc>
                <a:spcPct val="120000"/>
              </a:lnSpc>
            </a:pPr>
            <a:r>
              <a:rPr sz="1050" b="1">
                <a:solidFill>
                  <a:srgbClr val="F38020"/>
                </a:solidFill>
                <a:latin typeface="Calibri"/>
              </a:rPr>
              <a:t>▸  </a:t>
            </a:r>
            <a:r>
              <a:rPr sz="1050">
                <a:solidFill>
                  <a:srgbClr val="334155"/>
                </a:solidFill>
                <a:latin typeface="Calibri"/>
              </a:rPr>
              <a:t>Both passive (baseline) and active modes available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4434840"/>
            <a:ext cx="1101852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F38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0120" y="4572000"/>
            <a:ext cx="1060704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>
                <a:solidFill>
                  <a:srgbClr val="F38020"/>
                </a:solidFill>
                <a:latin typeface="Calibri"/>
              </a:rPr>
              <a:t>🛡️  DAST Triple-Gating — production cannot be hit by accident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5029200"/>
            <a:ext cx="10652760" cy="1508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F38020"/>
                </a:solidFill>
                <a:latin typeface="Calibri"/>
              </a:rPr>
              <a:t>▸  </a:t>
            </a:r>
            <a:r>
              <a:rPr sz="1100">
                <a:solidFill>
                  <a:srgbClr val="334155"/>
                </a:solidFill>
                <a:latin typeface="Calibri"/>
              </a:rPr>
              <a:t>Gate 1 · dast_mode flag — must be `baseline` or `active` on the request; default is `off`</a:t>
            </a:r>
          </a:p>
          <a:p>
            <a:pPr algn="l">
              <a:lnSpc>
                <a:spcPct val="120000"/>
              </a:lnSpc>
            </a:pPr>
            <a:r>
              <a:rPr sz="1100" b="1">
                <a:solidFill>
                  <a:srgbClr val="F38020"/>
                </a:solidFill>
                <a:latin typeface="Calibri"/>
              </a:rPr>
              <a:t>▸  </a:t>
            </a:r>
            <a:r>
              <a:rPr sz="1100">
                <a:solidFill>
                  <a:srgbClr val="334155"/>
                </a:solidFill>
                <a:latin typeface="Calibri"/>
              </a:rPr>
              <a:t>Gate 2 · FQDN allowlist — every target URL must match VULNSUITE_APISEC_DAST_ALLOWLIST; enforced both at the API and inside the Celery task</a:t>
            </a:r>
          </a:p>
          <a:p>
            <a:pPr algn="l">
              <a:lnSpc>
                <a:spcPct val="120000"/>
              </a:lnSpc>
            </a:pPr>
            <a:r>
              <a:rPr sz="1100" b="1">
                <a:solidFill>
                  <a:srgbClr val="F38020"/>
                </a:solidFill>
                <a:latin typeface="Calibri"/>
              </a:rPr>
              <a:t>▸  </a:t>
            </a:r>
            <a:r>
              <a:rPr sz="1100">
                <a:solidFill>
                  <a:srgbClr val="334155"/>
                </a:solidFill>
                <a:latin typeface="Calibri"/>
              </a:rPr>
              <a:t>Gate 3 · Active opt-in — dast_mode=active additionally requires VULNSUITE_APISEC_ALLOW_ACTIVE_SCAN=true</a:t>
            </a:r>
          </a:p>
          <a:p>
            <a:pPr algn="l">
              <a:lnSpc>
                <a:spcPct val="120000"/>
              </a:lnSpc>
            </a:pPr>
            <a:r>
              <a:rPr sz="1100" b="1">
                <a:solidFill>
                  <a:srgbClr val="F38020"/>
                </a:solidFill>
                <a:latin typeface="Calibri"/>
              </a:rPr>
              <a:t>▸  </a:t>
            </a:r>
            <a:r>
              <a:rPr sz="1100">
                <a:solidFill>
                  <a:srgbClr val="334155"/>
                </a:solidFill>
                <a:latin typeface="Calibri"/>
              </a:rPr>
              <a:t>Air-gap — offline mode emits a graceful skip, never silently runs without policy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789920" y="274320"/>
            <a:ext cx="128016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>
                <a:solidFill>
                  <a:srgbClr val="CBD5E1"/>
                </a:solidFill>
                <a:latin typeface="Calibri"/>
              </a:rPr>
              <a:t>13 / SUPPLY CHAIN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1426464" cy="292608"/>
          </a:xfrm>
          <a:prstGeom prst="roundRect">
            <a:avLst>
              <a:gd name="adj" fmla="val 50000"/>
            </a:avLst>
          </a:prstGeom>
          <a:solidFill>
            <a:srgbClr val="FFF6EE"/>
          </a:solidFill>
          <a:ln w="9525">
            <a:solidFill>
              <a:srgbClr val="F38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18288" rIns="109728" bIns="18288" rtlCol="0" anchor="ctr"/>
          <a:lstStyle/>
          <a:p>
            <a:pPr algn="ctr"/>
            <a:r>
              <a:rPr sz="1000" b="1">
                <a:solidFill>
                  <a:srgbClr val="F38020"/>
                </a:solidFill>
                <a:latin typeface="Calibri"/>
              </a:rPr>
              <a:t>MODULE 12 — SUPPLY CHAIN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344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A2540"/>
                </a:solidFill>
                <a:latin typeface="Calibri"/>
              </a:rPr>
              <a:t>SBOM. Signed. </a:t>
            </a:r>
            <a:r>
              <a:rPr sz="3200" b="1">
                <a:solidFill>
                  <a:srgbClr val="F38020"/>
                </a:solidFill>
                <a:latin typeface="Calibri"/>
              </a:rPr>
              <a:t>Attested. Suppressed.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3999" y="2331720"/>
            <a:ext cx="2697480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2599" y="2496312"/>
            <a:ext cx="22402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500" b="1">
                <a:solidFill>
                  <a:srgbClr val="F38020"/>
                </a:solidFill>
                <a:latin typeface="Calibri"/>
              </a:rPr>
              <a:t>📋  Syft (SBOM)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2599" y="2926080"/>
            <a:ext cx="2240280" cy="24688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>
                <a:solidFill>
                  <a:srgbClr val="F38020"/>
                </a:solidFill>
                <a:latin typeface="Calibri"/>
              </a:rPr>
              <a:t>▸  </a:t>
            </a:r>
            <a:r>
              <a:rPr sz="1050">
                <a:solidFill>
                  <a:srgbClr val="334155"/>
                </a:solidFill>
                <a:latin typeface="Calibri"/>
              </a:rPr>
              <a:t>CycloneDX SBOM emit and ingest</a:t>
            </a:r>
          </a:p>
          <a:p>
            <a:pPr algn="l">
              <a:lnSpc>
                <a:spcPct val="120000"/>
              </a:lnSpc>
            </a:pPr>
            <a:r>
              <a:rPr sz="1050" b="1">
                <a:solidFill>
                  <a:srgbClr val="F38020"/>
                </a:solidFill>
                <a:latin typeface="Calibri"/>
              </a:rPr>
              <a:t>▸  </a:t>
            </a:r>
            <a:r>
              <a:rPr sz="1050">
                <a:solidFill>
                  <a:srgbClr val="334155"/>
                </a:solidFill>
                <a:latin typeface="Calibri"/>
              </a:rPr>
              <a:t>Components missing PURL/version → flagged</a:t>
            </a:r>
          </a:p>
          <a:p>
            <a:pPr algn="l">
              <a:lnSpc>
                <a:spcPct val="120000"/>
              </a:lnSpc>
            </a:pPr>
            <a:r>
              <a:rPr sz="1050" b="1">
                <a:solidFill>
                  <a:srgbClr val="F38020"/>
                </a:solidFill>
                <a:latin typeface="Calibri"/>
              </a:rPr>
              <a:t>▸  </a:t>
            </a:r>
            <a:r>
              <a:rPr sz="1050">
                <a:solidFill>
                  <a:srgbClr val="334155"/>
                </a:solidFill>
                <a:latin typeface="Calibri"/>
              </a:rPr>
              <a:t>Every emitted SBOM re-scanned by Trivy in `sbom` mode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16071" y="2331720"/>
            <a:ext cx="2697480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544671" y="2496312"/>
            <a:ext cx="22402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500" b="1">
                <a:solidFill>
                  <a:srgbClr val="F38020"/>
                </a:solidFill>
                <a:latin typeface="Calibri"/>
              </a:rPr>
              <a:t>🔏  Cosign — Signatures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44671" y="2926080"/>
            <a:ext cx="2240280" cy="24688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>
                <a:solidFill>
                  <a:srgbClr val="F38020"/>
                </a:solidFill>
                <a:latin typeface="Calibri"/>
              </a:rPr>
              <a:t>▸  </a:t>
            </a:r>
            <a:r>
              <a:rPr sz="1050">
                <a:solidFill>
                  <a:srgbClr val="334155"/>
                </a:solidFill>
                <a:latin typeface="Calibri"/>
              </a:rPr>
              <a:t>Keyless: Sigstore identity + OIDC issuer policy</a:t>
            </a:r>
          </a:p>
          <a:p>
            <a:pPr algn="l">
              <a:lnSpc>
                <a:spcPct val="120000"/>
              </a:lnSpc>
            </a:pPr>
            <a:r>
              <a:rPr sz="1050" b="1">
                <a:solidFill>
                  <a:srgbClr val="F38020"/>
                </a:solidFill>
                <a:latin typeface="Calibri"/>
              </a:rPr>
              <a:t>▸  </a:t>
            </a:r>
            <a:r>
              <a:rPr sz="1050">
                <a:solidFill>
                  <a:srgbClr val="334155"/>
                </a:solidFill>
                <a:latin typeface="Calibri"/>
              </a:rPr>
              <a:t>Air-gap fallback: PEM key</a:t>
            </a:r>
          </a:p>
          <a:p>
            <a:pPr algn="l">
              <a:lnSpc>
                <a:spcPct val="120000"/>
              </a:lnSpc>
            </a:pPr>
            <a:r>
              <a:rPr sz="1050" b="1">
                <a:solidFill>
                  <a:srgbClr val="F38020"/>
                </a:solidFill>
                <a:latin typeface="Calibri"/>
              </a:rPr>
              <a:t>▸  </a:t>
            </a:r>
            <a:r>
              <a:rPr sz="1050">
                <a:solidFill>
                  <a:srgbClr val="334155"/>
                </a:solidFill>
                <a:latin typeface="Calibri"/>
              </a:rPr>
              <a:t>Missing signature → HIGH</a:t>
            </a:r>
          </a:p>
          <a:p>
            <a:pPr algn="l">
              <a:lnSpc>
                <a:spcPct val="120000"/>
              </a:lnSpc>
            </a:pPr>
            <a:r>
              <a:rPr sz="1050" b="1">
                <a:solidFill>
                  <a:srgbClr val="F38020"/>
                </a:solidFill>
                <a:latin typeface="Calibri"/>
              </a:rPr>
              <a:t>▸  </a:t>
            </a:r>
            <a:r>
              <a:rPr sz="1050">
                <a:solidFill>
                  <a:srgbClr val="334155"/>
                </a:solidFill>
                <a:latin typeface="Calibri"/>
              </a:rPr>
              <a:t>Wired through SupplyChainSettings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8143" y="2331720"/>
            <a:ext cx="2697480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6743" y="2496312"/>
            <a:ext cx="22402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500" b="1">
                <a:solidFill>
                  <a:srgbClr val="F38020"/>
                </a:solidFill>
                <a:latin typeface="Calibri"/>
              </a:rPr>
              <a:t>📜  Cosign — Attestations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6743" y="2926080"/>
            <a:ext cx="2240280" cy="24688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>
                <a:solidFill>
                  <a:srgbClr val="F38020"/>
                </a:solidFill>
                <a:latin typeface="Calibri"/>
              </a:rPr>
              <a:t>▸  </a:t>
            </a:r>
            <a:r>
              <a:rPr sz="1050">
                <a:solidFill>
                  <a:srgbClr val="334155"/>
                </a:solidFill>
                <a:latin typeface="Calibri"/>
              </a:rPr>
              <a:t>cosign verify-attestation with predicate type</a:t>
            </a:r>
          </a:p>
          <a:p>
            <a:pPr algn="l">
              <a:lnSpc>
                <a:spcPct val="120000"/>
              </a:lnSpc>
            </a:pPr>
            <a:r>
              <a:rPr sz="1050" b="1">
                <a:solidFill>
                  <a:srgbClr val="F38020"/>
                </a:solidFill>
                <a:latin typeface="Calibri"/>
              </a:rPr>
              <a:t>▸  </a:t>
            </a:r>
            <a:r>
              <a:rPr sz="1050">
                <a:solidFill>
                  <a:srgbClr val="334155"/>
                </a:solidFill>
                <a:latin typeface="Calibri"/>
              </a:rPr>
              <a:t>SLSA provenance · SBOM · VEX</a:t>
            </a:r>
          </a:p>
          <a:p>
            <a:pPr algn="l">
              <a:lnSpc>
                <a:spcPct val="120000"/>
              </a:lnSpc>
            </a:pPr>
            <a:r>
              <a:rPr sz="1050" b="1">
                <a:solidFill>
                  <a:srgbClr val="F38020"/>
                </a:solidFill>
                <a:latin typeface="Calibri"/>
              </a:rPr>
              <a:t>▸  </a:t>
            </a:r>
            <a:r>
              <a:rPr sz="1050">
                <a:solidFill>
                  <a:srgbClr val="334155"/>
                </a:solidFill>
                <a:latin typeface="Calibri"/>
              </a:rPr>
              <a:t>Missing required attestation → HIGH</a:t>
            </a:r>
          </a:p>
          <a:p>
            <a:pPr algn="l">
              <a:lnSpc>
                <a:spcPct val="120000"/>
              </a:lnSpc>
            </a:pPr>
            <a:r>
              <a:rPr sz="1050" b="1">
                <a:solidFill>
                  <a:srgbClr val="F38020"/>
                </a:solidFill>
                <a:latin typeface="Calibri"/>
              </a:rPr>
              <a:t>▸  </a:t>
            </a:r>
            <a:r>
              <a:rPr sz="1050">
                <a:solidFill>
                  <a:srgbClr val="334155"/>
                </a:solidFill>
                <a:latin typeface="Calibri"/>
              </a:rPr>
              <a:t>RBI CSF 6.14 SDLC trust chain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40215" y="2331720"/>
            <a:ext cx="2697480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268815" y="2496312"/>
            <a:ext cx="22402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500" b="1">
                <a:solidFill>
                  <a:srgbClr val="F38020"/>
                </a:solidFill>
                <a:latin typeface="Calibri"/>
              </a:rPr>
              <a:t>📝  VEX (CycloneDX + OpenVEX)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68815" y="2926080"/>
            <a:ext cx="2240280" cy="24688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>
                <a:solidFill>
                  <a:srgbClr val="F38020"/>
                </a:solidFill>
                <a:latin typeface="Calibri"/>
              </a:rPr>
              <a:t>▸  </a:t>
            </a:r>
            <a:r>
              <a:rPr sz="1050">
                <a:solidFill>
                  <a:srgbClr val="334155"/>
                </a:solidFill>
                <a:latin typeface="Calibri"/>
              </a:rPr>
              <a:t>Auto-detects format per file</a:t>
            </a:r>
          </a:p>
          <a:p>
            <a:pPr algn="l">
              <a:lnSpc>
                <a:spcPct val="120000"/>
              </a:lnSpc>
            </a:pPr>
            <a:r>
              <a:rPr sz="1050" b="1">
                <a:solidFill>
                  <a:srgbClr val="F38020"/>
                </a:solidFill>
                <a:latin typeface="Calibri"/>
              </a:rPr>
              <a:t>▸  </a:t>
            </a:r>
            <a:r>
              <a:rPr sz="1050">
                <a:solidFill>
                  <a:srgbClr val="334155"/>
                </a:solidFill>
                <a:latin typeface="Calibri"/>
              </a:rPr>
              <a:t>not_affected / resolved / fixed → INFO/P4 downgrade</a:t>
            </a:r>
          </a:p>
          <a:p>
            <a:pPr algn="l">
              <a:lnSpc>
                <a:spcPct val="120000"/>
              </a:lnSpc>
            </a:pPr>
            <a:r>
              <a:rPr sz="1050" b="1">
                <a:solidFill>
                  <a:srgbClr val="F38020"/>
                </a:solidFill>
                <a:latin typeface="Calibri"/>
              </a:rPr>
              <a:t>▸  </a:t>
            </a:r>
            <a:r>
              <a:rPr sz="1050">
                <a:solidFill>
                  <a:srgbClr val="334155"/>
                </a:solidFill>
                <a:latin typeface="Calibri"/>
              </a:rPr>
              <a:t>Applied as orchestrator post-processor</a:t>
            </a:r>
          </a:p>
          <a:p>
            <a:pPr algn="l">
              <a:lnSpc>
                <a:spcPct val="120000"/>
              </a:lnSpc>
            </a:pPr>
            <a:r>
              <a:rPr sz="1050" b="1">
                <a:solidFill>
                  <a:srgbClr val="F38020"/>
                </a:solidFill>
                <a:latin typeface="Calibri"/>
              </a:rPr>
              <a:t>▸  </a:t>
            </a:r>
            <a:r>
              <a:rPr sz="1050">
                <a:solidFill>
                  <a:srgbClr val="334155"/>
                </a:solidFill>
                <a:latin typeface="Calibri"/>
              </a:rPr>
              <a:t>Original VEX state preserved on evidence for audit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715000"/>
            <a:ext cx="10515600" cy="8229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"This dependency is in our SBOM, signed by our build pipeline, the provenance attestation matches, and where we accept residual risk it's a documented VEX statement — not a forgotten ticket."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789920" y="274320"/>
            <a:ext cx="128016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>
                <a:solidFill>
                  <a:srgbClr val="CBD5E1"/>
                </a:solidFill>
                <a:latin typeface="Calibri"/>
              </a:rPr>
              <a:t>14 / COMPLIANCE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1170432" cy="292608"/>
          </a:xfrm>
          <a:prstGeom prst="roundRect">
            <a:avLst>
              <a:gd name="adj" fmla="val 50000"/>
            </a:avLst>
          </a:prstGeom>
          <a:solidFill>
            <a:srgbClr val="FFF6EE"/>
          </a:solidFill>
          <a:ln w="9525">
            <a:solidFill>
              <a:srgbClr val="F38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18288" rIns="109728" bIns="18288" rtlCol="0" anchor="ctr"/>
          <a:lstStyle/>
          <a:p>
            <a:pPr algn="ctr"/>
            <a:r>
              <a:rPr sz="1000" b="1">
                <a:solidFill>
                  <a:srgbClr val="F38020"/>
                </a:solidFill>
                <a:latin typeface="Calibri"/>
              </a:rPr>
              <a:t>COMPLIANCE-NATIVE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344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A2540"/>
                </a:solidFill>
                <a:latin typeface="Calibri"/>
              </a:rPr>
              <a:t>Every finding carries a </a:t>
            </a:r>
            <a:r>
              <a:rPr sz="3200" b="1">
                <a:solidFill>
                  <a:srgbClr val="F38020"/>
                </a:solidFill>
                <a:latin typeface="Calibri"/>
              </a:rPr>
              <a:t>citation.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331720"/>
            <a:ext cx="5394960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2496312"/>
            <a:ext cx="493776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500" b="1">
                <a:solidFill>
                  <a:srgbClr val="F38020"/>
                </a:solidFill>
                <a:latin typeface="Calibri"/>
              </a:rPr>
              <a:t>🏛️  RBI Cyber Security Framework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926080"/>
            <a:ext cx="4937760" cy="15544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>
                <a:solidFill>
                  <a:srgbClr val="F38020"/>
                </a:solidFill>
                <a:latin typeface="Calibri"/>
              </a:rPr>
              <a:t>▸  </a:t>
            </a:r>
            <a:r>
              <a:rPr sz="1050">
                <a:solidFill>
                  <a:srgbClr val="334155"/>
                </a:solidFill>
                <a:latin typeface="Calibri"/>
              </a:rPr>
              <a:t>6.1 Asset inventory</a:t>
            </a:r>
          </a:p>
          <a:p>
            <a:pPr algn="l">
              <a:lnSpc>
                <a:spcPct val="120000"/>
              </a:lnSpc>
            </a:pPr>
            <a:r>
              <a:rPr sz="1050" b="1">
                <a:solidFill>
                  <a:srgbClr val="F38020"/>
                </a:solidFill>
                <a:latin typeface="Calibri"/>
              </a:rPr>
              <a:t>▸  </a:t>
            </a:r>
            <a:r>
              <a:rPr sz="1050">
                <a:solidFill>
                  <a:srgbClr val="334155"/>
                </a:solidFill>
                <a:latin typeface="Calibri"/>
              </a:rPr>
              <a:t>6.2 Crypto &amp; TLS</a:t>
            </a:r>
          </a:p>
          <a:p>
            <a:pPr algn="l">
              <a:lnSpc>
                <a:spcPct val="120000"/>
              </a:lnSpc>
            </a:pPr>
            <a:r>
              <a:rPr sz="1050" b="1">
                <a:solidFill>
                  <a:srgbClr val="F38020"/>
                </a:solidFill>
                <a:latin typeface="Calibri"/>
              </a:rPr>
              <a:t>▸  </a:t>
            </a:r>
            <a:r>
              <a:rPr sz="1050">
                <a:solidFill>
                  <a:srgbClr val="334155"/>
                </a:solidFill>
                <a:latin typeface="Calibri"/>
              </a:rPr>
              <a:t>6.3 Patch management</a:t>
            </a:r>
          </a:p>
          <a:p>
            <a:pPr algn="l">
              <a:lnSpc>
                <a:spcPct val="120000"/>
              </a:lnSpc>
            </a:pPr>
            <a:r>
              <a:rPr sz="1050" b="1">
                <a:solidFill>
                  <a:srgbClr val="F38020"/>
                </a:solidFill>
                <a:latin typeface="Calibri"/>
              </a:rPr>
              <a:t>▸  </a:t>
            </a:r>
            <a:r>
              <a:rPr sz="1050">
                <a:solidFill>
                  <a:srgbClr val="334155"/>
                </a:solidFill>
                <a:latin typeface="Calibri"/>
              </a:rPr>
              <a:t>6.4 Secure configuration</a:t>
            </a:r>
          </a:p>
          <a:p>
            <a:pPr algn="l">
              <a:lnSpc>
                <a:spcPct val="120000"/>
              </a:lnSpc>
            </a:pPr>
            <a:r>
              <a:rPr sz="1050" b="1">
                <a:solidFill>
                  <a:srgbClr val="F38020"/>
                </a:solidFill>
                <a:latin typeface="Calibri"/>
              </a:rPr>
              <a:t>▸  </a:t>
            </a:r>
            <a:r>
              <a:rPr sz="1050">
                <a:solidFill>
                  <a:srgbClr val="334155"/>
                </a:solidFill>
                <a:latin typeface="Calibri"/>
              </a:rPr>
              <a:t>6.5 Certificate &amp; PKI</a:t>
            </a:r>
          </a:p>
          <a:p>
            <a:pPr algn="l">
              <a:lnSpc>
                <a:spcPct val="120000"/>
              </a:lnSpc>
            </a:pPr>
            <a:r>
              <a:rPr sz="1050" b="1">
                <a:solidFill>
                  <a:srgbClr val="F38020"/>
                </a:solidFill>
                <a:latin typeface="Calibri"/>
              </a:rPr>
              <a:t>▸  </a:t>
            </a:r>
            <a:r>
              <a:rPr sz="1050">
                <a:solidFill>
                  <a:srgbClr val="334155"/>
                </a:solidFill>
                <a:latin typeface="Calibri"/>
              </a:rPr>
              <a:t>6.13 Cloud security</a:t>
            </a:r>
          </a:p>
          <a:p>
            <a:pPr algn="l">
              <a:lnSpc>
                <a:spcPct val="120000"/>
              </a:lnSpc>
            </a:pPr>
            <a:r>
              <a:rPr sz="1050" b="1">
                <a:solidFill>
                  <a:srgbClr val="F38020"/>
                </a:solidFill>
                <a:latin typeface="Calibri"/>
              </a:rPr>
              <a:t>▸  </a:t>
            </a:r>
            <a:r>
              <a:rPr sz="1050">
                <a:solidFill>
                  <a:srgbClr val="334155"/>
                </a:solidFill>
                <a:latin typeface="Calibri"/>
              </a:rPr>
              <a:t>6.14 SDLC</a:t>
            </a:r>
          </a:p>
          <a:p>
            <a:pPr algn="l">
              <a:lnSpc>
                <a:spcPct val="120000"/>
              </a:lnSpc>
            </a:pPr>
            <a:r>
              <a:rPr sz="1050" b="1">
                <a:solidFill>
                  <a:srgbClr val="F38020"/>
                </a:solidFill>
                <a:latin typeface="Calibri"/>
              </a:rPr>
              <a:t>▸  </a:t>
            </a:r>
            <a:r>
              <a:rPr sz="1050">
                <a:solidFill>
                  <a:srgbClr val="334155"/>
                </a:solidFill>
                <a:latin typeface="Calibri"/>
              </a:rPr>
              <a:t>6.15 Secrets management</a:t>
            </a:r>
          </a:p>
          <a:p>
            <a:pPr algn="l">
              <a:lnSpc>
                <a:spcPct val="120000"/>
              </a:lnSpc>
            </a:pPr>
            <a:r>
              <a:rPr sz="1050" b="1">
                <a:solidFill>
                  <a:srgbClr val="F38020"/>
                </a:solidFill>
                <a:latin typeface="Calibri"/>
              </a:rPr>
              <a:t>▸  </a:t>
            </a:r>
            <a:r>
              <a:rPr sz="1050">
                <a:solidFill>
                  <a:srgbClr val="334155"/>
                </a:solidFill>
                <a:latin typeface="Calibri"/>
              </a:rPr>
              <a:t>6.16 Database security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2331720"/>
            <a:ext cx="5394960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629400" y="2496312"/>
            <a:ext cx="493776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500" b="1">
                <a:solidFill>
                  <a:srgbClr val="F38020"/>
                </a:solidFill>
                <a:latin typeface="Calibri"/>
              </a:rPr>
              <a:t>🚨  CERT-In Directions 28 Apr 2022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2926080"/>
            <a:ext cx="4937760" cy="15544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>
                <a:solidFill>
                  <a:srgbClr val="F38020"/>
                </a:solidFill>
                <a:latin typeface="Calibri"/>
              </a:rPr>
              <a:t>▸  </a:t>
            </a:r>
            <a:r>
              <a:rPr sz="1050">
                <a:solidFill>
                  <a:srgbClr val="334155"/>
                </a:solidFill>
                <a:latin typeface="Calibri"/>
              </a:rPr>
              <a:t>6-hour reporting window auto-tracked</a:t>
            </a:r>
          </a:p>
          <a:p>
            <a:pPr algn="l">
              <a:lnSpc>
                <a:spcPct val="120000"/>
              </a:lnSpc>
            </a:pPr>
            <a:r>
              <a:rPr sz="1050" b="1">
                <a:solidFill>
                  <a:srgbClr val="F38020"/>
                </a:solidFill>
                <a:latin typeface="Calibri"/>
              </a:rPr>
              <a:t>▸  </a:t>
            </a:r>
            <a:r>
              <a:rPr sz="1050">
                <a:solidFill>
                  <a:srgbClr val="334155"/>
                </a:solidFill>
                <a:latin typeface="Calibri"/>
              </a:rPr>
              <a:t>JSON incident packet on every P0</a:t>
            </a:r>
          </a:p>
          <a:p>
            <a:pPr algn="l">
              <a:lnSpc>
                <a:spcPct val="120000"/>
              </a:lnSpc>
            </a:pPr>
            <a:r>
              <a:rPr sz="1050" b="1">
                <a:solidFill>
                  <a:srgbClr val="F38020"/>
                </a:solidFill>
                <a:latin typeface="Calibri"/>
              </a:rPr>
              <a:t>▸  </a:t>
            </a:r>
            <a:r>
              <a:rPr sz="1050">
                <a:solidFill>
                  <a:srgbClr val="334155"/>
                </a:solidFill>
                <a:latin typeface="Calibri"/>
              </a:rPr>
              <a:t>SHA-256 integrity hash</a:t>
            </a:r>
          </a:p>
          <a:p>
            <a:pPr algn="l">
              <a:lnSpc>
                <a:spcPct val="120000"/>
              </a:lnSpc>
            </a:pPr>
            <a:r>
              <a:rPr sz="1050" b="1">
                <a:solidFill>
                  <a:srgbClr val="F38020"/>
                </a:solidFill>
                <a:latin typeface="Calibri"/>
              </a:rPr>
              <a:t>▸  </a:t>
            </a:r>
            <a:r>
              <a:rPr sz="1050">
                <a:solidFill>
                  <a:srgbClr val="334155"/>
                </a:solidFill>
                <a:latin typeface="Calibri"/>
              </a:rPr>
              <a:t>180-day log retention compatible</a:t>
            </a:r>
          </a:p>
          <a:p>
            <a:pPr algn="l">
              <a:lnSpc>
                <a:spcPct val="120000"/>
              </a:lnSpc>
            </a:pPr>
            <a:r>
              <a:rPr sz="1050" b="1">
                <a:solidFill>
                  <a:srgbClr val="F38020"/>
                </a:solidFill>
                <a:latin typeface="Calibri"/>
              </a:rPr>
              <a:t>▸  </a:t>
            </a:r>
            <a:r>
              <a:rPr sz="1050">
                <a:solidFill>
                  <a:srgbClr val="334155"/>
                </a:solidFill>
                <a:latin typeface="Calibri"/>
              </a:rPr>
              <a:t>Upload-ready for incident portal</a:t>
            </a:r>
          </a:p>
          <a:p>
            <a:pPr algn="l">
              <a:lnSpc>
                <a:spcPct val="120000"/>
              </a:lnSpc>
            </a:pPr>
            <a:r>
              <a:rPr sz="1050" b="1">
                <a:solidFill>
                  <a:srgbClr val="F38020"/>
                </a:solidFill>
                <a:latin typeface="Calibri"/>
              </a:rPr>
              <a:t>▸  </a:t>
            </a:r>
            <a:r>
              <a:rPr sz="1050">
                <a:solidFill>
                  <a:srgbClr val="334155"/>
                </a:solidFill>
                <a:latin typeface="Calibri"/>
              </a:rPr>
              <a:t>Never auto-transmitted (human gate)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4754880"/>
            <a:ext cx="5394960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05840" y="4919472"/>
            <a:ext cx="493776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500" b="1">
                <a:solidFill>
                  <a:srgbClr val="F38020"/>
                </a:solidFill>
                <a:latin typeface="Calibri"/>
              </a:rPr>
              <a:t>✅  Additional Frameworks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349240"/>
            <a:ext cx="4937760" cy="15544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>
                <a:solidFill>
                  <a:srgbClr val="F38020"/>
                </a:solidFill>
                <a:latin typeface="Calibri"/>
              </a:rPr>
              <a:t>▸  </a:t>
            </a:r>
            <a:r>
              <a:rPr sz="1050">
                <a:solidFill>
                  <a:srgbClr val="334155"/>
                </a:solidFill>
                <a:latin typeface="Calibri"/>
              </a:rPr>
              <a:t>ISO 27001:2013 Annex A</a:t>
            </a:r>
          </a:p>
          <a:p>
            <a:pPr algn="l">
              <a:lnSpc>
                <a:spcPct val="120000"/>
              </a:lnSpc>
            </a:pPr>
            <a:r>
              <a:rPr sz="1050" b="1">
                <a:solidFill>
                  <a:srgbClr val="F38020"/>
                </a:solidFill>
                <a:latin typeface="Calibri"/>
              </a:rPr>
              <a:t>▸  </a:t>
            </a:r>
            <a:r>
              <a:rPr sz="1050">
                <a:solidFill>
                  <a:srgbClr val="334155"/>
                </a:solidFill>
                <a:latin typeface="Calibri"/>
              </a:rPr>
              <a:t>NIST 800-53 Rev 5</a:t>
            </a:r>
          </a:p>
          <a:p>
            <a:pPr algn="l">
              <a:lnSpc>
                <a:spcPct val="120000"/>
              </a:lnSpc>
            </a:pPr>
            <a:r>
              <a:rPr sz="1050" b="1">
                <a:solidFill>
                  <a:srgbClr val="F38020"/>
                </a:solidFill>
                <a:latin typeface="Calibri"/>
              </a:rPr>
              <a:t>▸  </a:t>
            </a:r>
            <a:r>
              <a:rPr sz="1050">
                <a:solidFill>
                  <a:srgbClr val="334155"/>
                </a:solidFill>
                <a:latin typeface="Calibri"/>
              </a:rPr>
              <a:t>CIS Azure 2.0 Benchmark</a:t>
            </a:r>
          </a:p>
          <a:p>
            <a:pPr algn="l">
              <a:lnSpc>
                <a:spcPct val="120000"/>
              </a:lnSpc>
            </a:pPr>
            <a:r>
              <a:rPr sz="1050" b="1">
                <a:solidFill>
                  <a:srgbClr val="F38020"/>
                </a:solidFill>
                <a:latin typeface="Calibri"/>
              </a:rPr>
              <a:t>▸  </a:t>
            </a:r>
            <a:r>
              <a:rPr sz="1050">
                <a:solidFill>
                  <a:srgbClr val="334155"/>
                </a:solidFill>
                <a:latin typeface="Calibri"/>
              </a:rPr>
              <a:t>CIS Docker Benchmark</a:t>
            </a:r>
          </a:p>
          <a:p>
            <a:pPr algn="l">
              <a:lnSpc>
                <a:spcPct val="120000"/>
              </a:lnSpc>
            </a:pPr>
            <a:r>
              <a:rPr sz="1050" b="1">
                <a:solidFill>
                  <a:srgbClr val="F38020"/>
                </a:solidFill>
                <a:latin typeface="Calibri"/>
              </a:rPr>
              <a:t>▸  </a:t>
            </a:r>
            <a:r>
              <a:rPr sz="1050">
                <a:solidFill>
                  <a:srgbClr val="334155"/>
                </a:solidFill>
                <a:latin typeface="Calibri"/>
              </a:rPr>
              <a:t>OWASP Top 10</a:t>
            </a:r>
          </a:p>
          <a:p>
            <a:pPr algn="l">
              <a:lnSpc>
                <a:spcPct val="120000"/>
              </a:lnSpc>
            </a:pPr>
            <a:r>
              <a:rPr sz="1050" b="1">
                <a:solidFill>
                  <a:srgbClr val="F38020"/>
                </a:solidFill>
                <a:latin typeface="Calibri"/>
              </a:rPr>
              <a:t>▸  </a:t>
            </a:r>
            <a:r>
              <a:rPr sz="1050">
                <a:solidFill>
                  <a:srgbClr val="334155"/>
                </a:solidFill>
                <a:latin typeface="Calibri"/>
              </a:rPr>
              <a:t>PCI-DSS (opt-in per tenant)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4754880"/>
            <a:ext cx="5394960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629400" y="4919472"/>
            <a:ext cx="493776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500" b="1">
                <a:solidFill>
                  <a:srgbClr val="F38020"/>
                </a:solidFill>
                <a:latin typeface="Calibri"/>
              </a:rPr>
              <a:t>📊  Audit Defensibility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5349240"/>
            <a:ext cx="4937760" cy="15544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>
                <a:solidFill>
                  <a:srgbClr val="F38020"/>
                </a:solidFill>
                <a:latin typeface="Calibri"/>
              </a:rPr>
              <a:t>▸  </a:t>
            </a:r>
            <a:r>
              <a:rPr sz="1050">
                <a:solidFill>
                  <a:srgbClr val="334155"/>
                </a:solidFill>
                <a:latin typeface="Calibri"/>
              </a:rPr>
              <a:t>Tool corroboration trail</a:t>
            </a:r>
          </a:p>
          <a:p>
            <a:pPr algn="l">
              <a:lnSpc>
                <a:spcPct val="120000"/>
              </a:lnSpc>
            </a:pPr>
            <a:r>
              <a:rPr sz="1050" b="1">
                <a:solidFill>
                  <a:srgbClr val="F38020"/>
                </a:solidFill>
                <a:latin typeface="Calibri"/>
              </a:rPr>
              <a:t>▸  </a:t>
            </a:r>
            <a:r>
              <a:rPr sz="1050">
                <a:solidFill>
                  <a:srgbClr val="334155"/>
                </a:solidFill>
                <a:latin typeface="Calibri"/>
              </a:rPr>
              <a:t>Regulatory citation per finding</a:t>
            </a:r>
          </a:p>
          <a:p>
            <a:pPr algn="l">
              <a:lnSpc>
                <a:spcPct val="120000"/>
              </a:lnSpc>
            </a:pPr>
            <a:r>
              <a:rPr sz="1050" b="1">
                <a:solidFill>
                  <a:srgbClr val="F38020"/>
                </a:solidFill>
                <a:latin typeface="Calibri"/>
              </a:rPr>
              <a:t>▸  </a:t>
            </a:r>
            <a:r>
              <a:rPr sz="1050">
                <a:solidFill>
                  <a:srgbClr val="334155"/>
                </a:solidFill>
                <a:latin typeface="Calibri"/>
              </a:rPr>
              <a:t>SHA-256 hash on all PDFs</a:t>
            </a:r>
          </a:p>
          <a:p>
            <a:pPr algn="l">
              <a:lnSpc>
                <a:spcPct val="120000"/>
              </a:lnSpc>
            </a:pPr>
            <a:r>
              <a:rPr sz="1050" b="1">
                <a:solidFill>
                  <a:srgbClr val="F38020"/>
                </a:solidFill>
                <a:latin typeface="Calibri"/>
              </a:rPr>
              <a:t>▸  </a:t>
            </a:r>
            <a:r>
              <a:rPr sz="1050">
                <a:solidFill>
                  <a:srgbClr val="334155"/>
                </a:solidFill>
                <a:latin typeface="Calibri"/>
              </a:rPr>
              <a:t>Operator + timestamp on all actions</a:t>
            </a:r>
          </a:p>
          <a:p>
            <a:pPr algn="l">
              <a:lnSpc>
                <a:spcPct val="120000"/>
              </a:lnSpc>
            </a:pPr>
            <a:r>
              <a:rPr sz="1050" b="1">
                <a:solidFill>
                  <a:srgbClr val="F38020"/>
                </a:solidFill>
                <a:latin typeface="Calibri"/>
              </a:rPr>
              <a:t>▸  </a:t>
            </a:r>
            <a:r>
              <a:rPr sz="1050">
                <a:solidFill>
                  <a:srgbClr val="334155"/>
                </a:solidFill>
                <a:latin typeface="Calibri"/>
              </a:rPr>
              <a:t>Tenant-scoped audit log</a:t>
            </a:r>
          </a:p>
          <a:p>
            <a:pPr algn="l">
              <a:lnSpc>
                <a:spcPct val="120000"/>
              </a:lnSpc>
            </a:pPr>
            <a:r>
              <a:rPr sz="1050" b="1">
                <a:solidFill>
                  <a:srgbClr val="F38020"/>
                </a:solidFill>
                <a:latin typeface="Calibri"/>
              </a:rPr>
              <a:t>▸  </a:t>
            </a:r>
            <a:r>
              <a:rPr sz="1050">
                <a:solidFill>
                  <a:srgbClr val="334155"/>
                </a:solidFill>
                <a:latin typeface="Calibri"/>
              </a:rPr>
              <a:t>Tamper-evident reports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789920" y="274320"/>
            <a:ext cx="128016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>
                <a:solidFill>
                  <a:srgbClr val="CBD5E1"/>
                </a:solidFill>
                <a:latin typeface="Calibri"/>
              </a:rPr>
              <a:t>15 /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987552" cy="292608"/>
          </a:xfrm>
          <a:prstGeom prst="roundRect">
            <a:avLst>
              <a:gd name="adj" fmla="val 50000"/>
            </a:avLst>
          </a:prstGeom>
          <a:solidFill>
            <a:srgbClr val="FFF6EE"/>
          </a:solidFill>
          <a:ln w="9525">
            <a:solidFill>
              <a:srgbClr val="F38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18288" rIns="109728" bIns="18288" rtlCol="0" anchor="ctr"/>
          <a:lstStyle/>
          <a:p>
            <a:pPr algn="ctr"/>
            <a:r>
              <a:rPr sz="1000" b="1">
                <a:solidFill>
                  <a:srgbClr val="F38020"/>
                </a:solidFill>
                <a:latin typeface="Calibri"/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344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A2540"/>
                </a:solidFill>
                <a:latin typeface="Calibri"/>
              </a:rPr>
              <a:t>Productizable </a:t>
            </a:r>
            <a:r>
              <a:rPr sz="3200" b="1">
                <a:solidFill>
                  <a:srgbClr val="F38020"/>
                </a:solidFill>
                <a:latin typeface="Calibri"/>
              </a:rPr>
              <a:t>from day one.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9447" y="2606040"/>
            <a:ext cx="2606040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38047" y="2770632"/>
            <a:ext cx="214884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500" b="1">
                <a:solidFill>
                  <a:srgbClr val="F38020"/>
                </a:solidFill>
                <a:latin typeface="Calibri"/>
              </a:rPr>
              <a:t>⚡  FastAPI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047" y="3200400"/>
            <a:ext cx="2148840" cy="24688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>
                <a:solidFill>
                  <a:srgbClr val="F38020"/>
                </a:solidFill>
                <a:latin typeface="Calibri"/>
              </a:rPr>
              <a:t>▸  </a:t>
            </a:r>
            <a:r>
              <a:rPr sz="1050">
                <a:solidFill>
                  <a:srgbClr val="334155"/>
                </a:solidFill>
                <a:latin typeface="Calibri"/>
              </a:rPr>
              <a:t>OIDC + JWT</a:t>
            </a:r>
          </a:p>
          <a:p>
            <a:pPr algn="l">
              <a:lnSpc>
                <a:spcPct val="120000"/>
              </a:lnSpc>
            </a:pPr>
            <a:r>
              <a:rPr sz="1050" b="1">
                <a:solidFill>
                  <a:srgbClr val="F38020"/>
                </a:solidFill>
                <a:latin typeface="Calibri"/>
              </a:rPr>
              <a:t>▸  </a:t>
            </a:r>
            <a:r>
              <a:rPr sz="1050">
                <a:solidFill>
                  <a:srgbClr val="334155"/>
                </a:solidFill>
                <a:latin typeface="Calibri"/>
              </a:rPr>
              <a:t>4-role RBAC</a:t>
            </a:r>
          </a:p>
          <a:p>
            <a:pPr algn="l">
              <a:lnSpc>
                <a:spcPct val="120000"/>
              </a:lnSpc>
            </a:pPr>
            <a:r>
              <a:rPr sz="1050" b="1">
                <a:solidFill>
                  <a:srgbClr val="F38020"/>
                </a:solidFill>
                <a:latin typeface="Calibri"/>
              </a:rPr>
              <a:t>▸  </a:t>
            </a:r>
            <a:r>
              <a:rPr sz="1050">
                <a:solidFill>
                  <a:srgbClr val="334155"/>
                </a:solidFill>
                <a:latin typeface="Calibri"/>
              </a:rPr>
              <a:t>Tenant-scoped routes</a:t>
            </a:r>
          </a:p>
          <a:p>
            <a:pPr algn="l">
              <a:lnSpc>
                <a:spcPct val="120000"/>
              </a:lnSpc>
            </a:pPr>
            <a:r>
              <a:rPr sz="1050" b="1">
                <a:solidFill>
                  <a:srgbClr val="F38020"/>
                </a:solidFill>
                <a:latin typeface="Calibri"/>
              </a:rPr>
              <a:t>▸  </a:t>
            </a:r>
            <a:r>
              <a:rPr sz="1050">
                <a:solidFill>
                  <a:srgbClr val="334155"/>
                </a:solidFill>
                <a:latin typeface="Calibri"/>
              </a:rPr>
              <a:t>OpenAPI spec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98367" y="2606040"/>
            <a:ext cx="2606040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26967" y="2770632"/>
            <a:ext cx="214884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500" b="1">
                <a:solidFill>
                  <a:srgbClr val="F38020"/>
                </a:solidFill>
                <a:latin typeface="Calibri"/>
              </a:rPr>
              <a:t>🔧  Celery Workers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26967" y="3200400"/>
            <a:ext cx="2148840" cy="24688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>
                <a:solidFill>
                  <a:srgbClr val="F38020"/>
                </a:solidFill>
                <a:latin typeface="Calibri"/>
              </a:rPr>
              <a:t>▸  </a:t>
            </a:r>
            <a:r>
              <a:rPr sz="1050">
                <a:solidFill>
                  <a:srgbClr val="334155"/>
                </a:solidFill>
                <a:latin typeface="Calibri"/>
              </a:rPr>
              <a:t>Redis broker</a:t>
            </a:r>
          </a:p>
          <a:p>
            <a:pPr algn="l">
              <a:lnSpc>
                <a:spcPct val="120000"/>
              </a:lnSpc>
            </a:pPr>
            <a:r>
              <a:rPr sz="1050" b="1">
                <a:solidFill>
                  <a:srgbClr val="F38020"/>
                </a:solidFill>
                <a:latin typeface="Calibri"/>
              </a:rPr>
              <a:t>▸  </a:t>
            </a:r>
            <a:r>
              <a:rPr sz="1050">
                <a:solidFill>
                  <a:srgbClr val="334155"/>
                </a:solidFill>
                <a:latin typeface="Calibri"/>
              </a:rPr>
              <a:t>4 dedicated queues</a:t>
            </a:r>
          </a:p>
          <a:p>
            <a:pPr algn="l">
              <a:lnSpc>
                <a:spcPct val="120000"/>
              </a:lnSpc>
            </a:pPr>
            <a:r>
              <a:rPr sz="1050" b="1">
                <a:solidFill>
                  <a:srgbClr val="F38020"/>
                </a:solidFill>
                <a:latin typeface="Calibri"/>
              </a:rPr>
              <a:t>▸  </a:t>
            </a:r>
            <a:r>
              <a:rPr sz="1050">
                <a:solidFill>
                  <a:srgbClr val="334155"/>
                </a:solidFill>
                <a:latin typeface="Calibri"/>
              </a:rPr>
              <a:t>Beat scheduler</a:t>
            </a:r>
          </a:p>
          <a:p>
            <a:pPr algn="l">
              <a:lnSpc>
                <a:spcPct val="120000"/>
              </a:lnSpc>
            </a:pPr>
            <a:r>
              <a:rPr sz="1050" b="1">
                <a:solidFill>
                  <a:srgbClr val="F38020"/>
                </a:solidFill>
                <a:latin typeface="Calibri"/>
              </a:rPr>
              <a:t>▸  </a:t>
            </a:r>
            <a:r>
              <a:rPr sz="1050">
                <a:solidFill>
                  <a:srgbClr val="334155"/>
                </a:solidFill>
                <a:latin typeface="Calibri"/>
              </a:rPr>
              <a:t>Retry discipline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87287" y="2606040"/>
            <a:ext cx="2606040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15887" y="2770632"/>
            <a:ext cx="214884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500" b="1">
                <a:solidFill>
                  <a:srgbClr val="F38020"/>
                </a:solidFill>
                <a:latin typeface="Calibri"/>
              </a:rPr>
              <a:t>🗄️  PostgreSQL 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5887" y="3200400"/>
            <a:ext cx="2148840" cy="24688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>
                <a:solidFill>
                  <a:srgbClr val="F38020"/>
                </a:solidFill>
                <a:latin typeface="Calibri"/>
              </a:rPr>
              <a:t>▸  </a:t>
            </a:r>
            <a:r>
              <a:rPr sz="1050">
                <a:solidFill>
                  <a:srgbClr val="334155"/>
                </a:solidFill>
                <a:latin typeface="Calibri"/>
              </a:rPr>
              <a:t>Row-Level Security</a:t>
            </a:r>
          </a:p>
          <a:p>
            <a:pPr algn="l">
              <a:lnSpc>
                <a:spcPct val="120000"/>
              </a:lnSpc>
            </a:pPr>
            <a:r>
              <a:rPr sz="1050" b="1">
                <a:solidFill>
                  <a:srgbClr val="F38020"/>
                </a:solidFill>
                <a:latin typeface="Calibri"/>
              </a:rPr>
              <a:t>▸  </a:t>
            </a:r>
            <a:r>
              <a:rPr sz="1050">
                <a:solidFill>
                  <a:srgbClr val="334155"/>
                </a:solidFill>
                <a:latin typeface="Calibri"/>
              </a:rPr>
              <a:t>Tenant kernel isolation</a:t>
            </a:r>
          </a:p>
          <a:p>
            <a:pPr algn="l">
              <a:lnSpc>
                <a:spcPct val="120000"/>
              </a:lnSpc>
            </a:pPr>
            <a:r>
              <a:rPr sz="1050" b="1">
                <a:solidFill>
                  <a:srgbClr val="F38020"/>
                </a:solidFill>
                <a:latin typeface="Calibri"/>
              </a:rPr>
              <a:t>▸  </a:t>
            </a:r>
            <a:r>
              <a:rPr sz="1050">
                <a:solidFill>
                  <a:srgbClr val="334155"/>
                </a:solidFill>
                <a:latin typeface="Calibri"/>
              </a:rPr>
              <a:t>Composite indexes</a:t>
            </a:r>
          </a:p>
          <a:p>
            <a:pPr algn="l">
              <a:lnSpc>
                <a:spcPct val="120000"/>
              </a:lnSpc>
            </a:pPr>
            <a:r>
              <a:rPr sz="1050" b="1">
                <a:solidFill>
                  <a:srgbClr val="F38020"/>
                </a:solidFill>
                <a:latin typeface="Calibri"/>
              </a:rPr>
              <a:t>▸  </a:t>
            </a:r>
            <a:r>
              <a:rPr sz="1050">
                <a:solidFill>
                  <a:srgbClr val="334155"/>
                </a:solidFill>
                <a:latin typeface="Calibri"/>
              </a:rPr>
              <a:t>DuckDB cold archive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76207" y="2606040"/>
            <a:ext cx="2606040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204807" y="2770632"/>
            <a:ext cx="214884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500" b="1">
                <a:solidFill>
                  <a:srgbClr val="F38020"/>
                </a:solidFill>
                <a:latin typeface="Calibri"/>
              </a:rPr>
              <a:t>📊  Streamlit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04807" y="3200400"/>
            <a:ext cx="2148840" cy="24688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>
                <a:solidFill>
                  <a:srgbClr val="F38020"/>
                </a:solidFill>
                <a:latin typeface="Calibri"/>
              </a:rPr>
              <a:t>▸  </a:t>
            </a:r>
            <a:r>
              <a:rPr sz="1050">
                <a:solidFill>
                  <a:srgbClr val="334155"/>
                </a:solidFill>
                <a:latin typeface="Calibri"/>
              </a:rPr>
              <a:t>CISO KPI strip</a:t>
            </a:r>
          </a:p>
          <a:p>
            <a:pPr algn="l">
              <a:lnSpc>
                <a:spcPct val="120000"/>
              </a:lnSpc>
            </a:pPr>
            <a:r>
              <a:rPr sz="1050" b="1">
                <a:solidFill>
                  <a:srgbClr val="F38020"/>
                </a:solidFill>
                <a:latin typeface="Calibri"/>
              </a:rPr>
              <a:t>▸  </a:t>
            </a:r>
            <a:r>
              <a:rPr sz="1050">
                <a:solidFill>
                  <a:srgbClr val="334155"/>
                </a:solidFill>
                <a:latin typeface="Calibri"/>
              </a:rPr>
              <a:t>CERT-In countdown</a:t>
            </a:r>
          </a:p>
          <a:p>
            <a:pPr algn="l">
              <a:lnSpc>
                <a:spcPct val="120000"/>
              </a:lnSpc>
            </a:pPr>
            <a:r>
              <a:rPr sz="1050" b="1">
                <a:solidFill>
                  <a:srgbClr val="F38020"/>
                </a:solidFill>
                <a:latin typeface="Calibri"/>
              </a:rPr>
              <a:t>▸  </a:t>
            </a:r>
            <a:r>
              <a:rPr sz="1050">
                <a:solidFill>
                  <a:srgbClr val="334155"/>
                </a:solidFill>
                <a:latin typeface="Calibri"/>
              </a:rPr>
              <a:t>MTTR trends</a:t>
            </a:r>
          </a:p>
          <a:p>
            <a:pPr algn="l">
              <a:lnSpc>
                <a:spcPct val="120000"/>
              </a:lnSpc>
            </a:pPr>
            <a:r>
              <a:rPr sz="1050" b="1">
                <a:solidFill>
                  <a:srgbClr val="F38020"/>
                </a:solidFill>
                <a:latin typeface="Calibri"/>
              </a:rPr>
              <a:t>▸  </a:t>
            </a:r>
            <a:r>
              <a:rPr sz="1050">
                <a:solidFill>
                  <a:srgbClr val="334155"/>
                </a:solidFill>
                <a:latin typeface="Calibri"/>
              </a:rPr>
              <a:t>Compliance tabs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789920" y="274320"/>
            <a:ext cx="128016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>
                <a:solidFill>
                  <a:srgbClr val="CBD5E1"/>
                </a:solidFill>
                <a:latin typeface="Calibri"/>
              </a:rPr>
              <a:t>16 / DIFFERENTIATORS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1024128" cy="292608"/>
          </a:xfrm>
          <a:prstGeom prst="roundRect">
            <a:avLst>
              <a:gd name="adj" fmla="val 50000"/>
            </a:avLst>
          </a:prstGeom>
          <a:solidFill>
            <a:srgbClr val="FFF6EE"/>
          </a:solidFill>
          <a:ln w="9525">
            <a:solidFill>
              <a:srgbClr val="F38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18288" rIns="109728" bIns="18288" rtlCol="0" anchor="ctr"/>
          <a:lstStyle/>
          <a:p>
            <a:pPr algn="ctr"/>
            <a:r>
              <a:rPr sz="1000" b="1">
                <a:solidFill>
                  <a:srgbClr val="F38020"/>
                </a:solidFill>
                <a:latin typeface="Calibri"/>
              </a:rPr>
              <a:t>WHY VULNSUITE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344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A2540"/>
                </a:solidFill>
                <a:latin typeface="Calibri"/>
              </a:rPr>
              <a:t>What makes this </a:t>
            </a:r>
            <a:r>
              <a:rPr sz="3200" b="1">
                <a:solidFill>
                  <a:srgbClr val="F38020"/>
                </a:solidFill>
                <a:latin typeface="Calibri"/>
              </a:rPr>
              <a:t>different.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286000"/>
            <a:ext cx="54864" cy="566928"/>
          </a:xfrm>
          <a:prstGeom prst="rect">
            <a:avLst/>
          </a:prstGeom>
          <a:solidFill>
            <a:srgbClr val="F38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32104" y="2286000"/>
            <a:ext cx="10561320" cy="56692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2350008"/>
            <a:ext cx="548640" cy="43891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800" b="1">
                <a:solidFill>
                  <a:srgbClr val="F38020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340864"/>
            <a:ext cx="36576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1">
                <a:solidFill>
                  <a:srgbClr val="0A2540"/>
                </a:solidFill>
                <a:latin typeface="Calibri"/>
              </a:rPr>
              <a:t>BFSI-native, not BFSI-bolted-on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578608"/>
            <a:ext cx="97840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RBI CSF clauses (6.1, 6.2, 6.3, 6.4, 6.5, 6.13, 6.14, 6.15, 6.16) and CERT-In 6-hour timing are first-class data model concerns across all 12 modules.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916936"/>
            <a:ext cx="54864" cy="566928"/>
          </a:xfrm>
          <a:prstGeom prst="rect">
            <a:avLst/>
          </a:prstGeom>
          <a:solidFill>
            <a:srgbClr val="F38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832104" y="2916936"/>
            <a:ext cx="10561320" cy="56692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0120" y="2980944"/>
            <a:ext cx="548640" cy="43891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800" b="1">
                <a:solidFill>
                  <a:srgbClr val="F38020"/>
                </a:solidFill>
                <a:latin typeface="Calibr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2971800"/>
            <a:ext cx="36576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1">
                <a:solidFill>
                  <a:srgbClr val="0A2540"/>
                </a:solidFill>
                <a:latin typeface="Calibri"/>
              </a:rPr>
              <a:t>Multi-tool corroboration end-to-end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209544"/>
            <a:ext cx="97840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Triple-corroborated SCA, two-tool secrets, two-tool SAST, two-tool IaC, signature + attestation supply chain — applied uniformly.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3547872"/>
            <a:ext cx="54864" cy="566928"/>
          </a:xfrm>
          <a:prstGeom prst="rect">
            <a:avLst/>
          </a:prstGeom>
          <a:solidFill>
            <a:srgbClr val="F38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32104" y="3547872"/>
            <a:ext cx="10561320" cy="56692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60120" y="3611880"/>
            <a:ext cx="548640" cy="43891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800" b="1">
                <a:solidFill>
                  <a:srgbClr val="F38020"/>
                </a:solidFill>
                <a:latin typeface="Calibr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3602736"/>
            <a:ext cx="36576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1">
                <a:solidFill>
                  <a:srgbClr val="0A2540"/>
                </a:solidFill>
                <a:latin typeface="Calibri"/>
              </a:rPr>
              <a:t>Active testing without production risk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3840480"/>
            <a:ext cx="97840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DAST is triple-gated (mode flag + FQDN allowlist + active opt-in). Active scanning of production cannot happen by accident.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4178808"/>
            <a:ext cx="54864" cy="566928"/>
          </a:xfrm>
          <a:prstGeom prst="rect">
            <a:avLst/>
          </a:prstGeom>
          <a:solidFill>
            <a:srgbClr val="F38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32104" y="4178808"/>
            <a:ext cx="10561320" cy="56692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60120" y="4242816"/>
            <a:ext cx="548640" cy="43891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800" b="1">
                <a:solidFill>
                  <a:srgbClr val="F38020"/>
                </a:solidFill>
                <a:latin typeface="Calibri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4233672"/>
            <a:ext cx="36576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1">
                <a:solidFill>
                  <a:srgbClr val="0A2540"/>
                </a:solidFill>
                <a:latin typeface="Calibri"/>
              </a:rPr>
              <a:t>Supply chain trust as a signal, not a slogan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4471416"/>
            <a:ext cx="97840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SBOM, keyless Sigstore signature, SLSA provenance attestation, CycloneDX-VEX + OpenVEX downgrade — VEX is the documented last word.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" y="4809744"/>
            <a:ext cx="54864" cy="566928"/>
          </a:xfrm>
          <a:prstGeom prst="rect">
            <a:avLst/>
          </a:prstGeom>
          <a:solidFill>
            <a:srgbClr val="F38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832104" y="4809744"/>
            <a:ext cx="10561320" cy="56692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60120" y="4873752"/>
            <a:ext cx="548640" cy="43891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800" b="1">
                <a:solidFill>
                  <a:srgbClr val="F38020"/>
                </a:solidFill>
                <a:latin typeface="Calibri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54480" y="4864608"/>
            <a:ext cx="36576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1">
                <a:solidFill>
                  <a:srgbClr val="0A2540"/>
                </a:solidFill>
                <a:latin typeface="Calibri"/>
              </a:rPr>
              <a:t>Multi-cloud parity, single risk lens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54480" y="5102352"/>
            <a:ext cx="97840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Azure + AWS + GCP posture all flow into the same Module.CLOUD shape. No accidental org walks.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5440680"/>
            <a:ext cx="54864" cy="566928"/>
          </a:xfrm>
          <a:prstGeom prst="rect">
            <a:avLst/>
          </a:prstGeom>
          <a:solidFill>
            <a:srgbClr val="F38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832104" y="5440680"/>
            <a:ext cx="10561320" cy="56692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60120" y="5504688"/>
            <a:ext cx="548640" cy="43891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800" b="1">
                <a:solidFill>
                  <a:srgbClr val="F38020"/>
                </a:solidFill>
                <a:latin typeface="Calibri"/>
              </a:rPr>
              <a:t>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54480" y="5495544"/>
            <a:ext cx="36576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1">
                <a:solidFill>
                  <a:srgbClr val="0A2540"/>
                </a:solidFill>
                <a:latin typeface="Calibri"/>
              </a:rPr>
              <a:t>Air-gap is first-class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54480" y="5733288"/>
            <a:ext cx="97840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Every collector has an offline path or graceful skip. Cosign falls back to PEM key when Sigstore is unreachable.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77240" y="6071616"/>
            <a:ext cx="54864" cy="566928"/>
          </a:xfrm>
          <a:prstGeom prst="rect">
            <a:avLst/>
          </a:prstGeom>
          <a:solidFill>
            <a:srgbClr val="F38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832104" y="6071616"/>
            <a:ext cx="10561320" cy="56692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60120" y="6135624"/>
            <a:ext cx="548640" cy="43891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800" b="1">
                <a:solidFill>
                  <a:srgbClr val="F38020"/>
                </a:solidFill>
                <a:latin typeface="Calibri"/>
              </a:rPr>
              <a:t>07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554480" y="6126480"/>
            <a:ext cx="36576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1">
                <a:solidFill>
                  <a:srgbClr val="0A2540"/>
                </a:solidFill>
                <a:latin typeface="Calibri"/>
              </a:rPr>
              <a:t>Findings are actionable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554480" y="6364224"/>
            <a:ext cx="97840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Curated, library-specific remediation ships with every finding from Bandit, Dockle, TestSSL, TruffleHog, Cosign.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2229</Words>
  <Application>Microsoft Office PowerPoint</Application>
  <PresentationFormat>Widescreen</PresentationFormat>
  <Paragraphs>335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Harshit Rathi | Northern Arc</cp:lastModifiedBy>
  <cp:revision>2</cp:revision>
  <dcterms:created xsi:type="dcterms:W3CDTF">2013-01-27T09:14:16Z</dcterms:created>
  <dcterms:modified xsi:type="dcterms:W3CDTF">2026-04-13T09:18:06Z</dcterms:modified>
  <cp:category/>
</cp:coreProperties>
</file>