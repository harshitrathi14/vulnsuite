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Scope: Implemented source with automated validation | Production rollout requires deployment-specific staging.</a:t>
            </a:r>
          </a:p>
          <a:p>
            <a:r>
              <a:t>Implementation and limitations: vulnsuite/protection/OPERATIONS.md</a:t>
            </a:r>
          </a:p>
          <a:p>
            <a:r>
              <a:t>Staging and maintenance: deploy/protection/OPERATIONS.md</a:t>
            </a:r>
          </a:p>
          <a:p>
            <a:r>
              <a:t>Automated validation does not establish live enforcement or full EDR coverage.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Scope: Selected detection signals support investigation; this release does not claim complete EDR coverage.</a:t>
            </a:r>
          </a:p>
          <a:p>
            <a:r>
              <a:t>Implementation and limitations: vulnsuite/protection/OPERATIONS.md</a:t>
            </a:r>
          </a:p>
          <a:p>
            <a:r>
              <a:t>Staging and maintenance: deploy/protection/OPERATIONS.md</a:t>
            </a:r>
          </a:p>
          <a:p>
            <a:r>
              <a:t>Automated validation does not establish live enforcement or full EDR coverage.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Scope: Assessment and protection services retain separate persistence and deployment boundaries.</a:t>
            </a:r>
          </a:p>
          <a:p>
            <a:r>
              <a:t>Implementation and limitations: vulnsuite/protection/OPERATIONS.md</a:t>
            </a:r>
          </a:p>
          <a:p>
            <a:r>
              <a:t>Staging and maintenance: deploy/protection/OPERATIONS.md</a:t>
            </a:r>
          </a:p>
          <a:p>
            <a:r>
              <a:t>Automated validation does not establish live enforcement or full EDR coverage.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Scope: Coverage depends on configured targets, installed tools and available advisory data.</a:t>
            </a:r>
          </a:p>
          <a:p>
            <a:r>
              <a:t>Implementation and limitations: vulnsuite/protection/OPERATIONS.md</a:t>
            </a:r>
          </a:p>
          <a:p>
            <a:r>
              <a:t>Staging and maintenance: deploy/protection/OPERATIONS.md</a:t>
            </a:r>
          </a:p>
          <a:p>
            <a:r>
              <a:t>Automated validation does not establish live enforcement or full EDR coverage.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Scope: Assessment scans complement host monitoring and inline WAF enforcement.</a:t>
            </a:r>
          </a:p>
          <a:p>
            <a:r>
              <a:t>Implementation and limitations: vulnsuite/protection/OPERATIONS.md</a:t>
            </a:r>
          </a:p>
          <a:p>
            <a:r>
              <a:t>Staging and maintenance: deploy/protection/OPERATIONS.md</a:t>
            </a:r>
          </a:p>
          <a:p>
            <a:r>
              <a:t>Automated validation does not establish live enforcement or full EDR coverage.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Scope: JWT verification and RLS controls are implemented; live IdP integration and database-role enforcement need staging.</a:t>
            </a:r>
          </a:p>
          <a:p>
            <a:r>
              <a:t>Implementation and limitations: vulnsuite/protection/OPERATIONS.md</a:t>
            </a:r>
          </a:p>
          <a:p>
            <a:r>
              <a:t>Staging and maintenance: deploy/protection/OPERATIONS.md</a:t>
            </a:r>
          </a:p>
          <a:p>
            <a:r>
              <a:t>Automated validation does not establish live enforcement or full EDR coverage.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Scope: The console shows bounded recent lists; it is not an exhaustive cross-platform evidence search.</a:t>
            </a:r>
          </a:p>
          <a:p>
            <a:r>
              <a:t>Implementation and limitations: vulnsuite/protection/OPERATIONS.md</a:t>
            </a:r>
          </a:p>
          <a:p>
            <a:r>
              <a:t>Staging and maintenance: deploy/protection/OPERATIONS.md</a:t>
            </a:r>
          </a:p>
          <a:p>
            <a:r>
              <a:t>Automated validation does not establish live enforcement or full EDR coverage.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Scope: Windows now includes monitoring and approved quarantine, restoration, host isolation and release. Native Windows staging validation is still required.</a:t>
            </a:r>
          </a:p>
          <a:p>
            <a:r>
              <a:t>Implementation and limitations: vulnsuite/protection/OPERATIONS.md</a:t>
            </a:r>
          </a:p>
          <a:p>
            <a:r>
              <a:t>Staging and maintenance: deploy/protection/OPERATIONS.md</a:t>
            </a:r>
          </a:p>
          <a:p>
            <a:r>
              <a:t>Automated validation does not establish live enforcement or full EDR coverage.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Scope: No complete memory scanning, full-disk protection or automatic process-termination claim is made.</a:t>
            </a:r>
          </a:p>
          <a:p>
            <a:r>
              <a:t>Implementation and limitations: vulnsuite/protection/OPERATIONS.md</a:t>
            </a:r>
          </a:p>
          <a:p>
            <a:r>
              <a:t>Staging and maintenance: deploy/protection/OPERATIONS.md</a:t>
            </a:r>
          </a:p>
          <a:p>
            <a:r>
              <a:t>Automated validation does not establish live enforcement or full EDR coverage.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Scope: NAT, shared accounts and legitimate automation need review; protocol labels require supporting source evidence.</a:t>
            </a:r>
          </a:p>
          <a:p>
            <a:r>
              <a:t>Implementation and limitations: vulnsuite/protection/OPERATIONS.md</a:t>
            </a:r>
          </a:p>
          <a:p>
            <a:r>
              <a:t>Staging and maintenance: deploy/protection/OPERATIONS.md</a:t>
            </a:r>
          </a:p>
          <a:p>
            <a:r>
              <a:t>Automated validation does not establish live enforcement or full EDR coverage.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Scope: Rule ordering, provider permissions, propagation and real traffic enforcement remain staging checks.</a:t>
            </a:r>
          </a:p>
          <a:p>
            <a:r>
              <a:t>Implementation and limitations: vulnsuite/protection/OPERATIONS.md</a:t>
            </a:r>
          </a:p>
          <a:p>
            <a:r>
              <a:t>Staging and maintenance: deploy/protection/OPERATIONS.md</a:t>
            </a:r>
          </a:p>
          <a:p>
            <a:r>
              <a:t>Automated validation does not establish live enforcement or full EDR coverage.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Scope: Windows expiry uses local recovery tasks; Linux uses kernel timeouts. Native enforcement and recovery require staging.</a:t>
            </a:r>
          </a:p>
          <a:p>
            <a:r>
              <a:t>Implementation and limitations: vulnsuite/protection/OPERATIONS.md</a:t>
            </a:r>
          </a:p>
          <a:p>
            <a:r>
              <a:t>Staging and maintenance: deploy/protection/OPERATIONS.md</a:t>
            </a:r>
          </a:p>
          <a:p>
            <a:r>
              <a:t>Automated validation does not establish live enforcement or full EDR coverage.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Scope: SQLite protection persistence is not a horizontally scalable or highly available PostgreSQL backend.</a:t>
            </a:r>
          </a:p>
          <a:p>
            <a:r>
              <a:t>Implementation and limitations: vulnsuite/protection/OPERATIONS.md</a:t>
            </a:r>
          </a:p>
          <a:p>
            <a:r>
              <a:t>Staging and maintenance: deploy/protection/OPERATIONS.md</a:t>
            </a:r>
          </a:p>
          <a:p>
            <a:r>
              <a:t>Automated validation does not establish live enforcement or full EDR coverage.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Scope: Agent software upgrades use an administrator-controlled rollout; this release does not remotely execute upgrades.</a:t>
            </a:r>
          </a:p>
          <a:p>
            <a:r>
              <a:t>Implementation and limitations: vulnsuite/protection/OPERATIONS.md</a:t>
            </a:r>
          </a:p>
          <a:p>
            <a:r>
              <a:t>Staging and maintenance: deploy/protection/OPERATIONS.md</a:t>
            </a:r>
          </a:p>
          <a:p>
            <a:r>
              <a:t>Automated validation does not establish live enforcement or full EDR coverage.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Scope: Webhooks support organisation-operated adapters; native Jira, ServiceNow or Splunk connectors are not implied.</a:t>
            </a:r>
          </a:p>
          <a:p>
            <a:r>
              <a:t>Implementation and limitations: vulnsuite/protection/OPERATIONS.md</a:t>
            </a:r>
          </a:p>
          <a:p>
            <a:r>
              <a:t>Staging and maintenance: deploy/protection/OPERATIONS.md</a:t>
            </a:r>
          </a:p>
          <a:p>
            <a:r>
              <a:t>Automated validation does not establish live enforcement or full EDR coverage.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Scope: Schedule maintenance explicitly and measure capacity, recovery objectives and backup security in the target environment.</a:t>
            </a:r>
          </a:p>
          <a:p>
            <a:r>
              <a:t>Implementation and limitations: vulnsuite/protection/OPERATIONS.md</a:t>
            </a:r>
          </a:p>
          <a:p>
            <a:r>
              <a:t>Staging and maintenance: deploy/protection/OPERATIONS.md</a:t>
            </a:r>
          </a:p>
          <a:p>
            <a:r>
              <a:t>Automated validation does not establish live enforcement or full EDR coverage.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Scope: Automated security/protection and end-to-end tests exercise code paths; mocked enforcement does not establish live efficacy.</a:t>
            </a:r>
          </a:p>
          <a:p>
            <a:r>
              <a:t>Implementation and limitations: vulnsuite/protection/OPERATIONS.md</a:t>
            </a:r>
          </a:p>
          <a:p>
            <a:r>
              <a:t>Staging and maintenance: deploy/protection/OPERATIONS.md</a:t>
            </a:r>
          </a:p>
          <a:p>
            <a:r>
              <a:t>Automated validation does not establish live enforcement or full EDR coverage.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Scope: No production IdP changes, external notifications, cloud-WAF rules or live host firewall changes were made here.</a:t>
            </a:r>
          </a:p>
          <a:p>
            <a:r>
              <a:t>Implementation and limitations: vulnsuite/protection/OPERATIONS.md</a:t>
            </a:r>
          </a:p>
          <a:p>
            <a:r>
              <a:t>Staging and maintenance: deploy/protection/OPERATIONS.md</a:t>
            </a:r>
          </a:p>
          <a:p>
            <a:r>
              <a:t>Automated validation does not establish live enforcement or full EDR coverage.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Scope: These are future extensions; central enrollment, verified access, the SOC console and reviewed playbooks are now implemented.</a:t>
            </a:r>
          </a:p>
          <a:p>
            <a:r>
              <a:t>Implementation and limitations: vulnsuite/protection/OPERATIONS.md</a:t>
            </a:r>
          </a:p>
          <a:p>
            <a:r>
              <a:t>Staging and maintenance: deploy/protection/OPERATIONS.md</a:t>
            </a:r>
          </a:p>
          <a:p>
            <a:r>
              <a:t>Automated validation does not establish live enforcement or full EDR coverage.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Scope: Pilot scope and dates are proposals; rollout follows evidence from staging and an approved operational runbook.</a:t>
            </a:r>
          </a:p>
          <a:p>
            <a:r>
              <a:t>Implementation and limitations: vulnsuite/protection/OPERATIONS.md</a:t>
            </a:r>
          </a:p>
          <a:p>
            <a:r>
              <a:t>Staging and maintenance: deploy/protection/OPERATIONS.md</a:t>
            </a:r>
          </a:p>
          <a:p>
            <a:r>
              <a:t>Automated validation does not establish live enforcement or full EDR coverage.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F38020"/>
                </a:solidFill>
                <a:latin typeface="DejaVu Sans"/>
              </a:defRPr>
            </a:pPr>
            <a:r>
              <a:t>OPERATIONS RELEASE 0.4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400" b="1">
                <a:solidFill>
                  <a:srgbClr val="0A2540"/>
                </a:solidFill>
                <a:latin typeface="DejaVu Sans"/>
              </a:defRPr>
            </a:pPr>
            <a:r>
              <a:t>VulnSuite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5404104" cy="42062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45720" cy="4206240"/>
          </a:xfrm>
          <a:prstGeom prst="rect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920240"/>
            <a:ext cx="490118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0A2540"/>
                </a:solidFill>
                <a:latin typeface="DejaVu Sans"/>
              </a:defRPr>
            </a:pPr>
            <a:r>
              <a:t>Assessment and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761488"/>
            <a:ext cx="484632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 b="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Code, dependencies and infrastructure assessment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Linux and Windows security telemetry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Malware signals and cross-host correlation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1691640"/>
            <a:ext cx="5404104" cy="42062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81928" y="1691640"/>
            <a:ext cx="45720" cy="4206240"/>
          </a:xfrm>
          <a:prstGeom prst="rect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1920240"/>
            <a:ext cx="490118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0A2540"/>
                </a:solidFill>
                <a:latin typeface="DejaVu Sans"/>
              </a:defRPr>
            </a:pPr>
            <a:r>
              <a:t>Security 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2761488"/>
            <a:ext cx="484632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 b="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Verified identity, roles and a shared SOC view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Incident ownership and central agent enrollment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Reviewed quarantine, isolation and cloud-WAF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080760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64748B"/>
                </a:solidFill>
                <a:latin typeface="DejaVu Sans"/>
              </a:defRPr>
            </a:pPr>
            <a:r>
              <a:t>Implemented source with automated validation | Production rollout requires deployment-specific staging.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  <a:latin typeface="DejaVu Sans"/>
              </a:defRPr>
            </a:pPr>
            <a:r>
              <a:t>CONFIDENTIAL • INTERNAL REVIEW  |  19 October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5952" y="6519672"/>
            <a:ext cx="685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  <a:latin typeface="DejaVu Sans"/>
              </a:defRPr>
            </a:pPr>
            <a:r>
              <a:t>01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F38020"/>
                </a:solidFill>
                <a:latin typeface="DejaVu Sans"/>
              </a:defRPr>
            </a:pPr>
            <a:r>
              <a:t>SECURITY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400" b="1">
                <a:solidFill>
                  <a:srgbClr val="0A2540"/>
                </a:solidFill>
                <a:latin typeface="DejaVu Sans"/>
              </a:defRPr>
            </a:pPr>
            <a:r>
              <a:t>What the suite addresses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5404104" cy="42062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45720" cy="4206240"/>
          </a:xfrm>
          <a:prstGeom prst="rect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920240"/>
            <a:ext cx="490118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0A2540"/>
                </a:solidFill>
                <a:latin typeface="DejaVu Sans"/>
              </a:defRPr>
            </a:pPr>
            <a:r>
              <a:t>Reduce exposure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761488"/>
            <a:ext cx="484632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 b="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Find vulnerable software and unsafe configurations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Assess exposed services, APIs and TLS settings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Prioritise findings using severity and asset context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1691640"/>
            <a:ext cx="5404104" cy="42062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81928" y="1691640"/>
            <a:ext cx="45720" cy="4206240"/>
          </a:xfrm>
          <a:prstGeom prst="rect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1920240"/>
            <a:ext cx="490118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0A2540"/>
                </a:solidFill>
                <a:latin typeface="DejaVu Sans"/>
              </a:defRPr>
            </a:pPr>
            <a:r>
              <a:t>Investigate and respond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2761488"/>
            <a:ext cx="484632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 b="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Connect host alerts with vulnerability findings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Assign incidents, review evidence and track action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Approve bounded containment and inspect receipts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080760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64748B"/>
                </a:solidFill>
                <a:latin typeface="DejaVu Sans"/>
              </a:defRPr>
            </a:pPr>
            <a:r>
              <a:t>Selected detection signals support investigation; this release does not claim complete EDR coverage.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  <a:latin typeface="DejaVu Sans"/>
              </a:defRPr>
            </a:pPr>
            <a:r>
              <a:t>CONFIDENTIAL • INTERNAL REVIEW  |  19 October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5952" y="6519672"/>
            <a:ext cx="685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  <a:latin typeface="DejaVu Sans"/>
              </a:defRPr>
            </a:pPr>
            <a:r>
              <a:t>02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F38020"/>
                </a:solidFill>
                <a:latin typeface="DejaVu Sans"/>
              </a:defRPr>
            </a:pPr>
            <a:r>
              <a:t>ASSESSMENT +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400" b="1">
                <a:solidFill>
                  <a:srgbClr val="0A2540"/>
                </a:solidFill>
                <a:latin typeface="DejaVu Sans"/>
              </a:defRPr>
            </a:pPr>
            <a:r>
              <a:t>Platform coverage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5404104" cy="42062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45720" cy="4206240"/>
          </a:xfrm>
          <a:prstGeom prst="rect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920240"/>
            <a:ext cx="490118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0A2540"/>
                </a:solidFill>
                <a:latin typeface="DejaVu Sans"/>
              </a:defRPr>
            </a:pPr>
            <a:r>
              <a:t>Assessment modules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761488"/>
            <a:ext cx="484632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 b="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SCA, secrets and static code analysis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Network, cloud, containers and asset discovery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IaC, Kubernetes and external attack surface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API testing and software supply-chain checks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1691640"/>
            <a:ext cx="5404104" cy="42062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81928" y="1691640"/>
            <a:ext cx="45720" cy="4206240"/>
          </a:xfrm>
          <a:prstGeom prst="rect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1920240"/>
            <a:ext cx="490118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0A2540"/>
                </a:solidFill>
                <a:latin typeface="DejaVu Sans"/>
              </a:defRPr>
            </a:pPr>
            <a:r>
              <a:t>Protection and 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2761488"/>
            <a:ext cx="484632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 b="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Linux audit and Windows event adapters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Access, process, malware and integrity signals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SOC console, investigations and agent lifecycle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Signed notifications and approved response plans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080760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64748B"/>
                </a:solidFill>
                <a:latin typeface="DejaVu Sans"/>
              </a:defRPr>
            </a:pPr>
            <a:r>
              <a:t>Assessment and protection services retain separate persistence and deployment boundaries.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  <a:latin typeface="DejaVu Sans"/>
              </a:defRPr>
            </a:pPr>
            <a:r>
              <a:t>CONFIDENTIAL • INTERNAL REVIEW  |  19 October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5952" y="6519672"/>
            <a:ext cx="685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  <a:latin typeface="DejaVu Sans"/>
              </a:defRPr>
            </a:pPr>
            <a:r>
              <a:t>03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F38020"/>
                </a:solidFill>
                <a:latin typeface="DejaVu Sans"/>
              </a:defRPr>
            </a:pPr>
            <a:r>
              <a:t>APPLICATION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400" b="1">
                <a:solidFill>
                  <a:srgbClr val="0A2540"/>
                </a:solidFill>
                <a:latin typeface="DejaVu Sans"/>
              </a:defRPr>
            </a:pPr>
            <a:r>
              <a:t>Software and supply-chain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5404104" cy="42062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45720" cy="4206240"/>
          </a:xfrm>
          <a:prstGeom prst="rect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920240"/>
            <a:ext cx="490118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0A2540"/>
                </a:solidFill>
                <a:latin typeface="DejaVu Sans"/>
              </a:defRPr>
            </a:pPr>
            <a:r>
              <a:t>Code and dependencies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761488"/>
            <a:ext cx="484632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 b="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Trivy, pip-audit and OSV-Scanner collectors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Semgrep and Bandit static analysis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Gitleaks and TruffleHog secret detection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1691640"/>
            <a:ext cx="5404104" cy="42062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81928" y="1691640"/>
            <a:ext cx="45720" cy="4206240"/>
          </a:xfrm>
          <a:prstGeom prst="rect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1920240"/>
            <a:ext cx="490118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0A2540"/>
                </a:solidFill>
                <a:latin typeface="DejaVu Sans"/>
              </a:defRPr>
            </a:pPr>
            <a:r>
              <a:t>Build and artifact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2761488"/>
            <a:ext cx="484632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 b="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Syft software bill of materials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Cosign signature and attestation checks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VEX statements captured in finding evidence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Risk scoring and remediation lifecycle tracking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080760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64748B"/>
                </a:solidFill>
                <a:latin typeface="DejaVu Sans"/>
              </a:defRPr>
            </a:pPr>
            <a:r>
              <a:t>Coverage depends on configured targets, installed tools and available advisory data.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  <a:latin typeface="DejaVu Sans"/>
              </a:defRPr>
            </a:pPr>
            <a:r>
              <a:t>CONFIDENTIAL • INTERNAL REVIEW  |  19 October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5952" y="6519672"/>
            <a:ext cx="685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  <a:latin typeface="DejaVu Sans"/>
              </a:defRPr>
            </a:pPr>
            <a:r>
              <a:t>04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F38020"/>
                </a:solidFill>
                <a:latin typeface="DejaVu Sans"/>
              </a:defRPr>
            </a:pPr>
            <a:r>
              <a:t>EXPOSURE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400" b="1">
                <a:solidFill>
                  <a:srgbClr val="0A2540"/>
                </a:solidFill>
                <a:latin typeface="DejaVu Sans"/>
              </a:defRPr>
            </a:pPr>
            <a:r>
              <a:t>Infrastructure and API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5404104" cy="42062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45720" cy="4206240"/>
          </a:xfrm>
          <a:prstGeom prst="rect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920240"/>
            <a:ext cx="490118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0A2540"/>
                </a:solidFill>
                <a:latin typeface="DejaVu Sans"/>
              </a:defRPr>
            </a:pPr>
            <a:r>
              <a:t>Infrastructure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761488"/>
            <a:ext cx="484632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 b="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Nmap service discovery and testssl.sh TLS checks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Prowler cloud configuration collectors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Checkov / Trivy IaC and Kubernetes posture checks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1691640"/>
            <a:ext cx="5404104" cy="42062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81928" y="1691640"/>
            <a:ext cx="45720" cy="4206240"/>
          </a:xfrm>
          <a:prstGeom prst="rect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1920240"/>
            <a:ext cx="490118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0A2540"/>
                </a:solidFill>
                <a:latin typeface="DejaVu Sans"/>
              </a:defRPr>
            </a:pPr>
            <a:r>
              <a:t>Applications and APIs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2761488"/>
            <a:ext cx="484632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 b="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Nuclei and OWASP ZAP assessment collectors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Target allowlists and active-scan configuration gates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External discovery with Subfinder and httpx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080760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64748B"/>
                </a:solidFill>
                <a:latin typeface="DejaVu Sans"/>
              </a:defRPr>
            </a:pPr>
            <a:r>
              <a:t>Assessment scans complement host monitoring and inline WAF enforcement.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  <a:latin typeface="DejaVu Sans"/>
              </a:defRPr>
            </a:pPr>
            <a:r>
              <a:t>CONFIDENTIAL • INTERNAL REVIEW  |  19 October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5952" y="6519672"/>
            <a:ext cx="685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  <a:latin typeface="DejaVu Sans"/>
              </a:defRPr>
            </a:pPr>
            <a:r>
              <a:t>05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F38020"/>
                </a:solidFill>
                <a:latin typeface="DejaVu Sans"/>
              </a:defRPr>
            </a:pPr>
            <a:r>
              <a:t>SSO TOKEN VERIFICATION + RBAC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400" b="1">
                <a:solidFill>
                  <a:srgbClr val="0A2540"/>
                </a:solidFill>
                <a:latin typeface="DejaVu Sans"/>
              </a:defRPr>
            </a:pPr>
            <a:r>
              <a:t>Verified identity and access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5404104" cy="42062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45720" cy="4206240"/>
          </a:xfrm>
          <a:prstGeom prst="rect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920240"/>
            <a:ext cx="490118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0A2540"/>
                </a:solidFill>
                <a:latin typeface="DejaVu Sans"/>
              </a:defRPr>
            </a:pPr>
            <a:r>
              <a:t>Authentication and roles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761488"/>
            <a:ext cx="484632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 b="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Verify token signature, issuer, audience and expiry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Require signed tenant and explicit role claims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Separate viewer, auditor, analyst and admin rights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Use external identity-provider sign-in and MFA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1691640"/>
            <a:ext cx="5404104" cy="42062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81928" y="1691640"/>
            <a:ext cx="45720" cy="4206240"/>
          </a:xfrm>
          <a:prstGeom prst="rect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1920240"/>
            <a:ext cx="490118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0A2540"/>
                </a:solidFill>
                <a:latin typeface="DejaVu Sans"/>
              </a:defRPr>
            </a:pPr>
            <a:r>
              <a:t>Tenant and approval boundaries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2761488"/>
            <a:ext cx="484632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 b="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Bind assessment transactions to signed tenant ID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Enforce PostgreSQL row-level security policies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Bind protection access to one organisation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Require a different admin to approve playbooks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080760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64748B"/>
                </a:solidFill>
                <a:latin typeface="DejaVu Sans"/>
              </a:defRPr>
            </a:pPr>
            <a:r>
              <a:t>JWT verification and RLS controls are implemented; live IdP integration and database-role enforcement need staging.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  <a:latin typeface="DejaVu Sans"/>
              </a:defRPr>
            </a:pPr>
            <a:r>
              <a:t>CONFIDENTIAL • INTERNAL REVIEW  |  19 October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5952" y="6519672"/>
            <a:ext cx="685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  <a:latin typeface="DejaVu Sans"/>
              </a:defRPr>
            </a:pPr>
            <a:r>
              <a:t>06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F38020"/>
                </a:solidFill>
                <a:latin typeface="DejaVu Sans"/>
              </a:defRPr>
            </a:pPr>
            <a:r>
              <a:t>ALERTS + FINDINGS +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400" b="1">
                <a:solidFill>
                  <a:srgbClr val="0A2540"/>
                </a:solidFill>
                <a:latin typeface="DejaVu Sans"/>
              </a:defRPr>
            </a:pPr>
            <a:r>
              <a:t>Unified operations console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5404104" cy="42062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45720" cy="4206240"/>
          </a:xfrm>
          <a:prstGeom prst="rect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920240"/>
            <a:ext cx="490118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0A2540"/>
                </a:solidFill>
                <a:latin typeface="DejaVu Sans"/>
              </a:defRPr>
            </a:pPr>
            <a:r>
              <a:t>Shared investigation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761488"/>
            <a:ext cx="484632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 b="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View intrusion alerts and vulnerability findings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Inspect agent health, sensor status and version drift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Create and assign incidents from selected alerts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Review response plans before approval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1691640"/>
            <a:ext cx="5404104" cy="42062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81928" y="1691640"/>
            <a:ext cx="45720" cy="4206240"/>
          </a:xfrm>
          <a:prstGeom prst="rect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1920240"/>
            <a:ext cx="490118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0A2540"/>
                </a:solidFill>
                <a:latin typeface="DejaVu Sans"/>
              </a:defRPr>
            </a:pPr>
            <a:r>
              <a:t>Operational safeguards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2761488"/>
            <a:ext cx="484632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 b="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Apply the same API role checks to console actions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Keep access tokens in browser-tab memory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Report unavailable upstream sources explicitly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Retrieve findings through a fixed HTTPS connector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080760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64748B"/>
                </a:solidFill>
                <a:latin typeface="DejaVu Sans"/>
              </a:defRPr>
            </a:pPr>
            <a:r>
              <a:t>The console shows bounded recent lists; it is not an exhaustive cross-platform evidence search.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  <a:latin typeface="DejaVu Sans"/>
              </a:defRPr>
            </a:pPr>
            <a:r>
              <a:t>CONFIDENTIAL • INTERNAL REVIEW  |  19 October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5952" y="6519672"/>
            <a:ext cx="685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  <a:latin typeface="DejaVu Sans"/>
              </a:defRPr>
            </a:pPr>
            <a:r>
              <a:t>07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F38020"/>
                </a:solidFill>
                <a:latin typeface="DejaVu Sans"/>
              </a:defRPr>
            </a:pPr>
            <a:r>
              <a:t>WINDOWS EVENTS + LINUX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400" b="1">
                <a:solidFill>
                  <a:srgbClr val="0A2540"/>
                </a:solidFill>
                <a:latin typeface="DejaVu Sans"/>
              </a:defRPr>
            </a:pPr>
            <a:r>
              <a:t>Broader endpoint telemetry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5404104" cy="42062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45720" cy="4206240"/>
          </a:xfrm>
          <a:prstGeom prst="rect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920240"/>
            <a:ext cx="490118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0A2540"/>
                </a:solidFill>
                <a:latin typeface="DejaVu Sans"/>
              </a:defRPr>
            </a:pPr>
            <a:r>
              <a:t>Windows 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761488"/>
            <a:ext cx="484632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 b="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Security log authentication and network logons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RDP and SMB evidence where source events support it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Sysmon process-creation records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Selected fields without raw command-line capture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1691640"/>
            <a:ext cx="5404104" cy="42062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81928" y="1691640"/>
            <a:ext cx="45720" cy="4206240"/>
          </a:xfrm>
          <a:prstGeom prst="rect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1920240"/>
            <a:ext cx="490118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0A2540"/>
                </a:solidFill>
                <a:latin typeface="DejaVu Sans"/>
              </a:defRPr>
            </a:pPr>
            <a:r>
              <a:t>Linux monitoring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2761488"/>
            <a:ext cx="484632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 b="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Event-driven audit execution records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Existing /proc process polling as a complement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SSH access, API denials and file-integrity signals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Sensor health and missing-telemetry indicators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080760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64748B"/>
                </a:solidFill>
                <a:latin typeface="DejaVu Sans"/>
              </a:defRPr>
            </a:pPr>
            <a:r>
              <a:t>Windows now includes monitoring and approved quarantine, restoration, host isolation and release. Native Windows staging validation is still required.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  <a:latin typeface="DejaVu Sans"/>
              </a:defRPr>
            </a:pPr>
            <a:r>
              <a:t>CONFIDENTIAL • INTERNAL REVIEW  |  19 October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5952" y="6519672"/>
            <a:ext cx="685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  <a:latin typeface="DejaVu Sans"/>
              </a:defRPr>
            </a:pPr>
            <a:r>
              <a:t>08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F38020"/>
                </a:solidFill>
                <a:latin typeface="DejaVu Sans"/>
              </a:defRPr>
            </a:pPr>
            <a:r>
              <a:t>SELECTED HOST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400" b="1">
                <a:solidFill>
                  <a:srgbClr val="0A2540"/>
                </a:solidFill>
                <a:latin typeface="DejaVu Sans"/>
              </a:defRPr>
            </a:pPr>
            <a:r>
              <a:t>Process and malware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5404104" cy="42062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45720" cy="4206240"/>
          </a:xfrm>
          <a:prstGeom prst="rect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920240"/>
            <a:ext cx="490118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0A2540"/>
                </a:solidFill>
                <a:latin typeface="DejaVu Sans"/>
              </a:defRPr>
            </a:pPr>
            <a:r>
              <a:t>Suspicious 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761488"/>
            <a:ext cx="484632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 b="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Recognised web-server parent spawning a shell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Execution from writable temporary locations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Deleted executable signals on Linux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Event-driven records improve short-process visibility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1691640"/>
            <a:ext cx="5404104" cy="42062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81928" y="1691640"/>
            <a:ext cx="45720" cy="4206240"/>
          </a:xfrm>
          <a:prstGeom prst="rect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1920240"/>
            <a:ext cx="490118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0A2540"/>
                </a:solidFill>
                <a:latin typeface="DejaVu Sans"/>
              </a:defRPr>
            </a:pPr>
            <a:r>
              <a:t>Malware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2761488"/>
            <a:ext cx="484632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 b="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Known-bad SHA256 matches on selected targets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Optional ClamAV scans of selected local files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Path, signature and hash retained for review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Unavailable scanners surface degraded 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080760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64748B"/>
                </a:solidFill>
                <a:latin typeface="DejaVu Sans"/>
              </a:defRPr>
            </a:pPr>
            <a:r>
              <a:t>No complete memory scanning, full-disk protection or automatic process-termination claim is made.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  <a:latin typeface="DejaVu Sans"/>
              </a:defRPr>
            </a:pPr>
            <a:r>
              <a:t>CONFIDENTIAL • INTERNAL REVIEW  |  19 October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5952" y="6519672"/>
            <a:ext cx="685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  <a:latin typeface="DejaVu Sans"/>
              </a:defRPr>
            </a:pPr>
            <a:r>
              <a:t>09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F38020"/>
                </a:solidFill>
                <a:latin typeface="DejaVu Sans"/>
              </a:defRPr>
            </a:pPr>
            <a:r>
              <a:t>CROSS-HOST CORRELATION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400" b="1">
                <a:solidFill>
                  <a:srgbClr val="0A2540"/>
                </a:solidFill>
                <a:latin typeface="DejaVu Sans"/>
              </a:defRPr>
            </a:pPr>
            <a:r>
              <a:t>Lateral-movement signals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5404104" cy="42062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45720" cy="4206240"/>
          </a:xfrm>
          <a:prstGeom prst="rect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920240"/>
            <a:ext cx="490118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0A2540"/>
                </a:solidFill>
                <a:latin typeface="DejaVu Sans"/>
              </a:defRPr>
            </a:pPr>
            <a:r>
              <a:t>Correlated 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761488"/>
            <a:ext cx="484632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 b="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Password spraying across multiple hosts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Same-user successful-login fan-out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Suspected pivots from already flagged hosts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Remote-access evidence from supported event sources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1691640"/>
            <a:ext cx="5404104" cy="42062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81928" y="1691640"/>
            <a:ext cx="45720" cy="4206240"/>
          </a:xfrm>
          <a:prstGeom prst="rect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1920240"/>
            <a:ext cx="490118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0A2540"/>
                </a:solidFill>
                <a:latin typeface="DejaVu Sans"/>
              </a:defRPr>
            </a:pPr>
            <a:r>
              <a:t>Investigation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2761488"/>
            <a:ext cx="484632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 b="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Administrator-defined host-to-IP ownership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Time-bounded correlation with retained evidence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Retry, out-of-order and restart handling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Expiring exceptions for reviewed false positives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080760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64748B"/>
                </a:solidFill>
                <a:latin typeface="DejaVu Sans"/>
              </a:defRPr>
            </a:pPr>
            <a:r>
              <a:t>NAT, shared accounts and legitimate automation need review; protocol labels require supporting source evidence.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  <a:latin typeface="DejaVu Sans"/>
              </a:defRPr>
            </a:pPr>
            <a:r>
              <a:t>CONFIDENTIAL • INTERNAL REVIEW  |  19 October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5952" y="6519672"/>
            <a:ext cx="685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  <a:latin typeface="DejaVu Sans"/>
              </a:defRPr>
            </a:pPr>
            <a: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F38020"/>
                </a:solidFill>
                <a:latin typeface="DejaVu Sans"/>
              </a:defRPr>
            </a:pPr>
            <a:r>
              <a:t>MODSECURITY + CLOUDFLARE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400" b="1">
                <a:solidFill>
                  <a:srgbClr val="0A2540"/>
                </a:solidFill>
                <a:latin typeface="DejaVu Sans"/>
              </a:defRPr>
            </a:pPr>
            <a:r>
              <a:t>WAF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5404104" cy="42062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45720" cy="4206240"/>
          </a:xfrm>
          <a:prstGeom prst="rect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920240"/>
            <a:ext cx="490118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0A2540"/>
                </a:solidFill>
                <a:latin typeface="DejaVu Sans"/>
              </a:defRPr>
            </a:pPr>
            <a:r>
              <a:t>On-premises or proxy WAF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761488"/>
            <a:ext cx="484632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 b="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Nginx / ModSecurity and OWASP CRS templates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Sanitised serial-JSON rule-match collection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DetectionOnly starting configuration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No request-body or credential export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1691640"/>
            <a:ext cx="5404104" cy="42062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81928" y="1691640"/>
            <a:ext cx="45720" cy="4206240"/>
          </a:xfrm>
          <a:prstGeom prst="rect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1920240"/>
            <a:ext cx="490118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0A2540"/>
                </a:solidFill>
                <a:latin typeface="DejaVu Sans"/>
              </a:defRPr>
            </a:pPr>
            <a:r>
              <a:t>Cloudflare response connector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2761488"/>
            <a:ext cx="484632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 b="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Use a configured zone and custom-ruleset scope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Apply an approved source-IP block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Embed fixed expiry in the provider rule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Retry cleanup without extending the deadline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080760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64748B"/>
                </a:solidFill>
                <a:latin typeface="DejaVu Sans"/>
              </a:defRPr>
            </a:pPr>
            <a:r>
              <a:t>Rule ordering, provider permissions, propagation and real traffic enforcement remain staging checks.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  <a:latin typeface="DejaVu Sans"/>
              </a:defRPr>
            </a:pPr>
            <a:r>
              <a:t>CONFIDENTIAL • INTERNAL REVIEW  |  19 October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5952" y="6519672"/>
            <a:ext cx="685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  <a:latin typeface="DejaVu Sans"/>
              </a:defRPr>
            </a:pPr>
            <a: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F38020"/>
                </a:solidFill>
                <a:latin typeface="DejaVu Sans"/>
              </a:defRPr>
            </a:pPr>
            <a:r>
              <a:t>APPROVAL + BOUNDED ENFORCEMENT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400" b="1">
                <a:solidFill>
                  <a:srgbClr val="0A2540"/>
                </a:solidFill>
                <a:latin typeface="DejaVu Sans"/>
              </a:defRPr>
            </a:pPr>
            <a:r>
              <a:t>Reviewed local containment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5404104" cy="42062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45720" cy="4206240"/>
          </a:xfrm>
          <a:prstGeom prst="rect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920240"/>
            <a:ext cx="490118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0A2540"/>
                </a:solidFill>
                <a:latin typeface="DejaVu Sans"/>
              </a:defRPr>
            </a:pPr>
            <a:r>
              <a:t>Quarantine and restoration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761488"/>
            <a:ext cx="484632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 b="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Use approved malware path and SHA256 evidence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Linux: private same-filesystem quarantine vault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Windows: file-handle checks and protected ACLs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Restore without overwriting existing files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1691640"/>
            <a:ext cx="5404104" cy="42062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81928" y="1691640"/>
            <a:ext cx="45720" cy="4206240"/>
          </a:xfrm>
          <a:prstGeom prst="rect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1920240"/>
            <a:ext cx="490118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0A2540"/>
                </a:solidFill>
                <a:latin typeface="DejaVu Sans"/>
              </a:defRPr>
            </a:pPr>
            <a:r>
              <a:t>Isolation and release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2761488"/>
            <a:ext cx="484632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 b="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Require separate approval and local policy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Linux: kernel-expiring nftables isolation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Windows: firewall rules with local recovery tasks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Preserve configured management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080760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64748B"/>
                </a:solidFill>
                <a:latin typeface="DejaVu Sans"/>
              </a:defRPr>
            </a:pPr>
            <a:r>
              <a:t>Windows expiry uses local recovery tasks; Linux uses kernel timeouts. Native enforcement and recovery require staging.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  <a:latin typeface="DejaVu Sans"/>
              </a:defRPr>
            </a:pPr>
            <a:r>
              <a:t>CONFIDENTIAL • INTERNAL REVIEW  |  19 October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5952" y="6519672"/>
            <a:ext cx="685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  <a:latin typeface="DejaVu Sans"/>
              </a:defRPr>
            </a:pPr>
            <a: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F38020"/>
                </a:solidFill>
                <a:latin typeface="DejaVu Sans"/>
              </a:defRPr>
            </a:pPr>
            <a:r>
              <a:t>CURRENT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400" b="1">
                <a:solidFill>
                  <a:srgbClr val="0A2540"/>
                </a:solidFill>
                <a:latin typeface="DejaVu Sans"/>
              </a:defRPr>
            </a:pPr>
            <a:r>
              <a:t>How the components fit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5404104" cy="42062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45720" cy="4206240"/>
          </a:xfrm>
          <a:prstGeom prst="rect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920240"/>
            <a:ext cx="490118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0A2540"/>
                </a:solidFill>
                <a:latin typeface="DejaVu Sans"/>
              </a:defRPr>
            </a:pPr>
            <a:r>
              <a:t>Assessment 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761488"/>
            <a:ext cx="484632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 b="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Scanner collectors and orchestration workers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Canonical findings and deterministic risk scoring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Verified API access and PostgreSQL tenant policies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Read-only findings feed into the operations console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1691640"/>
            <a:ext cx="5404104" cy="42062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81928" y="1691640"/>
            <a:ext cx="45720" cy="4206240"/>
          </a:xfrm>
          <a:prstGeom prst="rect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1920240"/>
            <a:ext cx="490118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0A2540"/>
                </a:solidFill>
                <a:latin typeface="DejaVu Sans"/>
              </a:defRPr>
            </a:pPr>
            <a:r>
              <a:t>Protection 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2761488"/>
            <a:ext cx="484632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 b="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Authenticated Linux and Windows agents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One organisation per SQLite operational store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Detection, incidents, policies and response history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Independent delivery and cloud-response worker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080760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64748B"/>
                </a:solidFill>
                <a:latin typeface="DejaVu Sans"/>
              </a:defRPr>
            </a:pPr>
            <a:r>
              <a:t>SQLite protection persistence is not a horizontally scalable or highly available PostgreSQL backend.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  <a:latin typeface="DejaVu Sans"/>
              </a:defRPr>
            </a:pPr>
            <a:r>
              <a:t>CONFIDENTIAL • INTERNAL REVIEW  |  19 October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5952" y="6519672"/>
            <a:ext cx="685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  <a:latin typeface="DejaVu Sans"/>
              </a:defRPr>
            </a:pPr>
            <a: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F38020"/>
                </a:solidFill>
                <a:latin typeface="DejaVu Sans"/>
              </a:defRPr>
            </a:pPr>
            <a:r>
              <a:t>ENROLLMENT + POLICY +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400" b="1">
                <a:solidFill>
                  <a:srgbClr val="0A2540"/>
                </a:solidFill>
                <a:latin typeface="DejaVu Sans"/>
              </a:defRPr>
            </a:pPr>
            <a:r>
              <a:t>Central agent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5404104" cy="42062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45720" cy="4206240"/>
          </a:xfrm>
          <a:prstGeom prst="rect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920240"/>
            <a:ext cx="490118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0A2540"/>
                </a:solidFill>
                <a:latin typeface="DejaVu Sans"/>
              </a:defRPr>
            </a:pPr>
            <a:r>
              <a:t>Credential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761488"/>
            <a:ext cx="484632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 b="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Issue expiring, one-time enrollment credentials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Store hashes of enrolled host credentials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Rotate keys and revoke agent access centrally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Cancel unexecuted responses after revocation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1691640"/>
            <a:ext cx="5404104" cy="42062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81928" y="1691640"/>
            <a:ext cx="45720" cy="4206240"/>
          </a:xfrm>
          <a:prstGeom prst="rect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1920240"/>
            <a:ext cx="490118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0A2540"/>
                </a:solidFill>
                <a:latin typeface="DejaVu Sans"/>
              </a:defRPr>
            </a:pPr>
            <a:r>
              <a:t>Inventory and policy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2761488"/>
            <a:ext cx="484632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 b="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Track platform, agent version and queue health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Record administrator policy-version history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Flag drift from the desired software version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Keep privileged response enablement local to hosts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080760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64748B"/>
                </a:solidFill>
                <a:latin typeface="DejaVu Sans"/>
              </a:defRPr>
            </a:pPr>
            <a:r>
              <a:t>Agent software upgrades use an administrator-controlled rollout; this release does not remotely execute upgrades.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  <a:latin typeface="DejaVu Sans"/>
              </a:defRPr>
            </a:pPr>
            <a:r>
              <a:t>CONFIDENTIAL • INTERNAL REVIEW  |  19 October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5952" y="6519672"/>
            <a:ext cx="685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  <a:latin typeface="DejaVu Sans"/>
              </a:defRPr>
            </a:pPr>
            <a: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F38020"/>
                </a:solidFill>
                <a:latin typeface="DejaVu Sans"/>
              </a:defRPr>
            </a:pPr>
            <a:r>
              <a:t>OWNERSHIP + EVIDENCE +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400" b="1">
                <a:solidFill>
                  <a:srgbClr val="0A2540"/>
                </a:solidFill>
                <a:latin typeface="DejaVu Sans"/>
              </a:defRPr>
            </a:pPr>
            <a:r>
              <a:t>Incident and notification workflows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5404104" cy="42062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45720" cy="4206240"/>
          </a:xfrm>
          <a:prstGeom prst="rect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920240"/>
            <a:ext cx="490118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0A2540"/>
                </a:solidFill>
                <a:latin typeface="DejaVu Sans"/>
              </a:defRPr>
            </a:pPr>
            <a:r>
              <a:t>Investigation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761488"/>
            <a:ext cx="484632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 b="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Link alerts to owned incident cases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Track status, notes and evidence timelines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Protect concurrent edits with case versions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Review alerts and add scoped, expiring exceptions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1691640"/>
            <a:ext cx="5404104" cy="42062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81928" y="1691640"/>
            <a:ext cx="45720" cy="4206240"/>
          </a:xfrm>
          <a:prstGeom prst="rect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1920240"/>
            <a:ext cx="490118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0A2540"/>
                </a:solidFill>
                <a:latin typeface="DejaVu Sans"/>
              </a:defRPr>
            </a:pPr>
            <a:r>
              <a:t>SIEM and ticketing bridges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2761488"/>
            <a:ext cx="484632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 b="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Send signed JSON to fixed HTTPS endpoints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Persist delivery state, leases and retry attempts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Attach stable keys for receiver deduplication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Audit outcomes without storing upstream secrets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080760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64748B"/>
                </a:solidFill>
                <a:latin typeface="DejaVu Sans"/>
              </a:defRPr>
            </a:pPr>
            <a:r>
              <a:t>Webhooks support organisation-operated adapters; native Jira, ServiceNow or Splunk connectors are not implied.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  <a:latin typeface="DejaVu Sans"/>
              </a:defRPr>
            </a:pPr>
            <a:r>
              <a:t>CONFIDENTIAL • INTERNAL REVIEW  |  19 October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5952" y="6519672"/>
            <a:ext cx="685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  <a:latin typeface="DejaVu Sans"/>
              </a:defRPr>
            </a:pPr>
            <a: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F38020"/>
                </a:solidFill>
                <a:latin typeface="DejaVu Sans"/>
              </a:defRPr>
            </a:pPr>
            <a:r>
              <a:t>RECOVERY + MAINTENANCE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400" b="1">
                <a:solidFill>
                  <a:srgbClr val="0A2540"/>
                </a:solidFill>
                <a:latin typeface="DejaVu Sans"/>
              </a:defRPr>
            </a:pPr>
            <a:r>
              <a:t>Reliable delivery and retention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5404104" cy="42062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45720" cy="4206240"/>
          </a:xfrm>
          <a:prstGeom prst="rect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920240"/>
            <a:ext cx="490118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0A2540"/>
                </a:solidFill>
                <a:latin typeface="DejaVu Sans"/>
              </a:defRPr>
            </a:pPr>
            <a:r>
              <a:t>Telemetry continuity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761488"/>
            <a:ext cx="484632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 b="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Keep events until exact acknowledgement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Replay retained events after service outages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Pause collection visibly when the queue is full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Archive older events without fresh containment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1691640"/>
            <a:ext cx="5404104" cy="42062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81928" y="1691640"/>
            <a:ext cx="45720" cy="4206240"/>
          </a:xfrm>
          <a:prstGeom prst="rect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1920240"/>
            <a:ext cx="490118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0A2540"/>
                </a:solidFill>
                <a:latin typeface="DejaVu Sans"/>
              </a:defRPr>
            </a:pPr>
            <a:r>
              <a:t>Evidence maintenance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2761488"/>
            <a:ext cx="484632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 b="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Create consistent SQLite backups and verify restore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Preview retention cleanup before applying it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Preserve incident and response-linked evidence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Create offline-agent and stale-sensor alerts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080760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64748B"/>
                </a:solidFill>
                <a:latin typeface="DejaVu Sans"/>
              </a:defRPr>
            </a:pPr>
            <a:r>
              <a:t>Schedule maintenance explicitly and measure capacity, recovery objectives and backup security in the target environment.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  <a:latin typeface="DejaVu Sans"/>
              </a:defRPr>
            </a:pPr>
            <a:r>
              <a:t>CONFIDENTIAL • INTERNAL REVIEW  |  19 October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5952" y="6519672"/>
            <a:ext cx="685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  <a:latin typeface="DejaVu Sans"/>
              </a:defRPr>
            </a:pPr>
            <a: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F38020"/>
                </a:solidFill>
                <a:latin typeface="DejaVu Sans"/>
              </a:defRPr>
            </a:pPr>
            <a:r>
              <a:t>AUTOMATED SECURITY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400" b="1">
                <a:solidFill>
                  <a:srgbClr val="0A2540"/>
                </a:solidFill>
                <a:latin typeface="DejaVu Sans"/>
              </a:defRPr>
            </a:pPr>
            <a:r>
              <a:t>Implementation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5404104" cy="42062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45720" cy="4206240"/>
          </a:xfrm>
          <a:prstGeom prst="rect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920240"/>
            <a:ext cx="490118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0A2540"/>
                </a:solidFill>
                <a:latin typeface="DejaVu Sans"/>
              </a:defRPr>
            </a:pPr>
            <a:r>
              <a:t>Security and protection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761488"/>
            <a:ext cx="484632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 b="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Signed-token rejection, roles and tenant controls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Enrollment, revocation and case concurrency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Windows/audit parsing and outage handling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Durable notification retries and retention behavior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1691640"/>
            <a:ext cx="5404104" cy="42062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81928" y="1691640"/>
            <a:ext cx="45720" cy="4206240"/>
          </a:xfrm>
          <a:prstGeom prst="rect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1920240"/>
            <a:ext cx="490118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0A2540"/>
                </a:solidFill>
                <a:latin typeface="DejaVu Sans"/>
              </a:defRPr>
            </a:pPr>
            <a:r>
              <a:t>Workflow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2761488"/>
            <a:ext cx="484632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 b="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Separate-actor approval through execution receipt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Linux/Windows quarantine and restore workflows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Mocked cloud-WAF expiry, cleanup and revocation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Console interaction and synthetic detector scenarios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080760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64748B"/>
                </a:solidFill>
                <a:latin typeface="DejaVu Sans"/>
              </a:defRPr>
            </a:pPr>
            <a:r>
              <a:t>Automated security/protection and end-to-end tests exercise code paths; mocked enforcement does not establish live efficacy.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  <a:latin typeface="DejaVu Sans"/>
              </a:defRPr>
            </a:pPr>
            <a:r>
              <a:t>CONFIDENTIAL • INTERNAL REVIEW  |  19 October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5952" y="6519672"/>
            <a:ext cx="685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  <a:latin typeface="DejaVu Sans"/>
              </a:defRPr>
            </a:pPr>
            <a: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F38020"/>
                </a:solidFill>
                <a:latin typeface="DejaVu Sans"/>
              </a:defRPr>
            </a:pPr>
            <a:r>
              <a:t>DEPLOYMENT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400" b="1">
                <a:solidFill>
                  <a:srgbClr val="0A2540"/>
                </a:solidFill>
                <a:latin typeface="DejaVu Sans"/>
              </a:defRPr>
            </a:pPr>
            <a:r>
              <a:t>Required staging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5404104" cy="42062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45720" cy="4206240"/>
          </a:xfrm>
          <a:prstGeom prst="rect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920240"/>
            <a:ext cx="490118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0A2540"/>
                </a:solidFill>
                <a:latin typeface="DejaVu Sans"/>
              </a:defRPr>
            </a:pPr>
            <a:r>
              <a:t>Identity and host environment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761488"/>
            <a:ext cx="484632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 b="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External identity-provider issuance and revocation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PostgreSQL RLS with the deployed runtime role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Windows Security/Sysmon and Linux audit collection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ClamAV installation, signatures and scan results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1691640"/>
            <a:ext cx="5404104" cy="42062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81928" y="1691640"/>
            <a:ext cx="45720" cy="4206240"/>
          </a:xfrm>
          <a:prstGeom prst="rect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1920240"/>
            <a:ext cx="490118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0A2540"/>
                </a:solidFill>
                <a:latin typeface="DejaVu Sans"/>
              </a:defRPr>
            </a:pPr>
            <a:r>
              <a:t>Enforcement and workload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2761488"/>
            <a:ext cx="484632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 b="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Cloudflare permissions, expiry and rule ordering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ModSecurity / CRS tuning and real intervention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Linux/Windows isolation, expiry and rollback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False positives, overhead, backlog and recovery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080760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64748B"/>
                </a:solidFill>
                <a:latin typeface="DejaVu Sans"/>
              </a:defRPr>
            </a:pPr>
            <a:r>
              <a:t>No production IdP changes, external notifications, cloud-WAF rules or live host firewall changes were made here.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  <a:latin typeface="DejaVu Sans"/>
              </a:defRPr>
            </a:pPr>
            <a:r>
              <a:t>CONFIDENTIAL • INTERNAL REVIEW  |  19 October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5952" y="6519672"/>
            <a:ext cx="685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  <a:latin typeface="DejaVu Sans"/>
              </a:defRPr>
            </a:pPr>
            <a: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F38020"/>
                </a:solidFill>
                <a:latin typeface="DejaVu Sans"/>
              </a:defRPr>
            </a:pPr>
            <a:r>
              <a:t>NEXT ENGINEERING PRIORITIES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400" b="1">
                <a:solidFill>
                  <a:srgbClr val="0A2540"/>
                </a:solidFill>
                <a:latin typeface="DejaVu Sans"/>
              </a:defRPr>
            </a:pPr>
            <a:r>
              <a:t>Further enhancement opportunities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5404104" cy="42062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45720" cy="4206240"/>
          </a:xfrm>
          <a:prstGeom prst="rect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920240"/>
            <a:ext cx="490118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0A2540"/>
                </a:solidFill>
                <a:latin typeface="DejaVu Sans"/>
              </a:defRPr>
            </a:pPr>
            <a:r>
              <a:t>Scale and endpoint depth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761488"/>
            <a:ext cx="484632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 b="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Benchmark real organisation workloads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Design operational HA and enterprise persistence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Extend process, memory and network visibility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Validate Windows fleet coverage and recovery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1691640"/>
            <a:ext cx="5404104" cy="42062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81928" y="1691640"/>
            <a:ext cx="45720" cy="4206240"/>
          </a:xfrm>
          <a:prstGeom prst="rect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1920240"/>
            <a:ext cx="490118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0A2540"/>
                </a:solidFill>
                <a:latin typeface="DejaVu Sans"/>
              </a:defRPr>
            </a:pPr>
            <a:r>
              <a:t>Integration and rollout maturity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2761488"/>
            <a:ext cx="484632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 b="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Add provider-specific WAF and ticket adapters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Expand labelled detection evaluation datasets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Strengthen signed-package upgrade orchestration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Measure production coverage and response 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080760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64748B"/>
                </a:solidFill>
                <a:latin typeface="DejaVu Sans"/>
              </a:defRPr>
            </a:pPr>
            <a:r>
              <a:t>These are future extensions; central enrollment, verified access, the SOC console and reviewed playbooks are now implemented.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  <a:latin typeface="DejaVu Sans"/>
              </a:defRPr>
            </a:pPr>
            <a:r>
              <a:t>CONFIDENTIAL • INTERNAL REVIEW  |  19 October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5952" y="6519672"/>
            <a:ext cx="685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  <a:latin typeface="DejaVu Sans"/>
              </a:defRPr>
            </a:pPr>
            <a: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F38020"/>
                </a:solidFill>
                <a:latin typeface="DejaVu Sans"/>
              </a:defRPr>
            </a:pPr>
            <a:r>
              <a:t>VALIDATE BEFORE PRODUCTION ROLLOUT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400" b="1">
                <a:solidFill>
                  <a:srgbClr val="0A2540"/>
                </a:solidFill>
                <a:latin typeface="DejaVu Sans"/>
              </a:defRPr>
            </a:pPr>
            <a:r>
              <a:t>Proposed 30-day pilot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5404104" cy="42062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45720" cy="4206240"/>
          </a:xfrm>
          <a:prstGeom prst="rect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920240"/>
            <a:ext cx="490118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0A2540"/>
                </a:solidFill>
                <a:latin typeface="DejaVu Sans"/>
              </a:defRPr>
            </a:pPr>
            <a:r>
              <a:t>Weeks 1–2: establish coverage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761488"/>
            <a:ext cx="484632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 b="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Confirm owners, asset scope and identity integration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Enroll selected Linux and Windows staging hosts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Enable native audit sources and stage the WAF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Baseline normal activity and review noisy signals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1691640"/>
            <a:ext cx="5404104" cy="42062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81928" y="1691640"/>
            <a:ext cx="45720" cy="4206240"/>
          </a:xfrm>
          <a:prstGeom prst="rect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1920240"/>
            <a:ext cx="490118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0A2540"/>
                </a:solidFill>
                <a:latin typeface="DejaVu Sans"/>
              </a:defRPr>
            </a:pPr>
            <a:r>
              <a:t>Weeks 3–4: validate and decide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2761488"/>
            <a:ext cx="484632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 b="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Exercise incident and signed-notification workflows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Validate quarantine, isolation, expiry and rollback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Test outage replay, retention and verified recovery</a:t>
            </a:r>
          </a:p>
          <a:p>
            <a:pPr marL="182880" indent="-164592"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4155"/>
                </a:solidFill>
                <a:latin typeface="DejaVu Sans"/>
              </a:defRPr>
              <a:buChar char="•"/>
            </a:pPr>
            <a:r>
              <a:t>Agree measurable production acceptance criteria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080760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64748B"/>
                </a:solidFill>
                <a:latin typeface="DejaVu Sans"/>
              </a:defRPr>
            </a:pPr>
            <a:r>
              <a:t>Pilot scope and dates are proposals; rollout follows evidence from staging and an approved operational runbook.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  <a:latin typeface="DejaVu Sans"/>
              </a:defRPr>
            </a:pPr>
            <a:r>
              <a:t>CONFIDENTIAL • INTERNAL REVIEW  |  19 October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5952" y="6519672"/>
            <a:ext cx="685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  <a:latin typeface="DejaVu Sans"/>
              </a:defRPr>
            </a:pPr>
            <a: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VulnSuite 0.4 — assessment, operations and approved response</dc:title>
  <dc:subject>Implemented operations release, automated validation and live staging gates</dc:subject>
  <dc:creator>VulnSuite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