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VulnSuite is an internal security platform that finds and prioritises vulnerabilities, monitors servers for intrusion and coordinates approved response. It connects assessment findings with operational evidence while keeping responsibility, review and deployment requirements visible.</a:t>
            </a:r>
          </a:p>
          <a:p>
            <a:r>
              <a:t>Scope: Introducing VulnSuite | Built for Indian BFSI: RBI Cyber Security Framework and CERT-In obligations are embedded in every finding.</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teams need a clear path from identifying exposure to deciding what action is justified. VulnSuite supports that process by linking findings, suspicious activity and investigation records, helping analysts prioritise work and document their decisions.</a:t>
            </a:r>
          </a:p>
          <a:p>
            <a:r>
              <a:t>Scope: Selected detection signals support investigation; coverage is not equivalent to a complete EDR platform.</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assets expose different kinds of risk, from vulnerable libraries to unsafe cloud settings and suspicious host activity. VulnSuite brings assessment and monitoring into a common operational context, with coverage determined by configured tools and telemetry sources.</a:t>
            </a:r>
          </a:p>
          <a:p>
            <a:r>
              <a:t>Scope: Assessment and protection services retain separate persistence and deployment boundaries.</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risk engine scores every finding, whichever tool produced it, so one queue replaces twenty tool-specific reports. Regulatory context travels with the finding: the RBI clause it maps to, and for critical items the CERT-In incident record needed within six hours.</a:t>
            </a:r>
          </a:p>
          <a:p>
            <a:r>
              <a:t>Scope: Missing CVSS falls back to severity; missing EPSS uses a configured floor so nothing is silently dropped.</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Applications inherit risk from their own code, third-party dependencies and build artifacts. These checks help teams understand what software contains, identify known weaknesses and retain supporting evidence so remediation and software release decisions can be reviewed.</a:t>
            </a:r>
          </a:p>
          <a:p>
            <a:r>
              <a:t>Scope: Coverage depends on configured targets, installed tools and available advisory data.</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Exposed services, weak configurations and application interfaces can create paths into an organisation. Assessment collectors identify these conditions across selected targets, giving teams evidence to prioritise fixes and confirm which systems need closer investigation.</a:t>
            </a:r>
          </a:p>
          <a:p>
            <a:r>
              <a:t>Scope: Assessment scans complement host monitoring and inline WAF enforcement.</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estates change daily. Discovery keeps the asset inventory current across Azure, AWS and GCP, and posture benchmarks run under credentials that an administrator has explicitly bound to the tenant, so a scan can never reach further than the account it was approved for.</a:t>
            </a:r>
          </a:p>
          <a:p>
            <a:r>
              <a:t>Scope: Read-only cloud roles are expected; VulnSuite never requests write permissions in the target accounts.</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scanning platform is itself a risk if it can be pointed at systems the organisation does not own. VulnSuite scans private networks freely but requires an administrator to attest ownership of public domains and ranges, and validates every target before it reaches a scanner.</a:t>
            </a:r>
          </a:p>
          <a:p>
            <a:r>
              <a:t>Scope: A bypassed API check is still caught at worker time; defence in depth is deliberate.</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operations involve sensitive evidence and actions that can interrupt services. Verified identity and explicit permissions establish who may act, while PostgreSQL enforces tenant boundaries itself, so an application bug cannot expose another organisation’s data.</a:t>
            </a:r>
          </a:p>
          <a:p>
            <a:r>
              <a:t>Scope: JWT verification and RLS controls are implemented; live IdP integration and database-role enforcement need staging.</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Auditors and incident reviewers need to know who did what, when, and why a risk was accepted. Every authenticated API call is recorded in a table nobody can rewrite, and analyst decisions carry a justification, an owner and an expiry that the platform enforces.</a:t>
            </a:r>
          </a:p>
          <a:p>
            <a:r>
              <a:t>Scope: A finding is auto-closed only when the tool that reported it completed cleanly and no longer reports it.</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analyst investigating an alert needs to understand the affected host, its known weaknesses and any response already underway. The console brings that context together, helping teams coordinate investigation while making unavailable information visible.</a:t>
            </a:r>
          </a:p>
          <a:p>
            <a:r>
              <a:t>Scope: The console shows bounded recent lists; it is not an exhaustive cross-platform evidence search.</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 monitoring depends on collecting useful activity from the operating system and making gaps visible. Windows event sources and Linux audit records provide investigation evidence, while sensor health indicators help teams distinguish quiet systems from missing telemetry.</a:t>
            </a:r>
          </a:p>
          <a:p>
            <a:r>
              <a:t>Scope: Windows and Linux support monitoring and approved containment. Native enforcement and recovery require staging validation.</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Selected process patterns and reviewed malware indicators provide clues that warrant investigation. A known-bad hash match supplies specific file evidence; analysts can review its context before approving action, while missing scanners or telemetry remain visible as coverage limitations.</a:t>
            </a:r>
          </a:p>
          <a:p>
            <a:r>
              <a:t>Scope: Coverage excludes complete memory scanning and full-disk protection. File quarantine does not terminate a running process.</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that appears ordinary on one server can become suspicious when repeated across several hosts. Correlating authentication events helps analysts recognise possible account misuse or movement between systems, while retaining context needed to assess legitimate administrative activity.</a:t>
            </a:r>
          </a:p>
          <a:p>
            <a:r>
              <a:t>Scope: NAT, shared accounts and legitimate automation need review; protocol labels require supporting source evidence.</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application firewalls provide an enforcement point for traffic reaching protected applications. Connecting their signals with investigations helps teams understand attempted abuse and review scoped blocking decisions, with tuning and deployment checks needed to avoid disrupting legitimate requests.</a:t>
            </a:r>
          </a:p>
          <a:p>
            <a:r>
              <a:t>Scope: Rule ordering, provider permissions, propagation and real traffic enforcement remain staging checks.</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Containment can interrupt business services, so response decisions need clear evidence and accountability. VulnSuite places file quarantine, process termination, host isolation, identity and WAF response behind separate approval and local policy checks, with recorded outcomes and reviewed recovery paths.</a:t>
            </a:r>
          </a:p>
          <a:p>
            <a:r>
              <a:t>Scope: Containment is disabled by default. Every action needs a second administrator; pre-approved isolation exists only for ransomware with dual opt-in.</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Attackers encrypt data and erase their tracks. Decoy files, change-rate and entropy signals give the SOC minutes of warning on a share, while tamper signals, sequence numbers and a hash chain show when logs or stored evidence were altered, by which process and when.</a:t>
            </a:r>
          </a:p>
          <a:p>
            <a:r>
              <a:t>Scope: Encryption is detected at the next poll, not prevented; backups decide the outcome. The chain proves alteration, the off-host copy is the protection.</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assessment service evaluates exposure; the protection service handles telemetry, investigations and response. Their separate responsibilities help teams plan access, storage, maintenance and integration around the requirements of each service.</a:t>
            </a:r>
          </a:p>
          <a:p>
            <a:r>
              <a:t>Scope: SQLite protection persistence is not a horizontally scalable or highly available PostgreSQL backend.</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monitoring depends on knowing which agents are enrolled, authorised and reporting correctly. Central lifecycle controls help maintain that inventory, replace credentials, withdraw access and identify policy or version differences that require administrator attention.</a:t>
            </a:r>
          </a:p>
          <a:p>
            <a:r>
              <a:t>Scope: Agent software installation and upgrades use an administrator-controlled rollout.</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Investigations often involve several people and external operational systems. Incident records preserve ownership and decisions, while signed notifications carry relevant information to organisation-operated integrations, helping teams coordinate work and recover delivery after temporary service failures.</a:t>
            </a:r>
          </a:p>
          <a:p>
            <a:r>
              <a:t>Scope: Webhooks support organisation-operated adapters; native Jira, ServiceNow or Splunk connectors are not implied.</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interruptions and growing evidence volumes can affect security operations. Persistent queues and acknowledgement checks support recovery after outages, while backup and retention controls help teams manage stored evidence according to investigation needs and operational requirements.</a:t>
            </a:r>
          </a:p>
          <a:p>
            <a:r>
              <a:t>Scope: Schedule maintenance explicitly and measure capacity, recovery objectives and backup security in the target environment.</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security tool that downloads twenty scanners is a supply-chain target. Every binary in the image is pinned to a known checksum and verified at build time, the containers run unprivileged, and the whole stack can operate without internet access using locally mirrored vulnerability data.</a:t>
            </a:r>
          </a:p>
          <a:p>
            <a:r>
              <a:t>Scope: Tests fail the build if any download lacks a pin or the runtime user is removed.</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results demonstrate exercised code paths and selected native file behaviours. They provide evidence for technical review, while full containment effectiveness, host compatibility and operational performance require testing in the intended environment.</a:t>
            </a:r>
          </a:p>
          <a:p>
            <a:r>
              <a:t>Scope: Automated tests and narrow native file checks do not establish live containment efficacy or production readiness.</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conditions determine whether security controls work as intended. Staging should verify identity, database roles, telemetry, permissions, enforcement and recovery together, including how containment behaves during service interruptions and host restarts.</a:t>
            </a:r>
          </a:p>
          <a:p>
            <a:r>
              <a:t>Scope: Validate native Windows ACLs, firewall enforcement, scheduled-task expiry and reboot recovery before enabling containment.</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suitable deployment starts with clear asset scope, accountable owners and measurable acceptance criteria. These decisions help teams assess coverage, operational impact, recovery expectations and the conditions under which approved response should be enabled.</a:t>
            </a:r>
          </a:p>
          <a:p>
            <a:r>
              <a:t>Scope: Production deployment requires environment-specific validation and an approved operating procedure.</a:t>
            </a:r>
          </a:p>
          <a:p>
            <a:r>
              <a:t>How to use: docs/HOW_TO_USE.md</a:t>
            </a:r>
          </a:p>
          <a:p>
            <a:r>
              <a:t>Engineering reference: vulnsuite/CLAUDE.md</a:t>
            </a:r>
          </a:p>
          <a:p>
            <a:r>
              <a:t>Protection operations: vulnsuite/protection/OPERATIONS.md and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VULNERABILITY ASSESSMENT + SERVER PROTECTION + SECURITY OPERATIONS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VulnSuite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VulnSuite is an internal security platform that finds and prioritises vulnerabilities, monitors servers for intrusion and coordinates approved response. It connects assessment findings with operational evidence while keeping responsibility, review and deployment requirements visible.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What the suite does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Finds vulnerabilities across code, cloud, containers, hosts and APIs</a:t>
            </a:r>
          </a:p>
          <a:p>
            <a:pPr marL="182880" indent="-164592">
              <a:lnSpc>
                <a:spcPts val="2200"/>
              </a:lnSpc>
              <a:spcAft>
                <a:spcPts val="800"/>
              </a:spcAft>
              <a:buChar char="•"/>
              <a:defRPr sz="1700">
                <a:solidFill>
                  <a:srgbClr val="334155"/>
                </a:solidFill>
                <a:latin typeface="DejaVu Sans"/>
              </a:defRPr>
            </a:pPr>
            <a:r>
              <a:t>Scores and prioritises them by business risk</a:t>
            </a:r>
          </a:p>
          <a:p>
            <a:pPr marL="182880" indent="-164592">
              <a:lnSpc>
                <a:spcPts val="2200"/>
              </a:lnSpc>
              <a:spcAft>
                <a:spcPts val="800"/>
              </a:spcAft>
              <a:buChar char="•"/>
              <a:defRPr sz="1700">
                <a:solidFill>
                  <a:srgbClr val="334155"/>
                </a:solidFill>
                <a:latin typeface="DejaVu Sans"/>
              </a:defRPr>
            </a:pPr>
            <a:r>
              <a:t>Monitors Linux and Windows servers for intrusion</a:t>
            </a:r>
          </a:p>
          <a:p>
            <a:pPr marL="182880" indent="-164592">
              <a:lnSpc>
                <a:spcPts val="2200"/>
              </a:lnSpc>
              <a:spcAft>
                <a:spcPts val="800"/>
              </a:spcAft>
              <a:buChar char="•"/>
              <a:defRPr sz="1700">
                <a:solidFill>
                  <a:srgbClr val="334155"/>
                </a:solidFill>
                <a:latin typeface="DejaVu Sans"/>
              </a:defRPr>
            </a:pPr>
            <a:r>
              <a:t>Coordinates investigation and approved response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How it is governed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Identity-provider login, four least-privilege roles</a:t>
            </a:r>
          </a:p>
          <a:p>
            <a:pPr marL="182880" indent="-164592">
              <a:lnSpc>
                <a:spcPts val="2200"/>
              </a:lnSpc>
              <a:spcAft>
                <a:spcPts val="800"/>
              </a:spcAft>
              <a:buChar char="•"/>
              <a:defRPr sz="1700">
                <a:solidFill>
                  <a:srgbClr val="334155"/>
                </a:solidFill>
                <a:latin typeface="DejaVu Sans"/>
              </a:defRPr>
            </a:pPr>
            <a:r>
              <a:t>Tenant isolation enforced inside PostgreSQL</a:t>
            </a:r>
          </a:p>
          <a:p>
            <a:pPr marL="182880" indent="-164592">
              <a:lnSpc>
                <a:spcPts val="2200"/>
              </a:lnSpc>
              <a:spcAft>
                <a:spcPts val="800"/>
              </a:spcAft>
              <a:buChar char="•"/>
              <a:defRPr sz="1700">
                <a:solidFill>
                  <a:srgbClr val="334155"/>
                </a:solidFill>
                <a:latin typeface="DejaVu Sans"/>
              </a:defRPr>
            </a:pPr>
            <a:r>
              <a:t>Immutable audit trail of every API action</a:t>
            </a:r>
          </a:p>
          <a:p>
            <a:pPr marL="182880" indent="-164592">
              <a:lnSpc>
                <a:spcPts val="2200"/>
              </a:lnSpc>
              <a:spcAft>
                <a:spcPts val="800"/>
              </a:spcAft>
              <a:buChar char="•"/>
              <a:defRPr sz="1700">
                <a:solidFill>
                  <a:srgbClr val="334155"/>
                </a:solidFill>
                <a:latin typeface="DejaVu Sans"/>
              </a:defRPr>
            </a:pPr>
            <a:r>
              <a:t>Passive by default; scans need explicit authorisation</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Introducing VulnSuite | Built for Indian BFSI: RBI Cyber Security Framework and CERT-In obligations are embedded in every finding.</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SECURITY OUTCOMES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What the suite addresses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Security teams need a clear path from identifying exposure to deciding what action is justified. VulnSuite supports that process by linking findings, suspicious activity and investigation records, helping analysts prioritise work and document their decisions.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Reduce exposure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Find vulnerable software and unsafe configurations</a:t>
            </a:r>
          </a:p>
          <a:p>
            <a:pPr marL="182880" indent="-164592">
              <a:lnSpc>
                <a:spcPts val="2200"/>
              </a:lnSpc>
              <a:spcAft>
                <a:spcPts val="800"/>
              </a:spcAft>
              <a:buChar char="•"/>
              <a:defRPr sz="1700">
                <a:solidFill>
                  <a:srgbClr val="334155"/>
                </a:solidFill>
                <a:latin typeface="DejaVu Sans"/>
              </a:defRPr>
            </a:pPr>
            <a:r>
              <a:t>Assess exposed services, APIs, TLS and cloud posture</a:t>
            </a:r>
          </a:p>
          <a:p>
            <a:pPr marL="182880" indent="-164592">
              <a:lnSpc>
                <a:spcPts val="2200"/>
              </a:lnSpc>
              <a:spcAft>
                <a:spcPts val="800"/>
              </a:spcAft>
              <a:buChar char="•"/>
              <a:defRPr sz="1700">
                <a:solidFill>
                  <a:srgbClr val="334155"/>
                </a:solidFill>
                <a:latin typeface="DejaVu Sans"/>
              </a:defRPr>
            </a:pPr>
            <a:r>
              <a:t>Turn thousands of raw CVEs into a short P0–P4 queue</a:t>
            </a:r>
          </a:p>
          <a:p>
            <a:pPr marL="182880" indent="-164592">
              <a:lnSpc>
                <a:spcPts val="2200"/>
              </a:lnSpc>
              <a:spcAft>
                <a:spcPts val="800"/>
              </a:spcAft>
              <a:buChar char="•"/>
              <a:defRPr sz="1700">
                <a:solidFill>
                  <a:srgbClr val="334155"/>
                </a:solidFill>
                <a:latin typeface="DejaVu Sans"/>
              </a:defRPr>
            </a:pPr>
            <a:r>
              <a:t>Track remediation, acceptance and false positives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Investigate and respond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Connect host alerts with vulnerability findings</a:t>
            </a:r>
          </a:p>
          <a:p>
            <a:pPr marL="182880" indent="-164592">
              <a:lnSpc>
                <a:spcPts val="2200"/>
              </a:lnSpc>
              <a:spcAft>
                <a:spcPts val="800"/>
              </a:spcAft>
              <a:buChar char="•"/>
              <a:defRPr sz="1700">
                <a:solidFill>
                  <a:srgbClr val="334155"/>
                </a:solidFill>
                <a:latin typeface="DejaVu Sans"/>
              </a:defRPr>
            </a:pPr>
            <a:r>
              <a:t>Assign incidents, review evidence and track action</a:t>
            </a:r>
          </a:p>
          <a:p>
            <a:pPr marL="182880" indent="-164592">
              <a:lnSpc>
                <a:spcPts val="2200"/>
              </a:lnSpc>
              <a:spcAft>
                <a:spcPts val="800"/>
              </a:spcAft>
              <a:buChar char="•"/>
              <a:defRPr sz="1700">
                <a:solidFill>
                  <a:srgbClr val="334155"/>
                </a:solidFill>
                <a:latin typeface="DejaVu Sans"/>
              </a:defRPr>
            </a:pPr>
            <a:r>
              <a:t>Approve bounded containment and inspect receipts</a:t>
            </a:r>
          </a:p>
          <a:p>
            <a:pPr marL="182880" indent="-164592">
              <a:lnSpc>
                <a:spcPts val="2200"/>
              </a:lnSpc>
              <a:spcAft>
                <a:spcPts val="800"/>
              </a:spcAft>
              <a:buChar char="•"/>
              <a:defRPr sz="1700">
                <a:solidFill>
                  <a:srgbClr val="334155"/>
                </a:solidFill>
                <a:latin typeface="DejaVu Sans"/>
              </a:defRPr>
            </a:pPr>
            <a:r>
              <a:t>Answer auditors from one evidence trail</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Selected detection signals support investigation; coverage is not equivalent to a complete EDR platform.</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12 ASSESSMENT MODULES, 22 TOOLS, 2 HOST PLATFORMS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Platform coverage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Different assets expose different kinds of risk, from vulnerable libraries to unsafe cloud settings and suspicious host activity. VulnSuite brings assessment and monitoring into a common operational context, with coverage determined by configured tools and telemetry sources.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Assessment modules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SCA, secrets and static code analysis</a:t>
            </a:r>
          </a:p>
          <a:p>
            <a:pPr marL="182880" indent="-164592">
              <a:lnSpc>
                <a:spcPts val="2200"/>
              </a:lnSpc>
              <a:spcAft>
                <a:spcPts val="800"/>
              </a:spcAft>
              <a:buChar char="•"/>
              <a:defRPr sz="1700">
                <a:solidFill>
                  <a:srgbClr val="334155"/>
                </a:solidFill>
                <a:latin typeface="DejaVu Sans"/>
              </a:defRPr>
            </a:pPr>
            <a:r>
              <a:t>Network, cloud, containers and asset discovery</a:t>
            </a:r>
          </a:p>
          <a:p>
            <a:pPr marL="182880" indent="-164592">
              <a:lnSpc>
                <a:spcPts val="2200"/>
              </a:lnSpc>
              <a:spcAft>
                <a:spcPts val="800"/>
              </a:spcAft>
              <a:buChar char="•"/>
              <a:defRPr sz="1700">
                <a:solidFill>
                  <a:srgbClr val="334155"/>
                </a:solidFill>
                <a:latin typeface="DejaVu Sans"/>
              </a:defRPr>
            </a:pPr>
            <a:r>
              <a:t>IaC, Kubernetes and external attack surface</a:t>
            </a:r>
          </a:p>
          <a:p>
            <a:pPr marL="182880" indent="-164592">
              <a:lnSpc>
                <a:spcPts val="2200"/>
              </a:lnSpc>
              <a:spcAft>
                <a:spcPts val="800"/>
              </a:spcAft>
              <a:buChar char="•"/>
              <a:defRPr sz="1700">
                <a:solidFill>
                  <a:srgbClr val="334155"/>
                </a:solidFill>
                <a:latin typeface="DejaVu Sans"/>
              </a:defRPr>
            </a:pPr>
            <a:r>
              <a:t>API testing and software supply-chain checks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Protection and operations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Linux audit and Windows event adapters</a:t>
            </a:r>
          </a:p>
          <a:p>
            <a:pPr marL="182880" indent="-164592">
              <a:lnSpc>
                <a:spcPts val="2200"/>
              </a:lnSpc>
              <a:spcAft>
                <a:spcPts val="800"/>
              </a:spcAft>
              <a:buChar char="•"/>
              <a:defRPr sz="1700">
                <a:solidFill>
                  <a:srgbClr val="334155"/>
                </a:solidFill>
                <a:latin typeface="DejaVu Sans"/>
              </a:defRPr>
            </a:pPr>
            <a:r>
              <a:t>Access, process, malware and integrity signals</a:t>
            </a:r>
          </a:p>
          <a:p>
            <a:pPr marL="182880" indent="-164592">
              <a:lnSpc>
                <a:spcPts val="2200"/>
              </a:lnSpc>
              <a:spcAft>
                <a:spcPts val="800"/>
              </a:spcAft>
              <a:buChar char="•"/>
              <a:defRPr sz="1700">
                <a:solidFill>
                  <a:srgbClr val="334155"/>
                </a:solidFill>
                <a:latin typeface="DejaVu Sans"/>
              </a:defRPr>
            </a:pPr>
            <a:r>
              <a:t>SOC console, investigations and agent lifecycle</a:t>
            </a:r>
          </a:p>
          <a:p>
            <a:pPr marL="182880" indent="-164592">
              <a:lnSpc>
                <a:spcPts val="2200"/>
              </a:lnSpc>
              <a:spcAft>
                <a:spcPts val="800"/>
              </a:spcAft>
              <a:buChar char="•"/>
              <a:defRPr sz="1700">
                <a:solidFill>
                  <a:srgbClr val="334155"/>
                </a:solidFill>
                <a:latin typeface="DejaVu Sans"/>
              </a:defRPr>
            </a:pPr>
            <a:r>
              <a:t>Signed notifications and approved response plans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Assessment and protection services retain separate persistence and deployment boundaries.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CVSS × EPSS × CRITICALITY × EXPOSURE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Risk prioritisation and compliance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 single risk engine scores every finding, whichever tool produced it, so one queue replaces twenty tool-specific reports. Regulatory context travels with the finding: the RBI clause it maps to, and for critical items the CERT-In incident record needed within six hours.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One score, five buckets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Every finding scored on exploit likelihood and asset context</a:t>
            </a:r>
          </a:p>
          <a:p>
            <a:pPr marL="182880" indent="-164592">
              <a:lnSpc>
                <a:spcPts val="2200"/>
              </a:lnSpc>
              <a:spcAft>
                <a:spcPts val="800"/>
              </a:spcAft>
              <a:buChar char="•"/>
              <a:defRPr sz="1700">
                <a:solidFill>
                  <a:srgbClr val="334155"/>
                </a:solidFill>
                <a:latin typeface="DejaVu Sans"/>
              </a:defRPr>
            </a:pPr>
            <a:r>
              <a:t>P0 ≥ 7.0 starts the CERT-In six-hour clock automatically</a:t>
            </a:r>
          </a:p>
          <a:p>
            <a:pPr marL="182880" indent="-164592">
              <a:lnSpc>
                <a:spcPts val="2200"/>
              </a:lnSpc>
              <a:spcAft>
                <a:spcPts val="800"/>
              </a:spcAft>
              <a:buChar char="•"/>
              <a:defRPr sz="1700">
                <a:solidFill>
                  <a:srgbClr val="334155"/>
                </a:solidFill>
                <a:latin typeface="DejaVu Sans"/>
              </a:defRPr>
            </a:pPr>
            <a:r>
              <a:t>Cross-tool corroboration recorded for auditors</a:t>
            </a:r>
          </a:p>
          <a:p>
            <a:pPr marL="182880" indent="-164592">
              <a:lnSpc>
                <a:spcPts val="2200"/>
              </a:lnSpc>
              <a:spcAft>
                <a:spcPts val="800"/>
              </a:spcAft>
              <a:buChar char="•"/>
              <a:defRPr sz="1700">
                <a:solidFill>
                  <a:srgbClr val="334155"/>
                </a:solidFill>
                <a:latin typeface="DejaVu Sans"/>
              </a:defRPr>
            </a:pPr>
            <a:r>
              <a:t>AI advisory signals never alter the deterministic score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Regulatory mapping</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RBI CSF Annex-I clause cited on each finding</a:t>
            </a:r>
          </a:p>
          <a:p>
            <a:pPr marL="182880" indent="-164592">
              <a:lnSpc>
                <a:spcPts val="2200"/>
              </a:lnSpc>
              <a:spcAft>
                <a:spcPts val="800"/>
              </a:spcAft>
              <a:buChar char="•"/>
              <a:defRPr sz="1700">
                <a:solidFill>
                  <a:srgbClr val="334155"/>
                </a:solidFill>
                <a:latin typeface="DejaVu Sans"/>
              </a:defRPr>
            </a:pPr>
            <a:r>
              <a:t>CERT-In incident JSON generated for every P0</a:t>
            </a:r>
          </a:p>
          <a:p>
            <a:pPr marL="182880" indent="-164592">
              <a:lnSpc>
                <a:spcPts val="2200"/>
              </a:lnSpc>
              <a:spcAft>
                <a:spcPts val="800"/>
              </a:spcAft>
              <a:buChar char="•"/>
              <a:defRPr sz="1700">
                <a:solidFill>
                  <a:srgbClr val="334155"/>
                </a:solidFill>
                <a:latin typeface="DejaVu Sans"/>
              </a:defRPr>
            </a:pPr>
            <a:r>
              <a:t>CIS, ISO 27001, NIST 800-53 and OWASP via scanner packs</a:t>
            </a:r>
          </a:p>
          <a:p>
            <a:pPr marL="182880" indent="-164592">
              <a:lnSpc>
                <a:spcPts val="2200"/>
              </a:lnSpc>
              <a:spcAft>
                <a:spcPts val="800"/>
              </a:spcAft>
              <a:buChar char="•"/>
              <a:defRPr sz="1700">
                <a:solidFill>
                  <a:srgbClr val="334155"/>
                </a:solidFill>
                <a:latin typeface="DejaVu Sans"/>
              </a:defRPr>
            </a:pPr>
            <a:r>
              <a:t>Tamper-evident PDF reports with SHA-256 footer</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Missing CVSS falls back to severity; missing EPSS uses a configured floor so nothing is silently dropped.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APPLICATION SECURITY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Software and supply-chain risk</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Applications inherit risk from their own code, third-party dependencies and build artifacts. These checks help teams understand what software contains, identify known weaknesses and retain supporting evidence so remediation and software release decisions can be reviewed.</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Code and dependencies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Trivy, pip-audit and OSV-Scanner collectors</a:t>
            </a:r>
          </a:p>
          <a:p>
            <a:pPr marL="182880" indent="-164592">
              <a:lnSpc>
                <a:spcPts val="2200"/>
              </a:lnSpc>
              <a:spcAft>
                <a:spcPts val="800"/>
              </a:spcAft>
              <a:buChar char="•"/>
              <a:defRPr sz="1700">
                <a:solidFill>
                  <a:srgbClr val="334155"/>
                </a:solidFill>
                <a:latin typeface="DejaVu Sans"/>
              </a:defRPr>
            </a:pPr>
            <a:r>
              <a:t>Semgrep and Bandit static analysis</a:t>
            </a:r>
          </a:p>
          <a:p>
            <a:pPr marL="182880" indent="-164592">
              <a:lnSpc>
                <a:spcPts val="2200"/>
              </a:lnSpc>
              <a:spcAft>
                <a:spcPts val="800"/>
              </a:spcAft>
              <a:buChar char="•"/>
              <a:defRPr sz="1700">
                <a:solidFill>
                  <a:srgbClr val="334155"/>
                </a:solidFill>
                <a:latin typeface="DejaVu Sans"/>
              </a:defRPr>
            </a:pPr>
            <a:r>
              <a:t>Gitleaks and TruffleHog secret detection, values redacted</a:t>
            </a:r>
          </a:p>
          <a:p>
            <a:pPr marL="182880" indent="-164592">
              <a:lnSpc>
                <a:spcPts val="2200"/>
              </a:lnSpc>
              <a:spcAft>
                <a:spcPts val="800"/>
              </a:spcAft>
              <a:buChar char="•"/>
              <a:defRPr sz="1700">
                <a:solidFill>
                  <a:srgbClr val="334155"/>
                </a:solidFill>
                <a:latin typeface="DejaVu Sans"/>
              </a:defRPr>
            </a:pPr>
            <a:r>
              <a:t>Checkov and Trivy infrastructure-as-code checks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Build and artifact evidence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Syft software bill of materials</a:t>
            </a:r>
          </a:p>
          <a:p>
            <a:pPr marL="182880" indent="-164592">
              <a:lnSpc>
                <a:spcPts val="2200"/>
              </a:lnSpc>
              <a:spcAft>
                <a:spcPts val="800"/>
              </a:spcAft>
              <a:buChar char="•"/>
              <a:defRPr sz="1700">
                <a:solidFill>
                  <a:srgbClr val="334155"/>
                </a:solidFill>
                <a:latin typeface="DejaVu Sans"/>
              </a:defRPr>
            </a:pPr>
            <a:r>
              <a:t>Cosign signature and SLSA attestation checks</a:t>
            </a:r>
          </a:p>
          <a:p>
            <a:pPr marL="182880" indent="-164592">
              <a:lnSpc>
                <a:spcPts val="2200"/>
              </a:lnSpc>
              <a:spcAft>
                <a:spcPts val="800"/>
              </a:spcAft>
              <a:buChar char="•"/>
              <a:defRPr sz="1700">
                <a:solidFill>
                  <a:srgbClr val="334155"/>
                </a:solidFill>
                <a:latin typeface="DejaVu Sans"/>
              </a:defRPr>
            </a:pPr>
            <a:r>
              <a:t>VEX statements applied as documented downgrades</a:t>
            </a:r>
          </a:p>
          <a:p>
            <a:pPr marL="182880" indent="-164592">
              <a:lnSpc>
                <a:spcPts val="2200"/>
              </a:lnSpc>
              <a:spcAft>
                <a:spcPts val="800"/>
              </a:spcAft>
              <a:buChar char="•"/>
              <a:defRPr sz="1700">
                <a:solidFill>
                  <a:srgbClr val="334155"/>
                </a:solidFill>
                <a:latin typeface="DejaVu Sans"/>
              </a:defRPr>
            </a:pPr>
            <a:r>
              <a:t>Air-gap verification with a pinned public key</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Coverage depends on configured targets, installed tools and available advisory data.</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EXPOSURE MANAGEMENT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Infrastructure and API assessment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Exposed services, weak configurations and application interfaces can create paths into an organisation. Assessment collectors identify these conditions across selected targets, giving teams evidence to prioritise fixes and confirm which systems need closer investigation.</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Infrastructure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Passive nmap service discovery, aggressive modes refused</a:t>
            </a:r>
          </a:p>
          <a:p>
            <a:pPr marL="182880" indent="-164592">
              <a:lnSpc>
                <a:spcPts val="2200"/>
              </a:lnSpc>
              <a:spcAft>
                <a:spcPts val="800"/>
              </a:spcAft>
              <a:buChar char="•"/>
              <a:defRPr sz="1700">
                <a:solidFill>
                  <a:srgbClr val="334155"/>
                </a:solidFill>
                <a:latin typeface="DejaVu Sans"/>
              </a:defRPr>
            </a:pPr>
            <a:r>
              <a:t>testssl.sh TLS hygiene checks</a:t>
            </a:r>
          </a:p>
          <a:p>
            <a:pPr marL="182880" indent="-164592">
              <a:lnSpc>
                <a:spcPts val="2200"/>
              </a:lnSpc>
              <a:spcAft>
                <a:spcPts val="800"/>
              </a:spcAft>
              <a:buChar char="•"/>
              <a:defRPr sz="1700">
                <a:solidFill>
                  <a:srgbClr val="334155"/>
                </a:solidFill>
                <a:latin typeface="DejaVu Sans"/>
              </a:defRPr>
            </a:pPr>
            <a:r>
              <a:t>Kubescape cluster posture and runtime image scans</a:t>
            </a:r>
          </a:p>
          <a:p>
            <a:pPr marL="182880" indent="-164592">
              <a:lnSpc>
                <a:spcPts val="2200"/>
              </a:lnSpc>
              <a:spcAft>
                <a:spcPts val="800"/>
              </a:spcAft>
              <a:buChar char="•"/>
              <a:defRPr sz="1700">
                <a:solidFill>
                  <a:srgbClr val="334155"/>
                </a:solidFill>
                <a:latin typeface="DejaVu Sans"/>
              </a:defRPr>
            </a:pPr>
            <a:r>
              <a:t>Dockle container hardening checks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Applications and APIs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Nuclei and OWASP ZAP assessment collectors</a:t>
            </a:r>
          </a:p>
          <a:p>
            <a:pPr marL="182880" indent="-164592">
              <a:lnSpc>
                <a:spcPts val="2200"/>
              </a:lnSpc>
              <a:spcAft>
                <a:spcPts val="800"/>
              </a:spcAft>
              <a:buChar char="•"/>
              <a:defRPr sz="1700">
                <a:solidFill>
                  <a:srgbClr val="334155"/>
                </a:solidFill>
                <a:latin typeface="DejaVu Sans"/>
              </a:defRPr>
            </a:pPr>
            <a:r>
              <a:t>Dynamic testing off by default, three independent gates</a:t>
            </a:r>
          </a:p>
          <a:p>
            <a:pPr marL="182880" indent="-164592">
              <a:lnSpc>
                <a:spcPts val="2200"/>
              </a:lnSpc>
              <a:spcAft>
                <a:spcPts val="800"/>
              </a:spcAft>
              <a:buChar char="•"/>
              <a:defRPr sz="1700">
                <a:solidFill>
                  <a:srgbClr val="334155"/>
                </a:solidFill>
                <a:latin typeface="DejaVu Sans"/>
              </a:defRPr>
            </a:pPr>
            <a:r>
              <a:t>External discovery with Subfinder and httpx</a:t>
            </a:r>
          </a:p>
          <a:p>
            <a:pPr marL="182880" indent="-164592">
              <a:lnSpc>
                <a:spcPts val="2200"/>
              </a:lnSpc>
              <a:spcAft>
                <a:spcPts val="800"/>
              </a:spcAft>
              <a:buChar char="•"/>
              <a:defRPr sz="1700">
                <a:solidFill>
                  <a:srgbClr val="334155"/>
                </a:solidFill>
                <a:latin typeface="DejaVu Sans"/>
              </a:defRPr>
            </a:pPr>
            <a:r>
              <a:t>Enumerated hosts filtered to authorised domains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Assessment scans complement host monitoring and inline WAF enforcement.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AZURE + AWS + GCP</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Cloud posture and discovery</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Cloud estates change daily. Discovery keeps the asset inventory current across Azure, AWS and GCP, and posture benchmarks run under credentials that an administrator has explicitly bound to the tenant, so a scan can never reach further than the account it was approved for.</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Posture and inventory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Prowler Azure, AWS and GCP configuration benchmarks</a:t>
            </a:r>
          </a:p>
          <a:p>
            <a:pPr marL="182880" indent="-164592">
              <a:lnSpc>
                <a:spcPts val="2200"/>
              </a:lnSpc>
              <a:spcAft>
                <a:spcPts val="800"/>
              </a:spcAft>
              <a:buChar char="•"/>
              <a:defRPr sz="1700">
                <a:solidFill>
                  <a:srgbClr val="334155"/>
                </a:solidFill>
                <a:latin typeface="DejaVu Sans"/>
              </a:defRPr>
            </a:pPr>
            <a:r>
              <a:t>Azure Resource Graph, AWS and gcloud asset discovery</a:t>
            </a:r>
          </a:p>
          <a:p>
            <a:pPr marL="182880" indent="-164592">
              <a:lnSpc>
                <a:spcPts val="2200"/>
              </a:lnSpc>
              <a:spcAft>
                <a:spcPts val="800"/>
              </a:spcAft>
              <a:buChar char="•"/>
              <a:defRPr sz="1700">
                <a:solidFill>
                  <a:srgbClr val="334155"/>
                </a:solidFill>
                <a:latin typeface="DejaVu Sans"/>
              </a:defRPr>
            </a:pPr>
            <a:r>
              <a:t>Kubernetes context enumeration and domain discovery</a:t>
            </a:r>
          </a:p>
          <a:p>
            <a:pPr marL="182880" indent="-164592">
              <a:lnSpc>
                <a:spcPts val="2200"/>
              </a:lnSpc>
              <a:spcAft>
                <a:spcPts val="800"/>
              </a:spcAft>
              <a:buChar char="•"/>
              <a:defRPr sz="1700">
                <a:solidFill>
                  <a:srgbClr val="334155"/>
                </a:solidFill>
                <a:latin typeface="DejaVu Sans"/>
              </a:defRPr>
            </a:pPr>
            <a:r>
              <a:t>Nightly scheduled discovery per tenant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Credential discipline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Each cloud account bound to one tenant by an admin</a:t>
            </a:r>
          </a:p>
          <a:p>
            <a:pPr marL="182880" indent="-164592">
              <a:lnSpc>
                <a:spcPts val="2200"/>
              </a:lnSpc>
              <a:spcAft>
                <a:spcPts val="800"/>
              </a:spcAft>
              <a:buChar char="•"/>
              <a:defRPr sz="1700">
                <a:solidFill>
                  <a:srgbClr val="334155"/>
                </a:solidFill>
                <a:latin typeface="DejaVu Sans"/>
              </a:defRPr>
            </a:pPr>
            <a:r>
              <a:t>Bindings hold references only; secrets are rejected</a:t>
            </a:r>
          </a:p>
          <a:p>
            <a:pPr marL="182880" indent="-164592">
              <a:lnSpc>
                <a:spcPts val="2200"/>
              </a:lnSpc>
              <a:spcAft>
                <a:spcPts val="800"/>
              </a:spcAft>
              <a:buChar char="•"/>
              <a:defRPr sz="1700">
                <a:solidFill>
                  <a:srgbClr val="334155"/>
                </a:solidFill>
                <a:latin typeface="DejaVu Sans"/>
              </a:defRPr>
            </a:pPr>
            <a:r>
              <a:t>Collectors run under the bound account, ambient keys stripped</a:t>
            </a:r>
          </a:p>
          <a:p>
            <a:pPr marL="182880" indent="-164592">
              <a:lnSpc>
                <a:spcPts val="2200"/>
              </a:lnSpc>
              <a:spcAft>
                <a:spcPts val="800"/>
              </a:spcAft>
              <a:buChar char="•"/>
              <a:defRPr sz="1700">
                <a:solidFill>
                  <a:srgbClr val="334155"/>
                </a:solidFill>
                <a:latin typeface="DejaVu Sans"/>
              </a:defRPr>
            </a:pPr>
            <a:r>
              <a:t>Unbound accounts fail closed, never widen scope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Read-only cloud roles are expected; VulnSuite never requests write permissions in the target accounts.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OWN-ASSETS ONLY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Scan authorisation and target safety</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 scanning platform is itself a risk if it can be pointed at systems the organisation does not own. VulnSuite scans private networks freely but requires an administrator to attest ownership of public domains and ranges, and validates every target before it reaches a scanner.</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Who may scan what</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Private address space scannable by definition</a:t>
            </a:r>
          </a:p>
          <a:p>
            <a:pPr marL="182880" indent="-164592">
              <a:lnSpc>
                <a:spcPts val="2200"/>
              </a:lnSpc>
              <a:spcAft>
                <a:spcPts val="800"/>
              </a:spcAft>
              <a:buChar char="•"/>
              <a:defRPr sz="1700">
                <a:solidFill>
                  <a:srgbClr val="334155"/>
                </a:solidFill>
                <a:latin typeface="DejaVu Sans"/>
              </a:defRPr>
            </a:pPr>
            <a:r>
              <a:t>Public hosts need an admin-approved domain or network scope</a:t>
            </a:r>
          </a:p>
          <a:p>
            <a:pPr marL="182880" indent="-164592">
              <a:lnSpc>
                <a:spcPts val="2200"/>
              </a:lnSpc>
              <a:spcAft>
                <a:spcPts val="800"/>
              </a:spcAft>
              <a:buChar char="•"/>
              <a:defRPr sz="1700">
                <a:solidFill>
                  <a:srgbClr val="334155"/>
                </a:solidFill>
                <a:latin typeface="DejaVu Sans"/>
              </a:defRPr>
            </a:pPr>
            <a:r>
              <a:t>Hostnames resolved before the check, no literal-only bypass</a:t>
            </a:r>
          </a:p>
          <a:p>
            <a:pPr marL="182880" indent="-164592">
              <a:lnSpc>
                <a:spcPts val="2200"/>
              </a:lnSpc>
              <a:spcAft>
                <a:spcPts val="800"/>
              </a:spcAft>
              <a:buChar char="•"/>
              <a:defRPr sz="1700">
                <a:solidFill>
                  <a:srgbClr val="334155"/>
                </a:solidFill>
                <a:latin typeface="DejaVu Sans"/>
              </a:defRPr>
            </a:pPr>
            <a:r>
              <a:t>Rules enforced in the API and again in the worker</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Safe inputs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Every target field validated for format and shell safety</a:t>
            </a:r>
          </a:p>
          <a:p>
            <a:pPr marL="182880" indent="-164592">
              <a:lnSpc>
                <a:spcPts val="2200"/>
              </a:lnSpc>
              <a:spcAft>
                <a:spcPts val="800"/>
              </a:spcAft>
              <a:buChar char="•"/>
              <a:defRPr sz="1700">
                <a:solidFill>
                  <a:srgbClr val="334155"/>
                </a:solidFill>
                <a:latin typeface="DejaVu Sans"/>
              </a:defRPr>
            </a:pPr>
            <a:r>
              <a:t>Repository paths confined to a workspace root</a:t>
            </a:r>
          </a:p>
          <a:p>
            <a:pPr marL="182880" indent="-164592">
              <a:lnSpc>
                <a:spcPts val="2200"/>
              </a:lnSpc>
              <a:spcAft>
                <a:spcPts val="800"/>
              </a:spcAft>
              <a:buChar char="•"/>
              <a:defRPr sz="1700">
                <a:solidFill>
                  <a:srgbClr val="334155"/>
                </a:solidFill>
                <a:latin typeface="DejaVu Sans"/>
              </a:defRPr>
            </a:pPr>
            <a:r>
              <a:t>Scanner binaries receive targets after an explicit separator</a:t>
            </a:r>
          </a:p>
          <a:p>
            <a:pPr marL="182880" indent="-164592">
              <a:lnSpc>
                <a:spcPts val="2200"/>
              </a:lnSpc>
              <a:spcAft>
                <a:spcPts val="800"/>
              </a:spcAft>
              <a:buChar char="•"/>
              <a:defRPr sz="1700">
                <a:solidFill>
                  <a:srgbClr val="334155"/>
                </a:solidFill>
                <a:latin typeface="DejaVu Sans"/>
              </a:defRPr>
            </a:pPr>
            <a:r>
              <a:t>Rejected requests recorded as denied in the audit trail</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 bypassed API check is still caught at worker time; defence in depth is deliberate.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SSO TOKEN VERIFICATION + ROW-LEVEL SECURITY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Verified identity and tenant isolation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Security operations involve sensitive evidence and actions that can interrupt services. Verified identity and explicit permissions establish who may act, while PostgreSQL enforces tenant boundaries itself, so an application bug cannot expose another organisation’s data.</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Authentication and roles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Verify token signature, issuer, audience and expiry</a:t>
            </a:r>
          </a:p>
          <a:p>
            <a:pPr marL="182880" indent="-164592">
              <a:lnSpc>
                <a:spcPts val="2200"/>
              </a:lnSpc>
              <a:spcAft>
                <a:spcPts val="800"/>
              </a:spcAft>
              <a:buChar char="•"/>
              <a:defRPr sz="1700">
                <a:solidFill>
                  <a:srgbClr val="334155"/>
                </a:solidFill>
                <a:latin typeface="DejaVu Sans"/>
              </a:defRPr>
            </a:pPr>
            <a:r>
              <a:t>Require signed tenant and explicit role claims</a:t>
            </a:r>
          </a:p>
          <a:p>
            <a:pPr marL="182880" indent="-164592">
              <a:lnSpc>
                <a:spcPts val="2200"/>
              </a:lnSpc>
              <a:spcAft>
                <a:spcPts val="800"/>
              </a:spcAft>
              <a:buChar char="•"/>
              <a:defRPr sz="1700">
                <a:solidFill>
                  <a:srgbClr val="334155"/>
                </a:solidFill>
                <a:latin typeface="DejaVu Sans"/>
              </a:defRPr>
            </a:pPr>
            <a:r>
              <a:t>Admin, analyst, auditor and viewer rights</a:t>
            </a:r>
          </a:p>
          <a:p>
            <a:pPr marL="182880" indent="-164592">
              <a:lnSpc>
                <a:spcPts val="2200"/>
              </a:lnSpc>
              <a:spcAft>
                <a:spcPts val="800"/>
              </a:spcAft>
              <a:buChar char="•"/>
              <a:defRPr sz="1700">
                <a:solidFill>
                  <a:srgbClr val="334155"/>
                </a:solidFill>
                <a:latin typeface="DejaVu Sans"/>
              </a:defRPr>
            </a:pPr>
            <a:r>
              <a:t>Sign-in and MFA follow identity-provider policy</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Database boundaries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Forced row-level security on all five tenant tables</a:t>
            </a:r>
          </a:p>
          <a:p>
            <a:pPr marL="182880" indent="-164592">
              <a:lnSpc>
                <a:spcPts val="2200"/>
              </a:lnSpc>
              <a:spcAft>
                <a:spcPts val="800"/>
              </a:spcAft>
              <a:buChar char="•"/>
              <a:defRPr sz="1700">
                <a:solidFill>
                  <a:srgbClr val="334155"/>
                </a:solidFill>
                <a:latin typeface="DejaVu Sans"/>
              </a:defRPr>
            </a:pPr>
            <a:r>
              <a:t>Tenant bound to every transaction from the token</a:t>
            </a:r>
          </a:p>
          <a:p>
            <a:pPr marL="182880" indent="-164592">
              <a:lnSpc>
                <a:spcPts val="2200"/>
              </a:lnSpc>
              <a:spcAft>
                <a:spcPts val="800"/>
              </a:spcAft>
              <a:buChar char="•"/>
              <a:defRPr sz="1700">
                <a:solidFill>
                  <a:srgbClr val="334155"/>
                </a:solidFill>
                <a:latin typeface="DejaVu Sans"/>
              </a:defRPr>
            </a:pPr>
            <a:r>
              <a:t>Schema owner separated from the runtime database role</a:t>
            </a:r>
          </a:p>
          <a:p>
            <a:pPr marL="182880" indent="-164592">
              <a:lnSpc>
                <a:spcPts val="2200"/>
              </a:lnSpc>
              <a:spcAft>
                <a:spcPts val="800"/>
              </a:spcAft>
              <a:buChar char="•"/>
              <a:defRPr sz="1700">
                <a:solidFill>
                  <a:srgbClr val="334155"/>
                </a:solidFill>
                <a:latin typeface="DejaVu Sans"/>
              </a:defRPr>
            </a:pPr>
            <a:r>
              <a:t>Runtime role cannot alter policies or audit rows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JWT verification and RLS controls are implemented; live IdP integration and database-role enforcement need staging.</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ACCOUNTABILITY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Audit trail and analyst triage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Auditors and incident reviewers need to know who did what, when, and why a risk was accepted. Every authenticated API call is recorded in a table nobody can rewrite, and analyst decisions carry a justification, an owner and an expiry that the platform enforces.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Immutable API audit trail</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Actor, tenant, action, outcome and client IP per call</a:t>
            </a:r>
          </a:p>
          <a:p>
            <a:pPr marL="182880" indent="-164592">
              <a:lnSpc>
                <a:spcPts val="2200"/>
              </a:lnSpc>
              <a:spcAft>
                <a:spcPts val="800"/>
              </a:spcAft>
              <a:buChar char="•"/>
              <a:defRPr sz="1700">
                <a:solidFill>
                  <a:srgbClr val="334155"/>
                </a:solidFill>
                <a:latin typeface="DejaVu Sans"/>
              </a:defRPr>
            </a:pPr>
            <a:r>
              <a:t>Request IDs echoed back for log correlation</a:t>
            </a:r>
          </a:p>
          <a:p>
            <a:pPr marL="182880" indent="-164592">
              <a:lnSpc>
                <a:spcPts val="2200"/>
              </a:lnSpc>
              <a:spcAft>
                <a:spcPts val="800"/>
              </a:spcAft>
              <a:buChar char="•"/>
              <a:defRPr sz="1700">
                <a:solidFill>
                  <a:srgbClr val="334155"/>
                </a:solidFill>
                <a:latin typeface="DejaVu Sans"/>
              </a:defRPr>
            </a:pPr>
            <a:r>
              <a:t>Handler detail: targets requested, triage changes made</a:t>
            </a:r>
          </a:p>
          <a:p>
            <a:pPr marL="182880" indent="-164592">
              <a:lnSpc>
                <a:spcPts val="2200"/>
              </a:lnSpc>
              <a:spcAft>
                <a:spcPts val="800"/>
              </a:spcAft>
              <a:buChar char="•"/>
              <a:defRPr sz="1700">
                <a:solidFill>
                  <a:srgbClr val="334155"/>
                </a:solidFill>
                <a:latin typeface="DejaVu Sans"/>
              </a:defRPr>
            </a:pPr>
            <a:r>
              <a:t>Insert-only table guarded by a database trigger</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Triage workflow</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Open, triaged, accepted and false-positive states</a:t>
            </a:r>
          </a:p>
          <a:p>
            <a:pPr marL="182880" indent="-164592">
              <a:lnSpc>
                <a:spcPts val="2200"/>
              </a:lnSpc>
              <a:spcAft>
                <a:spcPts val="800"/>
              </a:spcAft>
              <a:buChar char="•"/>
              <a:defRPr sz="1700">
                <a:solidFill>
                  <a:srgbClr val="334155"/>
                </a:solidFill>
                <a:latin typeface="DejaVu Sans"/>
              </a:defRPr>
            </a:pPr>
            <a:r>
              <a:t>Justification required for acceptance and false positive</a:t>
            </a:r>
          </a:p>
          <a:p>
            <a:pPr marL="182880" indent="-164592">
              <a:lnSpc>
                <a:spcPts val="2200"/>
              </a:lnSpc>
              <a:spcAft>
                <a:spcPts val="800"/>
              </a:spcAft>
              <a:buChar char="•"/>
              <a:defRPr sz="1700">
                <a:solidFill>
                  <a:srgbClr val="334155"/>
                </a:solidFill>
                <a:latin typeface="DejaVu Sans"/>
              </a:defRPr>
            </a:pPr>
            <a:r>
              <a:t>Acceptances expire within 365 days and reopen automatically</a:t>
            </a:r>
          </a:p>
          <a:p>
            <a:pPr marL="182880" indent="-164592">
              <a:lnSpc>
                <a:spcPts val="2200"/>
              </a:lnSpc>
              <a:spcAft>
                <a:spcPts val="800"/>
              </a:spcAft>
              <a:buChar char="•"/>
              <a:defRPr sz="1700">
                <a:solidFill>
                  <a:srgbClr val="334155"/>
                </a:solidFill>
                <a:latin typeface="DejaVu Sans"/>
              </a:defRPr>
            </a:pPr>
            <a:r>
              <a:t>Re-scans never silently close analyst-owned findings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 finding is auto-closed only when the tool that reported it completed cleanly and no longer reports it.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ALERTS + FINDINGS + AGENTS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Unified operations console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An analyst investigating an alert needs to understand the affected host, its known weaknesses and any response already underway. The console brings that context together, helping teams coordinate investigation while making unavailable information visible.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Shared investigation view</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View intrusion alerts and vulnerability findings</a:t>
            </a:r>
          </a:p>
          <a:p>
            <a:pPr marL="182880" indent="-164592">
              <a:lnSpc>
                <a:spcPts val="2200"/>
              </a:lnSpc>
              <a:spcAft>
                <a:spcPts val="800"/>
              </a:spcAft>
              <a:buChar char="•"/>
              <a:defRPr sz="1700">
                <a:solidFill>
                  <a:srgbClr val="334155"/>
                </a:solidFill>
                <a:latin typeface="DejaVu Sans"/>
              </a:defRPr>
            </a:pPr>
            <a:r>
              <a:t>Inspect agent health, sensor status and version drift</a:t>
            </a:r>
          </a:p>
          <a:p>
            <a:pPr marL="182880" indent="-164592">
              <a:lnSpc>
                <a:spcPts val="2200"/>
              </a:lnSpc>
              <a:spcAft>
                <a:spcPts val="800"/>
              </a:spcAft>
              <a:buChar char="•"/>
              <a:defRPr sz="1700">
                <a:solidFill>
                  <a:srgbClr val="334155"/>
                </a:solidFill>
                <a:latin typeface="DejaVu Sans"/>
              </a:defRPr>
            </a:pPr>
            <a:r>
              <a:t>Create and assign incidents from selected alerts</a:t>
            </a:r>
          </a:p>
          <a:p>
            <a:pPr marL="182880" indent="-164592">
              <a:lnSpc>
                <a:spcPts val="2200"/>
              </a:lnSpc>
              <a:spcAft>
                <a:spcPts val="800"/>
              </a:spcAft>
              <a:buChar char="•"/>
              <a:defRPr sz="1700">
                <a:solidFill>
                  <a:srgbClr val="334155"/>
                </a:solidFill>
                <a:latin typeface="DejaVu Sans"/>
              </a:defRPr>
            </a:pPr>
            <a:r>
              <a:t>Review response plans before approval</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Operational safeguards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Apply the same API role checks to console actions</a:t>
            </a:r>
          </a:p>
          <a:p>
            <a:pPr marL="182880" indent="-164592">
              <a:lnSpc>
                <a:spcPts val="2200"/>
              </a:lnSpc>
              <a:spcAft>
                <a:spcPts val="800"/>
              </a:spcAft>
              <a:buChar char="•"/>
              <a:defRPr sz="1700">
                <a:solidFill>
                  <a:srgbClr val="334155"/>
                </a:solidFill>
                <a:latin typeface="DejaVu Sans"/>
              </a:defRPr>
            </a:pPr>
            <a:r>
              <a:t>Keep access tokens in browser-tab memory</a:t>
            </a:r>
          </a:p>
          <a:p>
            <a:pPr marL="182880" indent="-164592">
              <a:lnSpc>
                <a:spcPts val="2200"/>
              </a:lnSpc>
              <a:spcAft>
                <a:spcPts val="800"/>
              </a:spcAft>
              <a:buChar char="•"/>
              <a:defRPr sz="1700">
                <a:solidFill>
                  <a:srgbClr val="334155"/>
                </a:solidFill>
                <a:latin typeface="DejaVu Sans"/>
              </a:defRPr>
            </a:pPr>
            <a:r>
              <a:t>Report unavailable upstream sources explicitly</a:t>
            </a:r>
          </a:p>
          <a:p>
            <a:pPr marL="182880" indent="-164592">
              <a:lnSpc>
                <a:spcPts val="2200"/>
              </a:lnSpc>
              <a:spcAft>
                <a:spcPts val="800"/>
              </a:spcAft>
              <a:buChar char="•"/>
              <a:defRPr sz="1700">
                <a:solidFill>
                  <a:srgbClr val="334155"/>
                </a:solidFill>
                <a:latin typeface="DejaVu Sans"/>
              </a:defRPr>
            </a:pPr>
            <a:r>
              <a:t>Retrieve findings through a fixed HTTPS connector</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The console shows bounded recent lists; it is not an exhaustive cross-platform evidence search.</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WINDOWS EVENTS + LINUX AUDIT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Windows and Linux monitoring</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Server monitoring depends on collecting useful activity from the operating system and making gaps visible. Windows event sources and Linux audit records provide investigation evidence, while sensor health indicators help teams distinguish quiet systems from missing telemetry.</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Windows monitoring</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Security log authentication and network logons</a:t>
            </a:r>
          </a:p>
          <a:p>
            <a:pPr marL="182880" indent="-164592">
              <a:lnSpc>
                <a:spcPts val="2200"/>
              </a:lnSpc>
              <a:spcAft>
                <a:spcPts val="800"/>
              </a:spcAft>
              <a:buChar char="•"/>
              <a:defRPr sz="1700">
                <a:solidFill>
                  <a:srgbClr val="334155"/>
                </a:solidFill>
                <a:latin typeface="DejaVu Sans"/>
              </a:defRPr>
            </a:pPr>
            <a:r>
              <a:t>RDP and SMB evidence where source events support it</a:t>
            </a:r>
          </a:p>
          <a:p>
            <a:pPr marL="182880" indent="-164592">
              <a:lnSpc>
                <a:spcPts val="2200"/>
              </a:lnSpc>
              <a:spcAft>
                <a:spcPts val="800"/>
              </a:spcAft>
              <a:buChar char="•"/>
              <a:defRPr sz="1700">
                <a:solidFill>
                  <a:srgbClr val="334155"/>
                </a:solidFill>
                <a:latin typeface="DejaVu Sans"/>
              </a:defRPr>
            </a:pPr>
            <a:r>
              <a:t>Sysmon process-creation records</a:t>
            </a:r>
          </a:p>
          <a:p>
            <a:pPr marL="182880" indent="-164592">
              <a:lnSpc>
                <a:spcPts val="2200"/>
              </a:lnSpc>
              <a:spcAft>
                <a:spcPts val="800"/>
              </a:spcAft>
              <a:buChar char="•"/>
              <a:defRPr sz="1700">
                <a:solidFill>
                  <a:srgbClr val="334155"/>
                </a:solidFill>
                <a:latin typeface="DejaVu Sans"/>
              </a:defRPr>
            </a:pPr>
            <a:r>
              <a:t>Selected fields without raw command-line capture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Linux monitoring</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Event-driven audit execution records</a:t>
            </a:r>
          </a:p>
          <a:p>
            <a:pPr marL="182880" indent="-164592">
              <a:lnSpc>
                <a:spcPts val="2200"/>
              </a:lnSpc>
              <a:spcAft>
                <a:spcPts val="800"/>
              </a:spcAft>
              <a:buChar char="•"/>
              <a:defRPr sz="1700">
                <a:solidFill>
                  <a:srgbClr val="334155"/>
                </a:solidFill>
                <a:latin typeface="DejaVu Sans"/>
              </a:defRPr>
            </a:pPr>
            <a:r>
              <a:t>Linux /proc process polling</a:t>
            </a:r>
          </a:p>
          <a:p>
            <a:pPr marL="182880" indent="-164592">
              <a:lnSpc>
                <a:spcPts val="2200"/>
              </a:lnSpc>
              <a:spcAft>
                <a:spcPts val="800"/>
              </a:spcAft>
              <a:buChar char="•"/>
              <a:defRPr sz="1700">
                <a:solidFill>
                  <a:srgbClr val="334155"/>
                </a:solidFill>
                <a:latin typeface="DejaVu Sans"/>
              </a:defRPr>
            </a:pPr>
            <a:r>
              <a:t>SSH access, API denials and file-integrity signals</a:t>
            </a:r>
          </a:p>
          <a:p>
            <a:pPr marL="182880" indent="-164592">
              <a:lnSpc>
                <a:spcPts val="2200"/>
              </a:lnSpc>
              <a:spcAft>
                <a:spcPts val="800"/>
              </a:spcAft>
              <a:buChar char="•"/>
              <a:defRPr sz="1700">
                <a:solidFill>
                  <a:srgbClr val="334155"/>
                </a:solidFill>
                <a:latin typeface="DejaVu Sans"/>
              </a:defRPr>
            </a:pPr>
            <a:r>
              <a:t>Sensor health and missing-telemetry indicators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Windows and Linux support monitoring and approved containment. Native enforcement and recovery require staging validation.</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SELECTED HOST SIGNALS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Process and malware detection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Selected process patterns and reviewed malware indicators provide clues that warrant investigation. A known-bad hash match supplies specific file evidence; analysts can review its context before approving action, while missing scanners or telemetry remain visible as coverage limitations.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Suspicious activity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Recognised web-server parent spawning a shell</a:t>
            </a:r>
          </a:p>
          <a:p>
            <a:pPr marL="182880" indent="-164592">
              <a:lnSpc>
                <a:spcPts val="2200"/>
              </a:lnSpc>
              <a:spcAft>
                <a:spcPts val="800"/>
              </a:spcAft>
              <a:buChar char="•"/>
              <a:defRPr sz="1700">
                <a:solidFill>
                  <a:srgbClr val="334155"/>
                </a:solidFill>
                <a:latin typeface="DejaVu Sans"/>
              </a:defRPr>
            </a:pPr>
            <a:r>
              <a:t>Execution from writable temporary locations</a:t>
            </a:r>
          </a:p>
          <a:p>
            <a:pPr marL="182880" indent="-164592">
              <a:lnSpc>
                <a:spcPts val="2200"/>
              </a:lnSpc>
              <a:spcAft>
                <a:spcPts val="800"/>
              </a:spcAft>
              <a:buChar char="•"/>
              <a:defRPr sz="1700">
                <a:solidFill>
                  <a:srgbClr val="334155"/>
                </a:solidFill>
                <a:latin typeface="DejaVu Sans"/>
              </a:defRPr>
            </a:pPr>
            <a:r>
              <a:t>Deleted executable signals on Linux</a:t>
            </a:r>
          </a:p>
          <a:p>
            <a:pPr marL="182880" indent="-164592">
              <a:lnSpc>
                <a:spcPts val="2200"/>
              </a:lnSpc>
              <a:spcAft>
                <a:spcPts val="800"/>
              </a:spcAft>
              <a:buChar char="•"/>
              <a:defRPr sz="1700">
                <a:solidFill>
                  <a:srgbClr val="334155"/>
                </a:solidFill>
                <a:latin typeface="DejaVu Sans"/>
              </a:defRPr>
            </a:pPr>
            <a:r>
              <a:t>Event records for short-lived processes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Malware evidence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Known-bad SHA256 matches on selected targets</a:t>
            </a:r>
          </a:p>
          <a:p>
            <a:pPr marL="182880" indent="-164592">
              <a:lnSpc>
                <a:spcPts val="2200"/>
              </a:lnSpc>
              <a:spcAft>
                <a:spcPts val="800"/>
              </a:spcAft>
              <a:buChar char="•"/>
              <a:defRPr sz="1700">
                <a:solidFill>
                  <a:srgbClr val="334155"/>
                </a:solidFill>
                <a:latin typeface="DejaVu Sans"/>
              </a:defRPr>
            </a:pPr>
            <a:r>
              <a:t>Optional Linux selected-file ClamAV scans</a:t>
            </a:r>
          </a:p>
          <a:p>
            <a:pPr marL="182880" indent="-164592">
              <a:lnSpc>
                <a:spcPts val="2200"/>
              </a:lnSpc>
              <a:spcAft>
                <a:spcPts val="800"/>
              </a:spcAft>
              <a:buChar char="•"/>
              <a:defRPr sz="1700">
                <a:solidFill>
                  <a:srgbClr val="334155"/>
                </a:solidFill>
                <a:latin typeface="DejaVu Sans"/>
              </a:defRPr>
            </a:pPr>
            <a:r>
              <a:t>Path, signature and hash retained for review</a:t>
            </a:r>
          </a:p>
          <a:p>
            <a:pPr marL="182880" indent="-164592">
              <a:lnSpc>
                <a:spcPts val="2200"/>
              </a:lnSpc>
              <a:spcAft>
                <a:spcPts val="800"/>
              </a:spcAft>
              <a:buChar char="•"/>
              <a:defRPr sz="1700">
                <a:solidFill>
                  <a:srgbClr val="334155"/>
                </a:solidFill>
                <a:latin typeface="DejaVu Sans"/>
              </a:defRPr>
            </a:pPr>
            <a:r>
              <a:t>Unavailable scanners surface degraded coverage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Coverage excludes complete memory scanning and full-disk protection. File quarantine does not terminate a running process.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CROSS-HOST CORRELATION</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Lateral-movement signals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Activity that appears ordinary on one server can become suspicious when repeated across several hosts. Correlating authentication events helps analysts recognise possible account misuse or movement between systems, while retaining context needed to assess legitimate administrative activity.</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Correlated patterns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Password spraying across multiple hosts</a:t>
            </a:r>
          </a:p>
          <a:p>
            <a:pPr marL="182880" indent="-164592">
              <a:lnSpc>
                <a:spcPts val="2200"/>
              </a:lnSpc>
              <a:spcAft>
                <a:spcPts val="800"/>
              </a:spcAft>
              <a:buChar char="•"/>
              <a:defRPr sz="1700">
                <a:solidFill>
                  <a:srgbClr val="334155"/>
                </a:solidFill>
                <a:latin typeface="DejaVu Sans"/>
              </a:defRPr>
            </a:pPr>
            <a:r>
              <a:t>Same-user successful-login fan-out</a:t>
            </a:r>
          </a:p>
          <a:p>
            <a:pPr marL="182880" indent="-164592">
              <a:lnSpc>
                <a:spcPts val="2200"/>
              </a:lnSpc>
              <a:spcAft>
                <a:spcPts val="800"/>
              </a:spcAft>
              <a:buChar char="•"/>
              <a:defRPr sz="1700">
                <a:solidFill>
                  <a:srgbClr val="334155"/>
                </a:solidFill>
                <a:latin typeface="DejaVu Sans"/>
              </a:defRPr>
            </a:pPr>
            <a:r>
              <a:t>Suspected pivots from already flagged hosts</a:t>
            </a:r>
          </a:p>
          <a:p>
            <a:pPr marL="182880" indent="-164592">
              <a:lnSpc>
                <a:spcPts val="2200"/>
              </a:lnSpc>
              <a:spcAft>
                <a:spcPts val="800"/>
              </a:spcAft>
              <a:buChar char="•"/>
              <a:defRPr sz="1700">
                <a:solidFill>
                  <a:srgbClr val="334155"/>
                </a:solidFill>
                <a:latin typeface="DejaVu Sans"/>
              </a:defRPr>
            </a:pPr>
            <a:r>
              <a:t>Remote-access evidence from supported event sources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Investigation context</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Administrator-defined host-to-IP ownership</a:t>
            </a:r>
          </a:p>
          <a:p>
            <a:pPr marL="182880" indent="-164592">
              <a:lnSpc>
                <a:spcPts val="2200"/>
              </a:lnSpc>
              <a:spcAft>
                <a:spcPts val="800"/>
              </a:spcAft>
              <a:buChar char="•"/>
              <a:defRPr sz="1700">
                <a:solidFill>
                  <a:srgbClr val="334155"/>
                </a:solidFill>
                <a:latin typeface="DejaVu Sans"/>
              </a:defRPr>
            </a:pPr>
            <a:r>
              <a:t>Time-bounded correlation with retained evidence</a:t>
            </a:r>
          </a:p>
          <a:p>
            <a:pPr marL="182880" indent="-164592">
              <a:lnSpc>
                <a:spcPts val="2200"/>
              </a:lnSpc>
              <a:spcAft>
                <a:spcPts val="800"/>
              </a:spcAft>
              <a:buChar char="•"/>
              <a:defRPr sz="1700">
                <a:solidFill>
                  <a:srgbClr val="334155"/>
                </a:solidFill>
                <a:latin typeface="DejaVu Sans"/>
              </a:defRPr>
            </a:pPr>
            <a:r>
              <a:t>Retry, out-of-order and restart handling</a:t>
            </a:r>
          </a:p>
          <a:p>
            <a:pPr marL="182880" indent="-164592">
              <a:lnSpc>
                <a:spcPts val="2200"/>
              </a:lnSpc>
              <a:spcAft>
                <a:spcPts val="800"/>
              </a:spcAft>
              <a:buChar char="•"/>
              <a:defRPr sz="1700">
                <a:solidFill>
                  <a:srgbClr val="334155"/>
                </a:solidFill>
                <a:latin typeface="DejaVu Sans"/>
              </a:defRPr>
            </a:pPr>
            <a:r>
              <a:t>Expiring exceptions for reviewed false positives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NAT, shared accounts and legitimate automation need review; protocol labels require supporting source evidence.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MODSECURITY + CLOUDFLARE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WAF integration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Web application firewalls provide an enforcement point for traffic reaching protected applications. Connecting their signals with investigations helps teams understand attempted abuse and review scoped blocking decisions, with tuning and deployment checks needed to avoid disrupting legitimate requests.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On-premises or proxy WAF</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Nginx / ModSecurity and OWASP CRS templates</a:t>
            </a:r>
          </a:p>
          <a:p>
            <a:pPr marL="182880" indent="-164592">
              <a:lnSpc>
                <a:spcPts val="2200"/>
              </a:lnSpc>
              <a:spcAft>
                <a:spcPts val="800"/>
              </a:spcAft>
              <a:buChar char="•"/>
              <a:defRPr sz="1700">
                <a:solidFill>
                  <a:srgbClr val="334155"/>
                </a:solidFill>
                <a:latin typeface="DejaVu Sans"/>
              </a:defRPr>
            </a:pPr>
            <a:r>
              <a:t>Sanitised serial-JSON rule-match collection</a:t>
            </a:r>
          </a:p>
          <a:p>
            <a:pPr marL="182880" indent="-164592">
              <a:lnSpc>
                <a:spcPts val="2200"/>
              </a:lnSpc>
              <a:spcAft>
                <a:spcPts val="800"/>
              </a:spcAft>
              <a:buChar char="•"/>
              <a:defRPr sz="1700">
                <a:solidFill>
                  <a:srgbClr val="334155"/>
                </a:solidFill>
                <a:latin typeface="DejaVu Sans"/>
              </a:defRPr>
            </a:pPr>
            <a:r>
              <a:t>DetectionOnly starting configuration</a:t>
            </a:r>
          </a:p>
          <a:p>
            <a:pPr marL="182880" indent="-164592">
              <a:lnSpc>
                <a:spcPts val="2200"/>
              </a:lnSpc>
              <a:spcAft>
                <a:spcPts val="800"/>
              </a:spcAft>
              <a:buChar char="•"/>
              <a:defRPr sz="1700">
                <a:solidFill>
                  <a:srgbClr val="334155"/>
                </a:solidFill>
                <a:latin typeface="DejaVu Sans"/>
              </a:defRPr>
            </a:pPr>
            <a:r>
              <a:t>No request-body or credential export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Cloudflare response connector</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Use a configured zone and custom-ruleset scope</a:t>
            </a:r>
          </a:p>
          <a:p>
            <a:pPr marL="182880" indent="-164592">
              <a:lnSpc>
                <a:spcPts val="2200"/>
              </a:lnSpc>
              <a:spcAft>
                <a:spcPts val="800"/>
              </a:spcAft>
              <a:buChar char="•"/>
              <a:defRPr sz="1700">
                <a:solidFill>
                  <a:srgbClr val="334155"/>
                </a:solidFill>
                <a:latin typeface="DejaVu Sans"/>
              </a:defRPr>
            </a:pPr>
            <a:r>
              <a:t>Apply an approved source-IP block</a:t>
            </a:r>
          </a:p>
          <a:p>
            <a:pPr marL="182880" indent="-164592">
              <a:lnSpc>
                <a:spcPts val="2200"/>
              </a:lnSpc>
              <a:spcAft>
                <a:spcPts val="800"/>
              </a:spcAft>
              <a:buChar char="•"/>
              <a:defRPr sz="1700">
                <a:solidFill>
                  <a:srgbClr val="334155"/>
                </a:solidFill>
                <a:latin typeface="DejaVu Sans"/>
              </a:defRPr>
            </a:pPr>
            <a:r>
              <a:t>Embed fixed expiry in the provider rule</a:t>
            </a:r>
          </a:p>
          <a:p>
            <a:pPr marL="182880" indent="-164592">
              <a:lnSpc>
                <a:spcPts val="2200"/>
              </a:lnSpc>
              <a:spcAft>
                <a:spcPts val="800"/>
              </a:spcAft>
              <a:buChar char="•"/>
              <a:defRPr sz="1700">
                <a:solidFill>
                  <a:srgbClr val="334155"/>
                </a:solidFill>
                <a:latin typeface="DejaVu Sans"/>
              </a:defRPr>
            </a:pPr>
            <a:r>
              <a:t>Retry cleanup without extending the deadline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Rule ordering, provider permissions, propagation and real traffic enforcement remain staging checks.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APPROVAL + BOUNDED ENFORCEMENT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Reviewed containment and response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Containment can interrupt business services, so response decisions need clear evidence and accountability. VulnSuite places file quarantine, process termination, host isolation, identity and WAF response behind separate approval and local policy checks, with recorded outcomes and reviewed recovery paths.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On the host</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Quarantine with approved path and SHA256 evidence</a:t>
            </a:r>
          </a:p>
          <a:p>
            <a:pPr marL="182880" indent="-164592">
              <a:lnSpc>
                <a:spcPts val="2200"/>
              </a:lnSpc>
              <a:spcAft>
                <a:spcPts val="800"/>
              </a:spcAft>
              <a:buChar char="•"/>
              <a:defRPr sz="1700">
                <a:solidFill>
                  <a:srgbClr val="334155"/>
                </a:solidFill>
                <a:latin typeface="DejaVu Sans"/>
              </a:defRPr>
            </a:pPr>
            <a:r>
              <a:t>Process termination after an identity re-check</a:t>
            </a:r>
          </a:p>
          <a:p>
            <a:pPr marL="182880" indent="-164592">
              <a:lnSpc>
                <a:spcPts val="2200"/>
              </a:lnSpc>
              <a:spcAft>
                <a:spcPts val="800"/>
              </a:spcAft>
              <a:buChar char="•"/>
              <a:defRPr sz="1700">
                <a:solidFill>
                  <a:srgbClr val="334155"/>
                </a:solidFill>
                <a:latin typeface="DejaVu Sans"/>
              </a:defRPr>
            </a:pPr>
            <a:r>
              <a:t>Isolation with kernel or scheduled-task expiry</a:t>
            </a:r>
          </a:p>
          <a:p>
            <a:pPr marL="182880" indent="-164592">
              <a:lnSpc>
                <a:spcPts val="2200"/>
              </a:lnSpc>
              <a:spcAft>
                <a:spcPts val="800"/>
              </a:spcAft>
              <a:buChar char="•"/>
              <a:defRPr sz="1700">
                <a:solidFill>
                  <a:srgbClr val="334155"/>
                </a:solidFill>
                <a:latin typeface="DejaVu Sans"/>
              </a:defRPr>
            </a:pPr>
            <a:r>
              <a:t>Restore and release as separately approved rollbacks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 the identity provider and WAF</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Entra ID session revocation, one shot</a:t>
            </a:r>
          </a:p>
          <a:p>
            <a:pPr marL="182880" indent="-164592">
              <a:lnSpc>
                <a:spcPts val="2200"/>
              </a:lnSpc>
              <a:spcAft>
                <a:spcPts val="800"/>
              </a:spcAft>
              <a:buChar char="•"/>
              <a:defRPr sz="1700">
                <a:solidFill>
                  <a:srgbClr val="334155"/>
                </a:solidFill>
                <a:latin typeface="DejaVu Sans"/>
              </a:defRPr>
            </a:pPr>
            <a:r>
              <a:t>Entra ID account disable for a fixed window</a:t>
            </a:r>
          </a:p>
          <a:p>
            <a:pPr marL="182880" indent="-164592">
              <a:lnSpc>
                <a:spcPts val="2200"/>
              </a:lnSpc>
              <a:spcAft>
                <a:spcPts val="800"/>
              </a:spcAft>
              <a:buChar char="•"/>
              <a:defRPr sz="1700">
                <a:solidFill>
                  <a:srgbClr val="334155"/>
                </a:solidFill>
                <a:latin typeface="DejaVu Sans"/>
              </a:defRPr>
            </a:pPr>
            <a:r>
              <a:t>Cloudflare block with provider-evaluated expiry</a:t>
            </a:r>
          </a:p>
          <a:p>
            <a:pPr marL="182880" indent="-164592">
              <a:lnSpc>
                <a:spcPts val="2200"/>
              </a:lnSpc>
              <a:spcAft>
                <a:spcPts val="800"/>
              </a:spcAft>
              <a:buChar char="•"/>
              <a:defRPr sz="1700">
                <a:solidFill>
                  <a:srgbClr val="334155"/>
                </a:solidFill>
                <a:latin typeface="DejaVu Sans"/>
              </a:defRPr>
            </a:pPr>
            <a:r>
              <a:t>Protected users, domains and executables enforced twice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Containment is disabled by default. Every action needs a second administrator; pre-approved isolation exists only for ransomware with dual opt-in.</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EARLY WARNING + EVIDENCE INTEGRITY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Ransomware and log-tamper signals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Attackers encrypt data and erase their tracks. Decoy files, change-rate and entropy signals give the SOC minutes of warning on a share, while tamper signals, sequence numbers and a hash chain show when logs or stored evidence were altered, by which process and when.</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Ransomware early warning</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Canary documents nothing legitimate touches</a:t>
            </a:r>
          </a:p>
          <a:p>
            <a:pPr marL="182880" indent="-164592">
              <a:lnSpc>
                <a:spcPts val="2200"/>
              </a:lnSpc>
              <a:spcAft>
                <a:spcPts val="800"/>
              </a:spcAft>
              <a:buChar char="•"/>
              <a:defRPr sz="1700">
                <a:solidFill>
                  <a:srgbClr val="334155"/>
                </a:solidFill>
                <a:latin typeface="DejaVu Sans"/>
              </a:defRPr>
            </a:pPr>
            <a:r>
              <a:t>Mass rename, rewrite and deletion thresholds</a:t>
            </a:r>
          </a:p>
          <a:p>
            <a:pPr marL="182880" indent="-164592">
              <a:lnSpc>
                <a:spcPts val="2200"/>
              </a:lnSpc>
              <a:spcAft>
                <a:spcPts val="800"/>
              </a:spcAft>
              <a:buChar char="•"/>
              <a:defRPr sz="1700">
                <a:solidFill>
                  <a:srgbClr val="334155"/>
                </a:solidFill>
                <a:latin typeface="DejaVu Sans"/>
              </a:defRPr>
            </a:pPr>
            <a:r>
              <a:t>High-entropy rewrites sampled from changed files</a:t>
            </a:r>
          </a:p>
          <a:p>
            <a:pPr marL="182880" indent="-164592">
              <a:lnSpc>
                <a:spcPts val="2200"/>
              </a:lnSpc>
              <a:spcAft>
                <a:spcPts val="800"/>
              </a:spcAft>
              <a:buChar char="•"/>
              <a:defRPr sz="1700">
                <a:solidFill>
                  <a:srgbClr val="334155"/>
                </a:solidFill>
                <a:latin typeface="DejaVu Sans"/>
              </a:defRPr>
            </a:pPr>
            <a:r>
              <a:t>Critical alert; optional pre-approved isolation</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Log and record integrity</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Truncated, deleted or replaced log files reported</a:t>
            </a:r>
          </a:p>
          <a:p>
            <a:pPr marL="182880" indent="-164592">
              <a:lnSpc>
                <a:spcPts val="2200"/>
              </a:lnSpc>
              <a:spcAft>
                <a:spcPts val="800"/>
              </a:spcAft>
              <a:buChar char="•"/>
              <a:defRPr sz="1700">
                <a:solidFill>
                  <a:srgbClr val="334155"/>
                </a:solidFill>
                <a:latin typeface="DejaVu Sans"/>
              </a:defRPr>
            </a:pPr>
            <a:r>
              <a:t>auditd watch records with executable, PID and uid</a:t>
            </a:r>
          </a:p>
          <a:p>
            <a:pPr marL="182880" indent="-164592">
              <a:lnSpc>
                <a:spcPts val="2200"/>
              </a:lnSpc>
              <a:spcAft>
                <a:spcPts val="800"/>
              </a:spcAft>
              <a:buChar char="•"/>
              <a:defRPr sz="1700">
                <a:solidFill>
                  <a:srgbClr val="334155"/>
                </a:solidFill>
                <a:latin typeface="DejaVu Sans"/>
              </a:defRPr>
            </a:pPr>
            <a:r>
              <a:t>Windows log cleared and audit policy changes</a:t>
            </a:r>
          </a:p>
          <a:p>
            <a:pPr marL="182880" indent="-164592">
              <a:lnSpc>
                <a:spcPts val="2200"/>
              </a:lnSpc>
              <a:spcAft>
                <a:spcPts val="800"/>
              </a:spcAft>
              <a:buChar char="•"/>
              <a:defRPr sz="1700">
                <a:solidFill>
                  <a:srgbClr val="334155"/>
                </a:solidFill>
                <a:latin typeface="DejaVu Sans"/>
              </a:defRPr>
            </a:pPr>
            <a:r>
              <a:t>Sequence numbers and a hash chain with SIEM checkpoints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Encryption is detected at the next poll, not prevented; backups decide the outcome. The chain proves alteration, the off-host copy is the protection.</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PLATFORM ARCHITECTURE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How the components fit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The assessment service evaluates exposure; the protection service handles telemetry, investigations and response. Their separate responsibilities help teams plan access, storage, maintenance and integration around the requirements of each service.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Assessment service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FastAPI service, Celery workers and nightly scheduler</a:t>
            </a:r>
          </a:p>
          <a:p>
            <a:pPr marL="182880" indent="-164592">
              <a:lnSpc>
                <a:spcPts val="2200"/>
              </a:lnSpc>
              <a:spcAft>
                <a:spcPts val="800"/>
              </a:spcAft>
              <a:buChar char="•"/>
              <a:defRPr sz="1700">
                <a:solidFill>
                  <a:srgbClr val="334155"/>
                </a:solidFill>
                <a:latin typeface="DejaVu Sans"/>
              </a:defRPr>
            </a:pPr>
            <a:r>
              <a:t>PostgreSQL with tenant policies, Redis broker and cache</a:t>
            </a:r>
          </a:p>
          <a:p>
            <a:pPr marL="182880" indent="-164592">
              <a:lnSpc>
                <a:spcPts val="2200"/>
              </a:lnSpc>
              <a:spcAft>
                <a:spcPts val="800"/>
              </a:spcAft>
              <a:buChar char="•"/>
              <a:defRPr sz="1700">
                <a:solidFill>
                  <a:srgbClr val="334155"/>
                </a:solidFill>
                <a:latin typeface="DejaVu Sans"/>
              </a:defRPr>
            </a:pPr>
            <a:r>
              <a:t>Canonical findings, dedup and deterministic risk scoring</a:t>
            </a:r>
          </a:p>
          <a:p>
            <a:pPr marL="182880" indent="-164592">
              <a:lnSpc>
                <a:spcPts val="2200"/>
              </a:lnSpc>
              <a:spcAft>
                <a:spcPts val="800"/>
              </a:spcAft>
              <a:buChar char="•"/>
              <a:defRPr sz="1700">
                <a:solidFill>
                  <a:srgbClr val="334155"/>
                </a:solidFill>
                <a:latin typeface="DejaVu Sans"/>
              </a:defRPr>
            </a:pPr>
            <a:r>
              <a:t>Read-only findings feed into the operations console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Protection service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Authenticated Linux and Windows agents</a:t>
            </a:r>
          </a:p>
          <a:p>
            <a:pPr marL="182880" indent="-164592">
              <a:lnSpc>
                <a:spcPts val="2200"/>
              </a:lnSpc>
              <a:spcAft>
                <a:spcPts val="800"/>
              </a:spcAft>
              <a:buChar char="•"/>
              <a:defRPr sz="1700">
                <a:solidFill>
                  <a:srgbClr val="334155"/>
                </a:solidFill>
                <a:latin typeface="DejaVu Sans"/>
              </a:defRPr>
            </a:pPr>
            <a:r>
              <a:t>One organisation per SQLite operational store</a:t>
            </a:r>
          </a:p>
          <a:p>
            <a:pPr marL="182880" indent="-164592">
              <a:lnSpc>
                <a:spcPts val="2200"/>
              </a:lnSpc>
              <a:spcAft>
                <a:spcPts val="800"/>
              </a:spcAft>
              <a:buChar char="•"/>
              <a:defRPr sz="1700">
                <a:solidFill>
                  <a:srgbClr val="334155"/>
                </a:solidFill>
                <a:latin typeface="DejaVu Sans"/>
              </a:defRPr>
            </a:pPr>
            <a:r>
              <a:t>Detection, incidents, policies and response history</a:t>
            </a:r>
          </a:p>
          <a:p>
            <a:pPr marL="182880" indent="-164592">
              <a:lnSpc>
                <a:spcPts val="2200"/>
              </a:lnSpc>
              <a:spcAft>
                <a:spcPts val="800"/>
              </a:spcAft>
              <a:buChar char="•"/>
              <a:defRPr sz="1700">
                <a:solidFill>
                  <a:srgbClr val="334155"/>
                </a:solidFill>
                <a:latin typeface="DejaVu Sans"/>
              </a:defRPr>
            </a:pPr>
            <a:r>
              <a:t>Independent delivery and cloud-response worker</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SQLite protection persistence is not a horizontally scalable or highly available PostgreSQL backend.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ENROLLMENT + POLICY + HEALTH</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Central agent lifecycle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Host monitoring depends on knowing which agents are enrolled, authorised and reporting correctly. Central lifecycle controls help maintain that inventory, replace credentials, withdraw access and identify policy or version differences that require administrator attention.</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Credential management</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Issue expiring, one-time enrollment credentials</a:t>
            </a:r>
          </a:p>
          <a:p>
            <a:pPr marL="182880" indent="-164592">
              <a:lnSpc>
                <a:spcPts val="2200"/>
              </a:lnSpc>
              <a:spcAft>
                <a:spcPts val="800"/>
              </a:spcAft>
              <a:buChar char="•"/>
              <a:defRPr sz="1700">
                <a:solidFill>
                  <a:srgbClr val="334155"/>
                </a:solidFill>
                <a:latin typeface="DejaVu Sans"/>
              </a:defRPr>
            </a:pPr>
            <a:r>
              <a:t>Store hashes of enrolled host credentials</a:t>
            </a:r>
          </a:p>
          <a:p>
            <a:pPr marL="182880" indent="-164592">
              <a:lnSpc>
                <a:spcPts val="2200"/>
              </a:lnSpc>
              <a:spcAft>
                <a:spcPts val="800"/>
              </a:spcAft>
              <a:buChar char="•"/>
              <a:defRPr sz="1700">
                <a:solidFill>
                  <a:srgbClr val="334155"/>
                </a:solidFill>
                <a:latin typeface="DejaVu Sans"/>
              </a:defRPr>
            </a:pPr>
            <a:r>
              <a:t>Rotate keys and revoke agent access centrally</a:t>
            </a:r>
          </a:p>
          <a:p>
            <a:pPr marL="182880" indent="-164592">
              <a:lnSpc>
                <a:spcPts val="2200"/>
              </a:lnSpc>
              <a:spcAft>
                <a:spcPts val="800"/>
              </a:spcAft>
              <a:buChar char="•"/>
              <a:defRPr sz="1700">
                <a:solidFill>
                  <a:srgbClr val="334155"/>
                </a:solidFill>
                <a:latin typeface="DejaVu Sans"/>
              </a:defRPr>
            </a:pPr>
            <a:r>
              <a:t>Cancel unexecuted responses after revocation</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Inventory and policy</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Track platform, agent version and queue health</a:t>
            </a:r>
          </a:p>
          <a:p>
            <a:pPr marL="182880" indent="-164592">
              <a:lnSpc>
                <a:spcPts val="2200"/>
              </a:lnSpc>
              <a:spcAft>
                <a:spcPts val="800"/>
              </a:spcAft>
              <a:buChar char="•"/>
              <a:defRPr sz="1700">
                <a:solidFill>
                  <a:srgbClr val="334155"/>
                </a:solidFill>
                <a:latin typeface="DejaVu Sans"/>
              </a:defRPr>
            </a:pPr>
            <a:r>
              <a:t>Record administrator policy-version history</a:t>
            </a:r>
          </a:p>
          <a:p>
            <a:pPr marL="182880" indent="-164592">
              <a:lnSpc>
                <a:spcPts val="2200"/>
              </a:lnSpc>
              <a:spcAft>
                <a:spcPts val="800"/>
              </a:spcAft>
              <a:buChar char="•"/>
              <a:defRPr sz="1700">
                <a:solidFill>
                  <a:srgbClr val="334155"/>
                </a:solidFill>
                <a:latin typeface="DejaVu Sans"/>
              </a:defRPr>
            </a:pPr>
            <a:r>
              <a:t>Flag drift from the desired software version</a:t>
            </a:r>
          </a:p>
          <a:p>
            <a:pPr marL="182880" indent="-164592">
              <a:lnSpc>
                <a:spcPts val="2200"/>
              </a:lnSpc>
              <a:spcAft>
                <a:spcPts val="800"/>
              </a:spcAft>
              <a:buChar char="•"/>
              <a:defRPr sz="1700">
                <a:solidFill>
                  <a:srgbClr val="334155"/>
                </a:solidFill>
                <a:latin typeface="DejaVu Sans"/>
              </a:defRPr>
            </a:pPr>
            <a:r>
              <a:t>Keep privileged response enablement local to hosts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Agent software installation and upgrades use an administrator-controlled rollout.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OWNERSHIP + EVIDENCE + DELIVERY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Incident and notification workflows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Investigations often involve several people and external operational systems. Incident records preserve ownership and decisions, while signed notifications carry relevant information to organisation-operated integrations, helping teams coordinate work and recover delivery after temporary service failures.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Investigation workflow</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Link alerts to owned incident cases</a:t>
            </a:r>
          </a:p>
          <a:p>
            <a:pPr marL="182880" indent="-164592">
              <a:lnSpc>
                <a:spcPts val="2200"/>
              </a:lnSpc>
              <a:spcAft>
                <a:spcPts val="800"/>
              </a:spcAft>
              <a:buChar char="•"/>
              <a:defRPr sz="1700">
                <a:solidFill>
                  <a:srgbClr val="334155"/>
                </a:solidFill>
                <a:latin typeface="DejaVu Sans"/>
              </a:defRPr>
            </a:pPr>
            <a:r>
              <a:t>Track status, notes and evidence timelines</a:t>
            </a:r>
          </a:p>
          <a:p>
            <a:pPr marL="182880" indent="-164592">
              <a:lnSpc>
                <a:spcPts val="2200"/>
              </a:lnSpc>
              <a:spcAft>
                <a:spcPts val="800"/>
              </a:spcAft>
              <a:buChar char="•"/>
              <a:defRPr sz="1700">
                <a:solidFill>
                  <a:srgbClr val="334155"/>
                </a:solidFill>
                <a:latin typeface="DejaVu Sans"/>
              </a:defRPr>
            </a:pPr>
            <a:r>
              <a:t>Protect concurrent edits with case versions</a:t>
            </a:r>
          </a:p>
          <a:p>
            <a:pPr marL="182880" indent="-164592">
              <a:lnSpc>
                <a:spcPts val="2200"/>
              </a:lnSpc>
              <a:spcAft>
                <a:spcPts val="800"/>
              </a:spcAft>
              <a:buChar char="•"/>
              <a:defRPr sz="1700">
                <a:solidFill>
                  <a:srgbClr val="334155"/>
                </a:solidFill>
                <a:latin typeface="DejaVu Sans"/>
              </a:defRPr>
            </a:pPr>
            <a:r>
              <a:t>Review alerts and add scoped, expiring exceptions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SIEM and ticketing bridges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Send signed JSON to fixed HTTPS endpoints</a:t>
            </a:r>
          </a:p>
          <a:p>
            <a:pPr marL="182880" indent="-164592">
              <a:lnSpc>
                <a:spcPts val="2200"/>
              </a:lnSpc>
              <a:spcAft>
                <a:spcPts val="800"/>
              </a:spcAft>
              <a:buChar char="•"/>
              <a:defRPr sz="1700">
                <a:solidFill>
                  <a:srgbClr val="334155"/>
                </a:solidFill>
                <a:latin typeface="DejaVu Sans"/>
              </a:defRPr>
            </a:pPr>
            <a:r>
              <a:t>Persist delivery state, leases and retry attempts</a:t>
            </a:r>
          </a:p>
          <a:p>
            <a:pPr marL="182880" indent="-164592">
              <a:lnSpc>
                <a:spcPts val="2200"/>
              </a:lnSpc>
              <a:spcAft>
                <a:spcPts val="800"/>
              </a:spcAft>
              <a:buChar char="•"/>
              <a:defRPr sz="1700">
                <a:solidFill>
                  <a:srgbClr val="334155"/>
                </a:solidFill>
                <a:latin typeface="DejaVu Sans"/>
              </a:defRPr>
            </a:pPr>
            <a:r>
              <a:t>Attach stable keys for receiver deduplication</a:t>
            </a:r>
          </a:p>
          <a:p>
            <a:pPr marL="182880" indent="-164592">
              <a:lnSpc>
                <a:spcPts val="2200"/>
              </a:lnSpc>
              <a:spcAft>
                <a:spcPts val="800"/>
              </a:spcAft>
              <a:buChar char="•"/>
              <a:defRPr sz="1700">
                <a:solidFill>
                  <a:srgbClr val="334155"/>
                </a:solidFill>
                <a:latin typeface="DejaVu Sans"/>
              </a:defRPr>
            </a:pPr>
            <a:r>
              <a:t>Audit outcomes without storing upstream secrets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Webhooks support organisation-operated adapters; native Jira, ServiceNow or Splunk connectors are not implied.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RECOVERY + MAINTENANCE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Reliable delivery and retention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Network interruptions and growing evidence volumes can affect security operations. Persistent queues and acknowledgement checks support recovery after outages, while backup and retention controls help teams manage stored evidence according to investigation needs and operational requirements.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Telemetry continuity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Keep events until exact acknowledgement</a:t>
            </a:r>
          </a:p>
          <a:p>
            <a:pPr marL="182880" indent="-164592">
              <a:lnSpc>
                <a:spcPts val="2200"/>
              </a:lnSpc>
              <a:spcAft>
                <a:spcPts val="800"/>
              </a:spcAft>
              <a:buChar char="•"/>
              <a:defRPr sz="1700">
                <a:solidFill>
                  <a:srgbClr val="334155"/>
                </a:solidFill>
                <a:latin typeface="DejaVu Sans"/>
              </a:defRPr>
            </a:pPr>
            <a:r>
              <a:t>Replay retained events after service outages</a:t>
            </a:r>
          </a:p>
          <a:p>
            <a:pPr marL="182880" indent="-164592">
              <a:lnSpc>
                <a:spcPts val="2200"/>
              </a:lnSpc>
              <a:spcAft>
                <a:spcPts val="800"/>
              </a:spcAft>
              <a:buChar char="•"/>
              <a:defRPr sz="1700">
                <a:solidFill>
                  <a:srgbClr val="334155"/>
                </a:solidFill>
                <a:latin typeface="DejaVu Sans"/>
              </a:defRPr>
            </a:pPr>
            <a:r>
              <a:t>Pause collection visibly when the queue is full</a:t>
            </a:r>
          </a:p>
          <a:p>
            <a:pPr marL="182880" indent="-164592">
              <a:lnSpc>
                <a:spcPts val="2200"/>
              </a:lnSpc>
              <a:spcAft>
                <a:spcPts val="800"/>
              </a:spcAft>
              <a:buChar char="•"/>
              <a:defRPr sz="1700">
                <a:solidFill>
                  <a:srgbClr val="334155"/>
                </a:solidFill>
                <a:latin typeface="DejaVu Sans"/>
              </a:defRPr>
            </a:pPr>
            <a:r>
              <a:t>Archive older events without fresh containment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Evidence maintenance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Create consistent SQLite backups and verify restore</a:t>
            </a:r>
          </a:p>
          <a:p>
            <a:pPr marL="182880" indent="-164592">
              <a:lnSpc>
                <a:spcPts val="2200"/>
              </a:lnSpc>
              <a:spcAft>
                <a:spcPts val="800"/>
              </a:spcAft>
              <a:buChar char="•"/>
              <a:defRPr sz="1700">
                <a:solidFill>
                  <a:srgbClr val="334155"/>
                </a:solidFill>
                <a:latin typeface="DejaVu Sans"/>
              </a:defRPr>
            </a:pPr>
            <a:r>
              <a:t>Preview retention cleanup before applying it</a:t>
            </a:r>
          </a:p>
          <a:p>
            <a:pPr marL="182880" indent="-164592">
              <a:lnSpc>
                <a:spcPts val="2200"/>
              </a:lnSpc>
              <a:spcAft>
                <a:spcPts val="800"/>
              </a:spcAft>
              <a:buChar char="•"/>
              <a:defRPr sz="1700">
                <a:solidFill>
                  <a:srgbClr val="334155"/>
                </a:solidFill>
                <a:latin typeface="DejaVu Sans"/>
              </a:defRPr>
            </a:pPr>
            <a:r>
              <a:t>Preserve incident and response-linked evidence</a:t>
            </a:r>
          </a:p>
          <a:p>
            <a:pPr marL="182880" indent="-164592">
              <a:lnSpc>
                <a:spcPts val="2200"/>
              </a:lnSpc>
              <a:spcAft>
                <a:spcPts val="800"/>
              </a:spcAft>
              <a:buChar char="•"/>
              <a:defRPr sz="1700">
                <a:solidFill>
                  <a:srgbClr val="334155"/>
                </a:solidFill>
                <a:latin typeface="DejaVu Sans"/>
              </a:defRPr>
            </a:pPr>
            <a:r>
              <a:t>Create offline-agent and stale-sensor alerts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Schedule maintenance explicitly and measure capacity, recovery objectives and backup security in the target environment.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IMAGE SUPPLY CHAIN + AIR-GAP</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Hardened deployment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 security tool that downloads twenty scanners is a supply-chain target. Every binary in the image is pinned to a known checksum and verified at build time, the containers run unprivileged, and the whole stack can operate without internet access using locally mirrored vulnerability data.</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Build integrity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Every scanner download SHA-256 pinned and verified</a:t>
            </a:r>
          </a:p>
          <a:p>
            <a:pPr marL="182880" indent="-164592">
              <a:lnSpc>
                <a:spcPts val="2200"/>
              </a:lnSpc>
              <a:spcAft>
                <a:spcPts val="800"/>
              </a:spcAft>
              <a:buChar char="•"/>
              <a:defRPr sz="1700">
                <a:solidFill>
                  <a:srgbClr val="334155"/>
                </a:solidFill>
                <a:latin typeface="DejaVu Sans"/>
              </a:defRPr>
            </a:pPr>
            <a:r>
              <a:t>No pipe-to-shell, no floating "latest" versions</a:t>
            </a:r>
          </a:p>
          <a:p>
            <a:pPr marL="182880" indent="-164592">
              <a:lnSpc>
                <a:spcPts val="2200"/>
              </a:lnSpc>
              <a:spcAft>
                <a:spcPts val="800"/>
              </a:spcAft>
              <a:buChar char="•"/>
              <a:defRPr sz="1700">
                <a:solidFill>
                  <a:srgbClr val="334155"/>
                </a:solidFill>
                <a:latin typeface="DejaVu Sans"/>
              </a:defRPr>
            </a:pPr>
            <a:r>
              <a:t>Containers run as an unprivileged user</a:t>
            </a:r>
          </a:p>
          <a:p>
            <a:pPr marL="182880" indent="-164592">
              <a:lnSpc>
                <a:spcPts val="2200"/>
              </a:lnSpc>
              <a:spcAft>
                <a:spcPts val="800"/>
              </a:spcAft>
              <a:buChar char="•"/>
              <a:defRPr sz="1700">
                <a:solidFill>
                  <a:srgbClr val="334155"/>
                </a:solidFill>
                <a:latin typeface="DejaVu Sans"/>
              </a:defRPr>
            </a:pPr>
            <a:r>
              <a:t>Hash-locked Python dependencies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Runtime posture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Redis authenticated; browser origins explicit, never wildcard</a:t>
            </a:r>
          </a:p>
          <a:p>
            <a:pPr marL="182880" indent="-164592">
              <a:lnSpc>
                <a:spcPts val="2200"/>
              </a:lnSpc>
              <a:spcAft>
                <a:spcPts val="800"/>
              </a:spcAft>
              <a:buChar char="•"/>
              <a:defRPr sz="1700">
                <a:solidFill>
                  <a:srgbClr val="334155"/>
                </a:solidFill>
                <a:latin typeface="DejaVu Sans"/>
              </a:defRPr>
            </a:pPr>
            <a:r>
              <a:t>No scanner telemetry egress</a:t>
            </a:r>
          </a:p>
          <a:p>
            <a:pPr marL="182880" indent="-164592">
              <a:lnSpc>
                <a:spcPts val="2200"/>
              </a:lnSpc>
              <a:spcAft>
                <a:spcPts val="800"/>
              </a:spcAft>
              <a:buChar char="•"/>
              <a:defRPr sz="1700">
                <a:solidFill>
                  <a:srgbClr val="334155"/>
                </a:solidFill>
                <a:latin typeface="DejaVu Sans"/>
              </a:defRPr>
            </a:pPr>
            <a:r>
              <a:t>Full offline mode with local vulnerability databases</a:t>
            </a:r>
          </a:p>
          <a:p>
            <a:pPr marL="182880" indent="-164592">
              <a:lnSpc>
                <a:spcPts val="2200"/>
              </a:lnSpc>
              <a:spcAft>
                <a:spcPts val="800"/>
              </a:spcAft>
              <a:buChar char="•"/>
              <a:defRPr sz="1700">
                <a:solidFill>
                  <a:srgbClr val="334155"/>
                </a:solidFill>
                <a:latin typeface="DejaVu Sans"/>
              </a:defRPr>
            </a:pPr>
            <a:r>
              <a:t>Secrets injected from a vault, never baked into images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Tests fail the build if any download lacks a pin or the runtime user is removed.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AUTOMATED CHECKS + NATIVE FILE CHECKS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Validation evidence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The validation results demonstrate exercised code paths and selected native file behaviours. They provide evidence for technical review, while full containment effectiveness, host compatibility and operational performance require testing in the intended environment.</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486 automated tests passed</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Access, roles, tenant and database-role boundaries</a:t>
            </a:r>
          </a:p>
          <a:p>
            <a:pPr marL="182880" indent="-164592">
              <a:lnSpc>
                <a:spcPts val="2200"/>
              </a:lnSpc>
              <a:spcAft>
                <a:spcPts val="800"/>
              </a:spcAft>
              <a:buChar char="•"/>
              <a:defRPr sz="1700">
                <a:solidFill>
                  <a:srgbClr val="334155"/>
                </a:solidFill>
                <a:latin typeface="DejaVu Sans"/>
              </a:defRPr>
            </a:pPr>
            <a:r>
              <a:t>Target safety, scopes, cloud bindings and audit trail</a:t>
            </a:r>
          </a:p>
          <a:p>
            <a:pPr marL="182880" indent="-164592">
              <a:lnSpc>
                <a:spcPts val="2200"/>
              </a:lnSpc>
              <a:spcAft>
                <a:spcPts val="800"/>
              </a:spcAft>
              <a:buChar char="•"/>
              <a:defRPr sz="1700">
                <a:solidFill>
                  <a:srgbClr val="334155"/>
                </a:solidFill>
                <a:latin typeface="DejaVu Sans"/>
              </a:defRPr>
            </a:pPr>
            <a:r>
              <a:t>Triage, scan lifecycle and deployment pinning</a:t>
            </a:r>
          </a:p>
          <a:p>
            <a:pPr marL="182880" indent="-164592">
              <a:lnSpc>
                <a:spcPts val="2200"/>
              </a:lnSpc>
              <a:spcAft>
                <a:spcPts val="800"/>
              </a:spcAft>
              <a:buChar char="•"/>
              <a:defRPr sz="1700">
                <a:solidFill>
                  <a:srgbClr val="334155"/>
                </a:solidFill>
                <a:latin typeface="DejaVu Sans"/>
              </a:defRPr>
            </a:pPr>
            <a:r>
              <a:t>Detection, enrollment, incident and response workflows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7 native Windows file checks passed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Disposable file-operation contract fixtures</a:t>
            </a:r>
          </a:p>
          <a:p>
            <a:pPr marL="182880" indent="-164592">
              <a:lnSpc>
                <a:spcPts val="2200"/>
              </a:lnSpc>
              <a:spcAft>
                <a:spcPts val="800"/>
              </a:spcAft>
              <a:buChar char="•"/>
              <a:defRPr sz="1700">
                <a:solidFill>
                  <a:srgbClr val="334155"/>
                </a:solidFill>
                <a:latin typeface="DejaVu Sans"/>
              </a:defRPr>
            </a:pPr>
            <a:r>
              <a:t>Pinned-handle relative rename behavior</a:t>
            </a:r>
          </a:p>
          <a:p>
            <a:pPr marL="182880" indent="-164592">
              <a:lnSpc>
                <a:spcPts val="2200"/>
              </a:lnSpc>
              <a:spcAft>
                <a:spcPts val="800"/>
              </a:spcAft>
              <a:buChar char="•"/>
              <a:defRPr sz="1700">
                <a:solidFill>
                  <a:srgbClr val="334155"/>
                </a:solidFill>
                <a:latin typeface="DejaVu Sans"/>
              </a:defRPr>
            </a:pPr>
            <a:r>
              <a:t>File-sharing and junction-race checks</a:t>
            </a:r>
          </a:p>
          <a:p>
            <a:pPr marL="182880" indent="-164592">
              <a:lnSpc>
                <a:spcPts val="2200"/>
              </a:lnSpc>
              <a:spcAft>
                <a:spcPts val="800"/>
              </a:spcAft>
              <a:buChar char="•"/>
              <a:defRPr sz="1700">
                <a:solidFill>
                  <a:srgbClr val="334155"/>
                </a:solidFill>
                <a:latin typeface="DejaVu Sans"/>
              </a:defRPr>
            </a:pPr>
            <a:r>
              <a:t>Full ACL and firewall workflows require staging</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Automated tests and narrow native file checks do not establish live containment efficacy or production readiness.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DEPLOYMENT GATES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Required staging validation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Deployment conditions determine whether security controls work as intended. Staging should verify identity, database roles, telemetry, permissions, enforcement and recovery together, including how containment behaves during service interruptions and host restarts.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Identity and data</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IdP issuance, token lifetime and revocation behavior</a:t>
            </a:r>
          </a:p>
          <a:p>
            <a:pPr marL="182880" indent="-164592">
              <a:lnSpc>
                <a:spcPts val="2200"/>
              </a:lnSpc>
              <a:spcAft>
                <a:spcPts val="800"/>
              </a:spcAft>
              <a:buChar char="•"/>
              <a:defRPr sz="1700">
                <a:solidFill>
                  <a:srgbClr val="334155"/>
                </a:solidFill>
                <a:latin typeface="DejaVu Sans"/>
              </a:defRPr>
            </a:pPr>
            <a:r>
              <a:t>PostgreSQL policies with both deployed database roles</a:t>
            </a:r>
          </a:p>
          <a:p>
            <a:pPr marL="182880" indent="-164592">
              <a:lnSpc>
                <a:spcPts val="2200"/>
              </a:lnSpc>
              <a:spcAft>
                <a:spcPts val="800"/>
              </a:spcAft>
              <a:buChar char="•"/>
              <a:defRPr sz="1700">
                <a:solidFill>
                  <a:srgbClr val="334155"/>
                </a:solidFill>
                <a:latin typeface="DejaVu Sans"/>
              </a:defRPr>
            </a:pPr>
            <a:r>
              <a:t>Container image build and scanner compatibility</a:t>
            </a:r>
          </a:p>
          <a:p>
            <a:pPr marL="182880" indent="-164592">
              <a:lnSpc>
                <a:spcPts val="2200"/>
              </a:lnSpc>
              <a:spcAft>
                <a:spcPts val="800"/>
              </a:spcAft>
              <a:buChar char="•"/>
              <a:defRPr sz="1700">
                <a:solidFill>
                  <a:srgbClr val="334155"/>
                </a:solidFill>
                <a:latin typeface="DejaVu Sans"/>
              </a:defRPr>
            </a:pPr>
            <a:r>
              <a:t>Existing-database migration rehearsal</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Hosts and enforcement</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Windows Security/Sysmon and Linux audit collection</a:t>
            </a:r>
          </a:p>
          <a:p>
            <a:pPr marL="182880" indent="-164592">
              <a:lnSpc>
                <a:spcPts val="2200"/>
              </a:lnSpc>
              <a:spcAft>
                <a:spcPts val="800"/>
              </a:spcAft>
              <a:buChar char="•"/>
              <a:defRPr sz="1700">
                <a:solidFill>
                  <a:srgbClr val="334155"/>
                </a:solidFill>
                <a:latin typeface="DejaVu Sans"/>
              </a:defRPr>
            </a:pPr>
            <a:r>
              <a:t>Cloudflare permissions, expiry and rule ordering</a:t>
            </a:r>
          </a:p>
          <a:p>
            <a:pPr marL="182880" indent="-164592">
              <a:lnSpc>
                <a:spcPts val="2200"/>
              </a:lnSpc>
              <a:spcAft>
                <a:spcPts val="800"/>
              </a:spcAft>
              <a:buChar char="•"/>
              <a:defRPr sz="1700">
                <a:solidFill>
                  <a:srgbClr val="334155"/>
                </a:solidFill>
                <a:latin typeface="DejaVu Sans"/>
              </a:defRPr>
            </a:pPr>
            <a:r>
              <a:t>Linux/Windows isolation, expiry and rollback</a:t>
            </a:r>
          </a:p>
          <a:p>
            <a:pPr marL="182880" indent="-164592">
              <a:lnSpc>
                <a:spcPts val="2200"/>
              </a:lnSpc>
              <a:spcAft>
                <a:spcPts val="800"/>
              </a:spcAft>
              <a:buChar char="•"/>
              <a:defRPr sz="1700">
                <a:solidFill>
                  <a:srgbClr val="334155"/>
                </a:solidFill>
                <a:latin typeface="DejaVu Sans"/>
              </a:defRPr>
            </a:pPr>
            <a:r>
              <a:t>False positives, overhead, backlog and recovery</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Validate native Windows ACLs, firewall enforcement, scheduled-task expiry and reboot recovery before enabling containment.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DEPLOYMENT PLANNING</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Evaluating fit for your organisation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 suitable deployment starts with clear asset scope, accountable owners and measurable acceptance criteria. These decisions help teams assess coverage, operational impact, recovery expectations and the conditions under which approved response should be enabled.</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Scope and ownership</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Select applications, APIs, cloud accounts and servers</a:t>
            </a:r>
          </a:p>
          <a:p>
            <a:pPr marL="182880" indent="-164592">
              <a:lnSpc>
                <a:spcPts val="2200"/>
              </a:lnSpc>
              <a:spcAft>
                <a:spcPts val="800"/>
              </a:spcAft>
              <a:buChar char="•"/>
              <a:defRPr sz="1700">
                <a:solidFill>
                  <a:srgbClr val="334155"/>
                </a:solidFill>
                <a:latin typeface="DejaVu Sans"/>
              </a:defRPr>
            </a:pPr>
            <a:r>
              <a:t>Identify incident owners and response approvers</a:t>
            </a:r>
          </a:p>
          <a:p>
            <a:pPr marL="182880" indent="-164592">
              <a:lnSpc>
                <a:spcPts val="2200"/>
              </a:lnSpc>
              <a:spcAft>
                <a:spcPts val="800"/>
              </a:spcAft>
              <a:buChar char="•"/>
              <a:defRPr sz="1700">
                <a:solidFill>
                  <a:srgbClr val="334155"/>
                </a:solidFill>
                <a:latin typeface="DejaVu Sans"/>
              </a:defRPr>
            </a:pPr>
            <a:r>
              <a:t>Approve the domains and networks in scope</a:t>
            </a:r>
          </a:p>
          <a:p>
            <a:pPr marL="182880" indent="-164592">
              <a:lnSpc>
                <a:spcPts val="2200"/>
              </a:lnSpc>
              <a:spcAft>
                <a:spcPts val="800"/>
              </a:spcAft>
              <a:buChar char="•"/>
              <a:defRPr sz="1700">
                <a:solidFill>
                  <a:srgbClr val="334155"/>
                </a:solidFill>
                <a:latin typeface="DejaVu Sans"/>
              </a:defRPr>
            </a:pPr>
            <a:r>
              <a:t>Agree retention and recovery requirements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Acceptance criteria</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Measure detection coverage and false positives</a:t>
            </a:r>
          </a:p>
          <a:p>
            <a:pPr marL="182880" indent="-164592">
              <a:lnSpc>
                <a:spcPts val="2200"/>
              </a:lnSpc>
              <a:spcAft>
                <a:spcPts val="800"/>
              </a:spcAft>
              <a:buChar char="•"/>
              <a:defRPr sz="1700">
                <a:solidFill>
                  <a:srgbClr val="334155"/>
                </a:solidFill>
                <a:latin typeface="DejaVu Sans"/>
              </a:defRPr>
            </a:pPr>
            <a:r>
              <a:t>Verify roles and separate-actor approval</a:t>
            </a:r>
          </a:p>
          <a:p>
            <a:pPr marL="182880" indent="-164592">
              <a:lnSpc>
                <a:spcPts val="2200"/>
              </a:lnSpc>
              <a:spcAft>
                <a:spcPts val="800"/>
              </a:spcAft>
              <a:buChar char="•"/>
              <a:defRPr sz="1700">
                <a:solidFill>
                  <a:srgbClr val="334155"/>
                </a:solidFill>
                <a:latin typeface="DejaVu Sans"/>
              </a:defRPr>
            </a:pPr>
            <a:r>
              <a:t>Exercise containment, expiry and restoration</a:t>
            </a:r>
          </a:p>
          <a:p>
            <a:pPr marL="182880" indent="-164592">
              <a:lnSpc>
                <a:spcPts val="2200"/>
              </a:lnSpc>
              <a:spcAft>
                <a:spcPts val="800"/>
              </a:spcAft>
              <a:buChar char="•"/>
              <a:defRPr sz="1700">
                <a:solidFill>
                  <a:srgbClr val="334155"/>
                </a:solidFill>
                <a:latin typeface="DejaVu Sans"/>
              </a:defRPr>
            </a:pPr>
            <a:r>
              <a:t>Measure host overhead and service recovery</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Production deployment requires environment-specific validation and an approved operating procedure.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19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VulnSuite — vulnerability assessment, server protection and security operations</dc:title>
  <dc:subject>Platform capabilities, security controls and deployment requirements</dc:subject>
  <dc:creator>VulnSuite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